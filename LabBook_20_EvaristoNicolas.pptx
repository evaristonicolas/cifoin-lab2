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89" r:id="rId6"/>
    <p:sldId id="295" r:id="rId7"/>
    <p:sldId id="304" r:id="rId8"/>
    <p:sldId id="306" r:id="rId9"/>
    <p:sldId id="305" r:id="rId10"/>
    <p:sldId id="307" r:id="rId11"/>
    <p:sldId id="302" r:id="rId12"/>
    <p:sldId id="303" r:id="rId13"/>
    <p:sldId id="291" r:id="rId14"/>
    <p:sldId id="296" r:id="rId15"/>
    <p:sldId id="293" r:id="rId16"/>
    <p:sldId id="308" r:id="rId17"/>
    <p:sldId id="294" r:id="rId18"/>
    <p:sldId id="299" r:id="rId19"/>
    <p:sldId id="300" r:id="rId20"/>
    <p:sldId id="301" r:id="rId21"/>
    <p:sldId id="290" r:id="rId22"/>
    <p:sldId id="297" r:id="rId23"/>
    <p:sldId id="292" r:id="rId24"/>
    <p:sldId id="298" r:id="rId25"/>
    <p:sldId id="288" r:id="rId26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B94315-64B2-F218-7FC4-1F67AD5A42E9}" v="870" dt="2026-05-02T16:35:24.6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79" d="100"/>
          <a:sy n="79" d="100"/>
        </p:scale>
        <p:origin x="121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risto Nicolas Travel" userId="S::enictra@upv.edu.es::cfa6089c-b5d8-45ba-92be-b9f127c611c1" providerId="AD" clId="Web-{9AB94315-64B2-F218-7FC4-1F67AD5A42E9}"/>
    <pc:docChg chg="addSld modSld sldOrd">
      <pc:chgData name="Evaristo Nicolas Travel" userId="S::enictra@upv.edu.es::cfa6089c-b5d8-45ba-92be-b9f127c611c1" providerId="AD" clId="Web-{9AB94315-64B2-F218-7FC4-1F67AD5A42E9}" dt="2026-05-02T16:35:24.392" v="675" actId="20577"/>
      <pc:docMkLst>
        <pc:docMk/>
      </pc:docMkLst>
      <pc:sldChg chg="addSp modSp">
        <pc:chgData name="Evaristo Nicolas Travel" userId="S::enictra@upv.edu.es::cfa6089c-b5d8-45ba-92be-b9f127c611c1" providerId="AD" clId="Web-{9AB94315-64B2-F218-7FC4-1F67AD5A42E9}" dt="2026-05-02T16:03:41.469" v="506" actId="14100"/>
        <pc:sldMkLst>
          <pc:docMk/>
          <pc:sldMk cId="3712356003" sldId="291"/>
        </pc:sldMkLst>
        <pc:spChg chg="mod">
          <ac:chgData name="Evaristo Nicolas Travel" userId="S::enictra@upv.edu.es::cfa6089c-b5d8-45ba-92be-b9f127c611c1" providerId="AD" clId="Web-{9AB94315-64B2-F218-7FC4-1F67AD5A42E9}" dt="2026-05-02T16:02:56.922" v="487" actId="20577"/>
          <ac:spMkLst>
            <pc:docMk/>
            <pc:sldMk cId="3712356003" sldId="291"/>
            <ac:spMk id="2" creationId="{CA5F0FDF-2A95-453B-4ECA-AEB637FF2694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6:03:41.469" v="506" actId="14100"/>
          <ac:picMkLst>
            <pc:docMk/>
            <pc:sldMk cId="3712356003" sldId="291"/>
            <ac:picMk id="6" creationId="{6581E837-1498-EA2F-40FC-433D65B52FAE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6:03:34.454" v="505" actId="1076"/>
          <ac:picMkLst>
            <pc:docMk/>
            <pc:sldMk cId="3712356003" sldId="291"/>
            <ac:picMk id="7" creationId="{94B9BBB1-B16A-9FAF-F5C7-85D3BD0E7EED}"/>
          </ac:picMkLst>
        </pc:picChg>
      </pc:sldChg>
      <pc:sldChg chg="modSp">
        <pc:chgData name="Evaristo Nicolas Travel" userId="S::enictra@upv.edu.es::cfa6089c-b5d8-45ba-92be-b9f127c611c1" providerId="AD" clId="Web-{9AB94315-64B2-F218-7FC4-1F67AD5A42E9}" dt="2026-05-02T16:07:21.356" v="515" actId="1076"/>
        <pc:sldMkLst>
          <pc:docMk/>
          <pc:sldMk cId="1802451501" sldId="293"/>
        </pc:sldMkLst>
        <pc:spChg chg="mod">
          <ac:chgData name="Evaristo Nicolas Travel" userId="S::enictra@upv.edu.es::cfa6089c-b5d8-45ba-92be-b9f127c611c1" providerId="AD" clId="Web-{9AB94315-64B2-F218-7FC4-1F67AD5A42E9}" dt="2026-05-02T16:07:21.356" v="515" actId="1076"/>
          <ac:spMkLst>
            <pc:docMk/>
            <pc:sldMk cId="1802451501" sldId="293"/>
            <ac:spMk id="2" creationId="{FDE3A197-9508-F9F1-1FEB-FF883D78C151}"/>
          </ac:spMkLst>
        </pc:spChg>
      </pc:sldChg>
      <pc:sldChg chg="addSp delSp modSp">
        <pc:chgData name="Evaristo Nicolas Travel" userId="S::enictra@upv.edu.es::cfa6089c-b5d8-45ba-92be-b9f127c611c1" providerId="AD" clId="Web-{9AB94315-64B2-F218-7FC4-1F67AD5A42E9}" dt="2026-05-02T16:14:33.292" v="597" actId="20577"/>
        <pc:sldMkLst>
          <pc:docMk/>
          <pc:sldMk cId="2815679427" sldId="294"/>
        </pc:sldMkLst>
        <pc:spChg chg="mod">
          <ac:chgData name="Evaristo Nicolas Travel" userId="S::enictra@upv.edu.es::cfa6089c-b5d8-45ba-92be-b9f127c611c1" providerId="AD" clId="Web-{9AB94315-64B2-F218-7FC4-1F67AD5A42E9}" dt="2026-05-02T16:14:33.292" v="597" actId="20577"/>
          <ac:spMkLst>
            <pc:docMk/>
            <pc:sldMk cId="2815679427" sldId="294"/>
            <ac:spMk id="2" creationId="{B5029729-ADF3-3B30-4FF9-83BE1DB82BD7}"/>
          </ac:spMkLst>
        </pc:spChg>
        <pc:spChg chg="del mod">
          <ac:chgData name="Evaristo Nicolas Travel" userId="S::enictra@upv.edu.es::cfa6089c-b5d8-45ba-92be-b9f127c611c1" providerId="AD" clId="Web-{9AB94315-64B2-F218-7FC4-1F67AD5A42E9}" dt="2026-05-02T16:11:53.676" v="581"/>
          <ac:spMkLst>
            <pc:docMk/>
            <pc:sldMk cId="2815679427" sldId="294"/>
            <ac:spMk id="8" creationId="{0DA14DBA-172E-DA2C-0573-6A00BF18F4A5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6:12:00.395" v="586" actId="1076"/>
          <ac:picMkLst>
            <pc:docMk/>
            <pc:sldMk cId="2815679427" sldId="294"/>
            <ac:picMk id="4" creationId="{2DB642EE-D104-8365-EFF8-B86FF45C622F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6:11:59.395" v="585" actId="1076"/>
          <ac:picMkLst>
            <pc:docMk/>
            <pc:sldMk cId="2815679427" sldId="294"/>
            <ac:picMk id="5" creationId="{002BF7E3-24D6-4F7E-E8B5-ABDEF8C0B992}"/>
          </ac:picMkLst>
        </pc:picChg>
      </pc:sldChg>
      <pc:sldChg chg="addSp delSp modSp">
        <pc:chgData name="Evaristo Nicolas Travel" userId="S::enictra@upv.edu.es::cfa6089c-b5d8-45ba-92be-b9f127c611c1" providerId="AD" clId="Web-{9AB94315-64B2-F218-7FC4-1F67AD5A42E9}" dt="2026-05-02T16:30:12.305" v="622" actId="20577"/>
        <pc:sldMkLst>
          <pc:docMk/>
          <pc:sldMk cId="2685215753" sldId="299"/>
        </pc:sldMkLst>
        <pc:spChg chg="mod">
          <ac:chgData name="Evaristo Nicolas Travel" userId="S::enictra@upv.edu.es::cfa6089c-b5d8-45ba-92be-b9f127c611c1" providerId="AD" clId="Web-{9AB94315-64B2-F218-7FC4-1F67AD5A42E9}" dt="2026-05-02T16:30:12.305" v="622" actId="20577"/>
          <ac:spMkLst>
            <pc:docMk/>
            <pc:sldMk cId="2685215753" sldId="299"/>
            <ac:spMk id="2" creationId="{43D7D9E5-DAC3-2BB8-7377-826863CBAD4E}"/>
          </ac:spMkLst>
        </pc:spChg>
        <pc:spChg chg="del mod">
          <ac:chgData name="Evaristo Nicolas Travel" userId="S::enictra@upv.edu.es::cfa6089c-b5d8-45ba-92be-b9f127c611c1" providerId="AD" clId="Web-{9AB94315-64B2-F218-7FC4-1F67AD5A42E9}" dt="2026-05-02T16:29:14.337" v="602"/>
          <ac:spMkLst>
            <pc:docMk/>
            <pc:sldMk cId="2685215753" sldId="299"/>
            <ac:spMk id="8" creationId="{643565A9-7DB6-D6EE-152F-2852C8BA7986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6:29:29.866" v="609" actId="1076"/>
          <ac:picMkLst>
            <pc:docMk/>
            <pc:sldMk cId="2685215753" sldId="299"/>
            <ac:picMk id="4" creationId="{8B02CB76-36A3-A186-8175-41F427EEE00E}"/>
          </ac:picMkLst>
        </pc:picChg>
      </pc:sldChg>
      <pc:sldChg chg="addSp delSp modSp">
        <pc:chgData name="Evaristo Nicolas Travel" userId="S::enictra@upv.edu.es::cfa6089c-b5d8-45ba-92be-b9f127c611c1" providerId="AD" clId="Web-{9AB94315-64B2-F218-7FC4-1F67AD5A42E9}" dt="2026-05-02T16:32:42.670" v="647" actId="1076"/>
        <pc:sldMkLst>
          <pc:docMk/>
          <pc:sldMk cId="1023731220" sldId="300"/>
        </pc:sldMkLst>
        <pc:spChg chg="mod">
          <ac:chgData name="Evaristo Nicolas Travel" userId="S::enictra@upv.edu.es::cfa6089c-b5d8-45ba-92be-b9f127c611c1" providerId="AD" clId="Web-{9AB94315-64B2-F218-7FC4-1F67AD5A42E9}" dt="2026-05-02T16:32:40.170" v="645" actId="20577"/>
          <ac:spMkLst>
            <pc:docMk/>
            <pc:sldMk cId="1023731220" sldId="300"/>
            <ac:spMk id="2" creationId="{EF5B7948-A25A-9043-7061-DD15A9023924}"/>
          </ac:spMkLst>
        </pc:spChg>
        <pc:spChg chg="del mod">
          <ac:chgData name="Evaristo Nicolas Travel" userId="S::enictra@upv.edu.es::cfa6089c-b5d8-45ba-92be-b9f127c611c1" providerId="AD" clId="Web-{9AB94315-64B2-F218-7FC4-1F67AD5A42E9}" dt="2026-05-02T16:31:16.573" v="625"/>
          <ac:spMkLst>
            <pc:docMk/>
            <pc:sldMk cId="1023731220" sldId="300"/>
            <ac:spMk id="8" creationId="{B0CFB20A-64F3-A296-71E8-F4FA17D35314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6:31:31.543" v="631" actId="1076"/>
          <ac:picMkLst>
            <pc:docMk/>
            <pc:sldMk cId="1023731220" sldId="300"/>
            <ac:picMk id="4" creationId="{3107D893-B5DF-3FD5-47BF-4D7FE678267B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6:32:42.670" v="647" actId="1076"/>
          <ac:picMkLst>
            <pc:docMk/>
            <pc:sldMk cId="1023731220" sldId="300"/>
            <ac:picMk id="5" creationId="{D9E476F5-B05B-96F8-9316-233B8480C15A}"/>
          </ac:picMkLst>
        </pc:picChg>
      </pc:sldChg>
      <pc:sldChg chg="addSp delSp modSp">
        <pc:chgData name="Evaristo Nicolas Travel" userId="S::enictra@upv.edu.es::cfa6089c-b5d8-45ba-92be-b9f127c611c1" providerId="AD" clId="Web-{9AB94315-64B2-F218-7FC4-1F67AD5A42E9}" dt="2026-05-02T16:35:24.392" v="675" actId="20577"/>
        <pc:sldMkLst>
          <pc:docMk/>
          <pc:sldMk cId="699864314" sldId="301"/>
        </pc:sldMkLst>
        <pc:spChg chg="mod">
          <ac:chgData name="Evaristo Nicolas Travel" userId="S::enictra@upv.edu.es::cfa6089c-b5d8-45ba-92be-b9f127c611c1" providerId="AD" clId="Web-{9AB94315-64B2-F218-7FC4-1F67AD5A42E9}" dt="2026-05-02T16:35:24.392" v="675" actId="20577"/>
          <ac:spMkLst>
            <pc:docMk/>
            <pc:sldMk cId="699864314" sldId="301"/>
            <ac:spMk id="2" creationId="{42D73A2E-0E5A-8A39-6B70-F9E94D6DBB70}"/>
          </ac:spMkLst>
        </pc:spChg>
        <pc:spChg chg="del mod">
          <ac:chgData name="Evaristo Nicolas Travel" userId="S::enictra@upv.edu.es::cfa6089c-b5d8-45ba-92be-b9f127c611c1" providerId="AD" clId="Web-{9AB94315-64B2-F218-7FC4-1F67AD5A42E9}" dt="2026-05-02T16:34:20.736" v="650"/>
          <ac:spMkLst>
            <pc:docMk/>
            <pc:sldMk cId="699864314" sldId="301"/>
            <ac:spMk id="8" creationId="{C3506757-32B7-9151-DA89-AADDB7F7D093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6:34:46.595" v="663" actId="1076"/>
          <ac:picMkLst>
            <pc:docMk/>
            <pc:sldMk cId="699864314" sldId="301"/>
            <ac:picMk id="4" creationId="{39A28F15-0717-3B25-2A78-65087010D89D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6:34:48.689" v="664" actId="1076"/>
          <ac:picMkLst>
            <pc:docMk/>
            <pc:sldMk cId="699864314" sldId="301"/>
            <ac:picMk id="5" creationId="{27A312D7-FBEB-3B40-AFFC-C827E91BBCE0}"/>
          </ac:picMkLst>
        </pc:picChg>
      </pc:sldChg>
      <pc:sldChg chg="addSp modSp">
        <pc:chgData name="Evaristo Nicolas Travel" userId="S::enictra@upv.edu.es::cfa6089c-b5d8-45ba-92be-b9f127c611c1" providerId="AD" clId="Web-{9AB94315-64B2-F218-7FC4-1F67AD5A42E9}" dt="2026-05-02T15:48:35.516" v="432" actId="20577"/>
        <pc:sldMkLst>
          <pc:docMk/>
          <pc:sldMk cId="3663624071" sldId="302"/>
        </pc:sldMkLst>
        <pc:spChg chg="mod">
          <ac:chgData name="Evaristo Nicolas Travel" userId="S::enictra@upv.edu.es::cfa6089c-b5d8-45ba-92be-b9f127c611c1" providerId="AD" clId="Web-{9AB94315-64B2-F218-7FC4-1F67AD5A42E9}" dt="2026-05-02T15:48:35.516" v="432" actId="20577"/>
          <ac:spMkLst>
            <pc:docMk/>
            <pc:sldMk cId="3663624071" sldId="302"/>
            <ac:spMk id="2" creationId="{CA5F0FDF-2A95-453B-4ECA-AEB637FF2694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5:46:34.796" v="385" actId="1076"/>
          <ac:picMkLst>
            <pc:docMk/>
            <pc:sldMk cId="3663624071" sldId="302"/>
            <ac:picMk id="4" creationId="{C3C63B46-4874-A1A7-8B5D-A66E630E772D}"/>
          </ac:picMkLst>
        </pc:picChg>
      </pc:sldChg>
      <pc:sldChg chg="addSp delSp modSp">
        <pc:chgData name="Evaristo Nicolas Travel" userId="S::enictra@upv.edu.es::cfa6089c-b5d8-45ba-92be-b9f127c611c1" providerId="AD" clId="Web-{9AB94315-64B2-F218-7FC4-1F67AD5A42E9}" dt="2026-05-02T15:56:59.429" v="469" actId="20577"/>
        <pc:sldMkLst>
          <pc:docMk/>
          <pc:sldMk cId="1558326841" sldId="303"/>
        </pc:sldMkLst>
        <pc:spChg chg="mod">
          <ac:chgData name="Evaristo Nicolas Travel" userId="S::enictra@upv.edu.es::cfa6089c-b5d8-45ba-92be-b9f127c611c1" providerId="AD" clId="Web-{9AB94315-64B2-F218-7FC4-1F67AD5A42E9}" dt="2026-05-02T15:56:59.429" v="469" actId="20577"/>
          <ac:spMkLst>
            <pc:docMk/>
            <pc:sldMk cId="1558326841" sldId="303"/>
            <ac:spMk id="2" creationId="{82A62DD6-5488-72A1-9926-0CAEE59089A9}"/>
          </ac:spMkLst>
        </pc:spChg>
        <pc:spChg chg="del mod">
          <ac:chgData name="Evaristo Nicolas Travel" userId="S::enictra@upv.edu.es::cfa6089c-b5d8-45ba-92be-b9f127c611c1" providerId="AD" clId="Web-{9AB94315-64B2-F218-7FC4-1F67AD5A42E9}" dt="2026-05-02T15:51:01.795" v="441"/>
          <ac:spMkLst>
            <pc:docMk/>
            <pc:sldMk cId="1558326841" sldId="303"/>
            <ac:spMk id="8" creationId="{1EF5BFDA-8EC1-8C73-A932-F36C4DB93C73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5:50:56.607" v="437" actId="1076"/>
          <ac:picMkLst>
            <pc:docMk/>
            <pc:sldMk cId="1558326841" sldId="303"/>
            <ac:picMk id="4" creationId="{26AA8E46-9ACF-16AC-3488-6CA4962E1F11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5:52:19.068" v="450" actId="1076"/>
          <ac:picMkLst>
            <pc:docMk/>
            <pc:sldMk cId="1558326841" sldId="303"/>
            <ac:picMk id="5" creationId="{2E4BC672-E73E-1314-8E3F-C73A76F0B1FE}"/>
          </ac:picMkLst>
        </pc:picChg>
      </pc:sldChg>
      <pc:sldChg chg="addSp delSp modSp add replId">
        <pc:chgData name="Evaristo Nicolas Travel" userId="S::enictra@upv.edu.es::cfa6089c-b5d8-45ba-92be-b9f127c611c1" providerId="AD" clId="Web-{9AB94315-64B2-F218-7FC4-1F67AD5A42E9}" dt="2026-05-02T15:44:01.950" v="357" actId="1076"/>
        <pc:sldMkLst>
          <pc:docMk/>
          <pc:sldMk cId="743057239" sldId="305"/>
        </pc:sldMkLst>
        <pc:spChg chg="del">
          <ac:chgData name="Evaristo Nicolas Travel" userId="S::enictra@upv.edu.es::cfa6089c-b5d8-45ba-92be-b9f127c611c1" providerId="AD" clId="Web-{9AB94315-64B2-F218-7FC4-1F67AD5A42E9}" dt="2026-05-02T15:20:29.515" v="1"/>
          <ac:spMkLst>
            <pc:docMk/>
            <pc:sldMk cId="743057239" sldId="305"/>
            <ac:spMk id="2" creationId="{23B1F576-8AF3-1449-A446-9D0CCAD7CAF7}"/>
          </ac:spMkLst>
        </pc:spChg>
        <pc:spChg chg="del mod">
          <ac:chgData name="Evaristo Nicolas Travel" userId="S::enictra@upv.edu.es::cfa6089c-b5d8-45ba-92be-b9f127c611c1" providerId="AD" clId="Web-{9AB94315-64B2-F218-7FC4-1F67AD5A42E9}" dt="2026-05-02T15:20:32.390" v="3"/>
          <ac:spMkLst>
            <pc:docMk/>
            <pc:sldMk cId="743057239" sldId="305"/>
            <ac:spMk id="4" creationId="{F96C7A4D-58D3-E517-C410-D07B3D0DFA2D}"/>
          </ac:spMkLst>
        </pc:spChg>
        <pc:spChg chg="add del">
          <ac:chgData name="Evaristo Nicolas Travel" userId="S::enictra@upv.edu.es::cfa6089c-b5d8-45ba-92be-b9f127c611c1" providerId="AD" clId="Web-{9AB94315-64B2-F218-7FC4-1F67AD5A42E9}" dt="2026-05-02T15:20:40.594" v="5"/>
          <ac:spMkLst>
            <pc:docMk/>
            <pc:sldMk cId="743057239" sldId="305"/>
            <ac:spMk id="5" creationId="{8C0DE22F-BA6D-5FFD-50FB-EAEEDB702DF2}"/>
          </ac:spMkLst>
        </pc:spChg>
        <pc:spChg chg="add mod">
          <ac:chgData name="Evaristo Nicolas Travel" userId="S::enictra@upv.edu.es::cfa6089c-b5d8-45ba-92be-b9f127c611c1" providerId="AD" clId="Web-{9AB94315-64B2-F218-7FC4-1F67AD5A42E9}" dt="2026-05-02T15:44:01.950" v="357" actId="1076"/>
          <ac:spMkLst>
            <pc:docMk/>
            <pc:sldMk cId="743057239" sldId="305"/>
            <ac:spMk id="7" creationId="{54366D71-60D4-3387-A7C2-13C04215DBB9}"/>
          </ac:spMkLst>
        </pc:spChg>
        <pc:spChg chg="add del mod">
          <ac:chgData name="Evaristo Nicolas Travel" userId="S::enictra@upv.edu.es::cfa6089c-b5d8-45ba-92be-b9f127c611c1" providerId="AD" clId="Web-{9AB94315-64B2-F218-7FC4-1F67AD5A42E9}" dt="2026-05-02T15:39:33.567" v="283"/>
          <ac:spMkLst>
            <pc:docMk/>
            <pc:sldMk cId="743057239" sldId="305"/>
            <ac:spMk id="10" creationId="{F0933DC1-9BD2-4842-F3A6-B3F5FF98264B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5:33:11.805" v="147" actId="1076"/>
          <ac:picMkLst>
            <pc:docMk/>
            <pc:sldMk cId="743057239" sldId="305"/>
            <ac:picMk id="6" creationId="{AAABC1F7-C9C2-29A5-4268-5AE66303A396}"/>
          </ac:picMkLst>
        </pc:picChg>
        <pc:picChg chg="add del mod">
          <ac:chgData name="Evaristo Nicolas Travel" userId="S::enictra@upv.edu.es::cfa6089c-b5d8-45ba-92be-b9f127c611c1" providerId="AD" clId="Web-{9AB94315-64B2-F218-7FC4-1F67AD5A42E9}" dt="2026-05-02T15:39:33.567" v="285"/>
          <ac:picMkLst>
            <pc:docMk/>
            <pc:sldMk cId="743057239" sldId="305"/>
            <ac:picMk id="8" creationId="{64349B03-43FF-92DD-F070-65E66A66C926}"/>
          </ac:picMkLst>
        </pc:picChg>
        <pc:picChg chg="add del mod">
          <ac:chgData name="Evaristo Nicolas Travel" userId="S::enictra@upv.edu.es::cfa6089c-b5d8-45ba-92be-b9f127c611c1" providerId="AD" clId="Web-{9AB94315-64B2-F218-7FC4-1F67AD5A42E9}" dt="2026-05-02T15:39:33.567" v="284"/>
          <ac:picMkLst>
            <pc:docMk/>
            <pc:sldMk cId="743057239" sldId="305"/>
            <ac:picMk id="9" creationId="{BB081789-7210-412E-8B6B-0BA34EDE89A7}"/>
          </ac:picMkLst>
        </pc:picChg>
      </pc:sldChg>
      <pc:sldChg chg="addSp modSp add ord replId">
        <pc:chgData name="Evaristo Nicolas Travel" userId="S::enictra@upv.edu.es::cfa6089c-b5d8-45ba-92be-b9f127c611c1" providerId="AD" clId="Web-{9AB94315-64B2-F218-7FC4-1F67AD5A42E9}" dt="2026-05-02T15:43:21.292" v="350" actId="20577"/>
        <pc:sldMkLst>
          <pc:docMk/>
          <pc:sldMk cId="1648878156" sldId="306"/>
        </pc:sldMkLst>
        <pc:spChg chg="add mod">
          <ac:chgData name="Evaristo Nicolas Travel" userId="S::enictra@upv.edu.es::cfa6089c-b5d8-45ba-92be-b9f127c611c1" providerId="AD" clId="Web-{9AB94315-64B2-F218-7FC4-1F67AD5A42E9}" dt="2026-05-02T15:27:37.638" v="82" actId="1076"/>
          <ac:spMkLst>
            <pc:docMk/>
            <pc:sldMk cId="1648878156" sldId="306"/>
            <ac:spMk id="4" creationId="{CA2FA457-4BAC-FE14-CBB9-5CBEDE7BFD16}"/>
          </ac:spMkLst>
        </pc:spChg>
        <pc:spChg chg="add mod">
          <ac:chgData name="Evaristo Nicolas Travel" userId="S::enictra@upv.edu.es::cfa6089c-b5d8-45ba-92be-b9f127c611c1" providerId="AD" clId="Web-{9AB94315-64B2-F218-7FC4-1F67AD5A42E9}" dt="2026-05-02T15:43:21.292" v="350" actId="20577"/>
          <ac:spMkLst>
            <pc:docMk/>
            <pc:sldMk cId="1648878156" sldId="306"/>
            <ac:spMk id="6" creationId="{72B5191F-8EF7-EBCD-AACC-6FBB8A43CF11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5:24:34.634" v="13" actId="1076"/>
          <ac:picMkLst>
            <pc:docMk/>
            <pc:sldMk cId="1648878156" sldId="306"/>
            <ac:picMk id="2" creationId="{1FD789FB-9CB7-8877-C3E4-DB9C9B31CF05}"/>
          </ac:picMkLst>
        </pc:picChg>
        <pc:cxnChg chg="add mod">
          <ac:chgData name="Evaristo Nicolas Travel" userId="S::enictra@upv.edu.es::cfa6089c-b5d8-45ba-92be-b9f127c611c1" providerId="AD" clId="Web-{9AB94315-64B2-F218-7FC4-1F67AD5A42E9}" dt="2026-05-02T15:27:55.232" v="84"/>
          <ac:cxnSpMkLst>
            <pc:docMk/>
            <pc:sldMk cId="1648878156" sldId="306"/>
            <ac:cxnSpMk id="5" creationId="{A0C104B9-8CC1-FDC0-A01E-B9783B4D5FF0}"/>
          </ac:cxnSpMkLst>
        </pc:cxnChg>
      </pc:sldChg>
      <pc:sldChg chg="addSp delSp modSp add replId">
        <pc:chgData name="Evaristo Nicolas Travel" userId="S::enictra@upv.edu.es::cfa6089c-b5d8-45ba-92be-b9f127c611c1" providerId="AD" clId="Web-{9AB94315-64B2-F218-7FC4-1F67AD5A42E9}" dt="2026-05-02T15:45:03.966" v="376" actId="20577"/>
        <pc:sldMkLst>
          <pc:docMk/>
          <pc:sldMk cId="1600955840" sldId="307"/>
        </pc:sldMkLst>
        <pc:spChg chg="add mod">
          <ac:chgData name="Evaristo Nicolas Travel" userId="S::enictra@upv.edu.es::cfa6089c-b5d8-45ba-92be-b9f127c611c1" providerId="AD" clId="Web-{9AB94315-64B2-F218-7FC4-1F67AD5A42E9}" dt="2026-05-02T15:40:45.101" v="320" actId="1076"/>
          <ac:spMkLst>
            <pc:docMk/>
            <pc:sldMk cId="1600955840" sldId="307"/>
            <ac:spMk id="5" creationId="{20342568-3B9D-DE4D-8BE1-A6B931F9FC10}"/>
          </ac:spMkLst>
        </pc:spChg>
        <pc:spChg chg="del">
          <ac:chgData name="Evaristo Nicolas Travel" userId="S::enictra@upv.edu.es::cfa6089c-b5d8-45ba-92be-b9f127c611c1" providerId="AD" clId="Web-{9AB94315-64B2-F218-7FC4-1F67AD5A42E9}" dt="2026-05-02T15:34:30.486" v="180"/>
          <ac:spMkLst>
            <pc:docMk/>
            <pc:sldMk cId="1600955840" sldId="307"/>
            <ac:spMk id="7" creationId="{8D7F8E7F-78B7-5C14-8A74-666A50A54FE7}"/>
          </ac:spMkLst>
        </pc:spChg>
        <pc:spChg chg="del">
          <ac:chgData name="Evaristo Nicolas Travel" userId="S::enictra@upv.edu.es::cfa6089c-b5d8-45ba-92be-b9f127c611c1" providerId="AD" clId="Web-{9AB94315-64B2-F218-7FC4-1F67AD5A42E9}" dt="2026-05-02T15:34:30.486" v="177"/>
          <ac:spMkLst>
            <pc:docMk/>
            <pc:sldMk cId="1600955840" sldId="307"/>
            <ac:spMk id="10" creationId="{2E5B24FA-2D87-F249-89AC-27DEA9BD311F}"/>
          </ac:spMkLst>
        </pc:spChg>
        <pc:spChg chg="add mod">
          <ac:chgData name="Evaristo Nicolas Travel" userId="S::enictra@upv.edu.es::cfa6089c-b5d8-45ba-92be-b9f127c611c1" providerId="AD" clId="Web-{9AB94315-64B2-F218-7FC4-1F67AD5A42E9}" dt="2026-05-02T15:45:03.966" v="376" actId="20577"/>
          <ac:spMkLst>
            <pc:docMk/>
            <pc:sldMk cId="1600955840" sldId="307"/>
            <ac:spMk id="12" creationId="{851BC1DF-EFCD-D48E-17B8-5E8E9BA619C8}"/>
          </ac:spMkLst>
        </pc:spChg>
        <pc:spChg chg="add mod">
          <ac:chgData name="Evaristo Nicolas Travel" userId="S::enictra@upv.edu.es::cfa6089c-b5d8-45ba-92be-b9f127c611c1" providerId="AD" clId="Web-{9AB94315-64B2-F218-7FC4-1F67AD5A42E9}" dt="2026-05-02T15:39:49.833" v="290" actId="1076"/>
          <ac:spMkLst>
            <pc:docMk/>
            <pc:sldMk cId="1600955840" sldId="307"/>
            <ac:spMk id="20" creationId="{759DAA07-9399-1AA9-9ABF-A98F588004A3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5:41:26.915" v="333" actId="1076"/>
          <ac:picMkLst>
            <pc:docMk/>
            <pc:sldMk cId="1600955840" sldId="307"/>
            <ac:picMk id="2" creationId="{84B9E66E-DF66-D1DE-7096-7429645CCE40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5:41:33.915" v="335" actId="1076"/>
          <ac:picMkLst>
            <pc:docMk/>
            <pc:sldMk cId="1600955840" sldId="307"/>
            <ac:picMk id="4" creationId="{B8ACFE3B-ED01-FBBC-AD2B-C80102CD5133}"/>
          </ac:picMkLst>
        </pc:picChg>
        <pc:picChg chg="del">
          <ac:chgData name="Evaristo Nicolas Travel" userId="S::enictra@upv.edu.es::cfa6089c-b5d8-45ba-92be-b9f127c611c1" providerId="AD" clId="Web-{9AB94315-64B2-F218-7FC4-1F67AD5A42E9}" dt="2026-05-02T15:34:30.486" v="181"/>
          <ac:picMkLst>
            <pc:docMk/>
            <pc:sldMk cId="1600955840" sldId="307"/>
            <ac:picMk id="6" creationId="{52FA4790-FEF7-33A3-D291-6B78FBCC3ADC}"/>
          </ac:picMkLst>
        </pc:picChg>
        <pc:picChg chg="del">
          <ac:chgData name="Evaristo Nicolas Travel" userId="S::enictra@upv.edu.es::cfa6089c-b5d8-45ba-92be-b9f127c611c1" providerId="AD" clId="Web-{9AB94315-64B2-F218-7FC4-1F67AD5A42E9}" dt="2026-05-02T15:34:30.486" v="179"/>
          <ac:picMkLst>
            <pc:docMk/>
            <pc:sldMk cId="1600955840" sldId="307"/>
            <ac:picMk id="8" creationId="{BA56FA4E-6C3C-DD6A-897E-D2DAA6A352CF}"/>
          </ac:picMkLst>
        </pc:picChg>
        <pc:picChg chg="del">
          <ac:chgData name="Evaristo Nicolas Travel" userId="S::enictra@upv.edu.es::cfa6089c-b5d8-45ba-92be-b9f127c611c1" providerId="AD" clId="Web-{9AB94315-64B2-F218-7FC4-1F67AD5A42E9}" dt="2026-05-02T15:34:30.486" v="178"/>
          <ac:picMkLst>
            <pc:docMk/>
            <pc:sldMk cId="1600955840" sldId="307"/>
            <ac:picMk id="9" creationId="{C65D9D7C-D38C-85F1-ECB2-50838FB30435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5:44:13.090" v="358" actId="1076"/>
          <ac:picMkLst>
            <pc:docMk/>
            <pc:sldMk cId="1600955840" sldId="307"/>
            <ac:picMk id="11" creationId="{C2909360-301E-97DE-8C59-5E827AC7010C}"/>
          </ac:picMkLst>
        </pc:picChg>
        <pc:picChg chg="add del mod">
          <ac:chgData name="Evaristo Nicolas Travel" userId="S::enictra@upv.edu.es::cfa6089c-b5d8-45ba-92be-b9f127c611c1" providerId="AD" clId="Web-{9AB94315-64B2-F218-7FC4-1F67AD5A42E9}" dt="2026-05-02T15:38:42.956" v="262"/>
          <ac:picMkLst>
            <pc:docMk/>
            <pc:sldMk cId="1600955840" sldId="307"/>
            <ac:picMk id="13" creationId="{40BA7A69-E58F-1E91-88A8-0C20DD33FBD8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5:39:49.802" v="288" actId="1076"/>
          <ac:picMkLst>
            <pc:docMk/>
            <pc:sldMk cId="1600955840" sldId="307"/>
            <ac:picMk id="15" creationId="{94A19149-F8CE-A080-7262-8781B862918A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5:39:49.818" v="289" actId="1076"/>
          <ac:picMkLst>
            <pc:docMk/>
            <pc:sldMk cId="1600955840" sldId="307"/>
            <ac:picMk id="18" creationId="{7E551E54-9FA2-8221-BE8B-D7593E1FCE64}"/>
          </ac:picMkLst>
        </pc:picChg>
        <pc:cxnChg chg="add mod">
          <ac:chgData name="Evaristo Nicolas Travel" userId="S::enictra@upv.edu.es::cfa6089c-b5d8-45ba-92be-b9f127c611c1" providerId="AD" clId="Web-{9AB94315-64B2-F218-7FC4-1F67AD5A42E9}" dt="2026-05-02T15:41:03.586" v="326"/>
          <ac:cxnSpMkLst>
            <pc:docMk/>
            <pc:sldMk cId="1600955840" sldId="307"/>
            <ac:cxnSpMk id="21" creationId="{AE68B340-F36C-5C07-BB86-8CE48D45B896}"/>
          </ac:cxnSpMkLst>
        </pc:cxnChg>
      </pc:sldChg>
      <pc:sldChg chg="addSp delSp modSp add replId">
        <pc:chgData name="Evaristo Nicolas Travel" userId="S::enictra@upv.edu.es::cfa6089c-b5d8-45ba-92be-b9f127c611c1" providerId="AD" clId="Web-{9AB94315-64B2-F218-7FC4-1F67AD5A42E9}" dt="2026-05-02T16:10:29.233" v="567" actId="1076"/>
        <pc:sldMkLst>
          <pc:docMk/>
          <pc:sldMk cId="1072018827" sldId="308"/>
        </pc:sldMkLst>
        <pc:spChg chg="del">
          <ac:chgData name="Evaristo Nicolas Travel" userId="S::enictra@upv.edu.es::cfa6089c-b5d8-45ba-92be-b9f127c611c1" providerId="AD" clId="Web-{9AB94315-64B2-F218-7FC4-1F67AD5A42E9}" dt="2026-05-02T16:07:38.530" v="517"/>
          <ac:spMkLst>
            <pc:docMk/>
            <pc:sldMk cId="1072018827" sldId="308"/>
            <ac:spMk id="2" creationId="{F2CC7997-FEE1-8167-BF55-ED47D745E83B}"/>
          </ac:spMkLst>
        </pc:spChg>
        <pc:spChg chg="del">
          <ac:chgData name="Evaristo Nicolas Travel" userId="S::enictra@upv.edu.es::cfa6089c-b5d8-45ba-92be-b9f127c611c1" providerId="AD" clId="Web-{9AB94315-64B2-F218-7FC4-1F67AD5A42E9}" dt="2026-05-02T16:07:38.530" v="518"/>
          <ac:spMkLst>
            <pc:docMk/>
            <pc:sldMk cId="1072018827" sldId="308"/>
            <ac:spMk id="4" creationId="{7FA3D177-D188-DB0F-9461-2555106843DA}"/>
          </ac:spMkLst>
        </pc:spChg>
        <pc:picChg chg="add mod">
          <ac:chgData name="Evaristo Nicolas Travel" userId="S::enictra@upv.edu.es::cfa6089c-b5d8-45ba-92be-b9f127c611c1" providerId="AD" clId="Web-{9AB94315-64B2-F218-7FC4-1F67AD5A42E9}" dt="2026-05-02T16:10:19.858" v="563" actId="1076"/>
          <ac:picMkLst>
            <pc:docMk/>
            <pc:sldMk cId="1072018827" sldId="308"/>
            <ac:picMk id="5" creationId="{02857F7C-F798-2B65-6313-E74F147493BD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6:10:28.014" v="566" actId="1076"/>
          <ac:picMkLst>
            <pc:docMk/>
            <pc:sldMk cId="1072018827" sldId="308"/>
            <ac:picMk id="6" creationId="{5EFA86D3-8737-0D71-F04B-17DAA06A2063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6:10:25.874" v="565" actId="1076"/>
          <ac:picMkLst>
            <pc:docMk/>
            <pc:sldMk cId="1072018827" sldId="308"/>
            <ac:picMk id="7" creationId="{2C36E8AA-F381-030F-A8BD-7D625D282555}"/>
          </ac:picMkLst>
        </pc:picChg>
        <pc:picChg chg="add mod">
          <ac:chgData name="Evaristo Nicolas Travel" userId="S::enictra@upv.edu.es::cfa6089c-b5d8-45ba-92be-b9f127c611c1" providerId="AD" clId="Web-{9AB94315-64B2-F218-7FC4-1F67AD5A42E9}" dt="2026-05-02T16:10:29.233" v="567" actId="1076"/>
          <ac:picMkLst>
            <pc:docMk/>
            <pc:sldMk cId="1072018827" sldId="308"/>
            <ac:picMk id="8" creationId="{6B012DAA-9CE5-90D1-FD89-FC8C6D3281F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0E1CB-4380-09DA-B1F0-CB4B03A2E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3228C0D-B411-761D-8B9A-5690FEC1D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E93492-098C-782F-6B0B-5A438637B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6D2F8-8162-546B-1A02-4485059A7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5048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CF4F9-CF55-3328-DAA5-00918505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3CE4DE-A0BA-9226-815B-C98AB183E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57D472-1A76-A94C-7421-F88816318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C08B76-2E3F-5CE7-BE07-AAE254730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7470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36C26-5CE5-AAFB-8541-A8440508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0DA871-FD3B-34F2-A1E8-8FB91D095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D4D4B3-F4D1-AB42-A1CA-3DD20466C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E02F53-5E94-6493-7282-7D44E3EB7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9578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3115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B646-23BF-F15C-2735-CA5519C4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BDECDB-4DAD-9A0A-4338-314C61F14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B4C354-FD7D-5811-7C94-3414CBFC0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D033C6-4010-80F7-A4D4-A1D863D7C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2532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2144-FCBE-6A8A-A0AE-4B9D57DA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B7E8D5-CF3D-FB31-A479-FE9B4678B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98ECD-779C-B147-FA65-387301E8B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D029A2-BBAC-779C-5358-BB9C7A2A1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4519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B1C6-3682-4180-87C4-06A6C4E80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AE3208-A690-FD1F-E94C-D310F334A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F7B85C-6C72-3DDD-289B-E766AA64E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1AFB1E-8F28-1193-6909-CAB4A27B1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170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0BA22-DBA9-14F1-E21B-ACB4C6B7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16E6B2-214F-F40F-258D-FF8708102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B75D3B-42C9-35E9-99BA-0268BA714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531B01-1E40-9F79-3CC8-FA6E8156B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4953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8B0B-1527-F1CE-B7C6-3A4EEEE4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26890C-BFDE-EB57-C86A-5199A0D96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EF1C62-7FB2-EC14-4109-CC2B3204C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8CFB6A-4B50-8F81-53B5-44C94D279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5560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2232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9112F-7FB7-4F49-F4F6-C1D0DC6A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90F532-536D-B583-3561-FD0C56234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233B1A-142E-BC7B-FE19-6D22CE40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5087E6-8FC6-B2E3-2D74-B3C5168F5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1859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5953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BE0A-4FED-FF2A-A29F-A3D3BA93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8D4508-C900-33E0-69A9-12D9A5EC8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678FD2-F52A-F464-A6DC-9AE4044DC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FF2B29-AFFB-903E-D5AD-4E4E99BA5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298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2.0.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https://github.com/cccanvas-upv/cifoin-lab2.git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Terminal + ‘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uv</a:t>
            </a:r>
            <a:r>
              <a:rPr lang="en-US" kern="0">
                <a:solidFill>
                  <a:sysClr val="windowText" lastClr="000000"/>
                </a:solidFill>
                <a:sym typeface="Wingdings" pitchFamily="2" charset="2"/>
              </a:rPr>
              <a:t> sync’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COUPLERS_Student.ipynb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Cross-Sections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74687F-7302-3F32-F9D1-0566D05F33A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335A49-ACE2-C055-50CA-8DD755D2E7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AF6692CA-D0D0-2BAF-E673-933E02AE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52650"/>
            <a:ext cx="10972800" cy="430887"/>
          </a:xfrm>
        </p:spPr>
        <p:txBody>
          <a:bodyPr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Directional coupler</a:t>
            </a:r>
          </a:p>
        </p:txBody>
      </p:sp>
    </p:spTree>
    <p:extLst>
      <p:ext uri="{BB962C8B-B14F-4D97-AF65-F5344CB8AC3E}">
        <p14:creationId xmlns:p14="http://schemas.microsoft.com/office/powerpoint/2010/main" val="1640019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#1: </a:t>
                </a:r>
                <a:r>
                  <a:rPr lang="en-US" sz="2000" dirty="0"/>
                  <a:t>waveguide width 1.2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0747D-09F4-6BE2-437A-A61A27881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564E44A-48DD-C263-58AC-1BA81C1536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285E541-305F-1275-9062-E4C656629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D12C9C0-1001-A408-C3A6-F0A37A84F5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13A18A-3B4E-B06D-F7DD-830A7B1220C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2" name="Imagen 1" descr="Gráfico&#10;&#10;El contenido generado por IA puede ser incorrecto.">
            <a:extLst>
              <a:ext uri="{FF2B5EF4-FFF2-40B4-BE49-F238E27FC236}">
                <a16:creationId xmlns:a16="http://schemas.microsoft.com/office/drawing/2014/main" id="{1FD789FB-9CB7-8877-C3E4-DB9C9B31C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79" y="1284594"/>
            <a:ext cx="4896332" cy="341795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A2FA457-4BAC-FE14-CBB9-5CBEDE7BFD16}"/>
              </a:ext>
            </a:extLst>
          </p:cNvPr>
          <p:cNvSpPr txBox="1"/>
          <p:nvPr/>
        </p:nvSpPr>
        <p:spPr>
          <a:xfrm>
            <a:off x="6095902" y="1717055"/>
            <a:ext cx="2307788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 err="1">
                <a:ea typeface="+mn-lt"/>
                <a:cs typeface="+mn-lt"/>
              </a:rPr>
              <a:t>Directional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coupler</a:t>
            </a:r>
            <a:r>
              <a:rPr lang="es-ES" sz="1600" dirty="0">
                <a:ea typeface="+mn-lt"/>
                <a:cs typeface="+mn-lt"/>
              </a:rPr>
              <a:t> formado por </a:t>
            </a:r>
            <a:r>
              <a:rPr lang="es-ES" sz="1600" b="1" dirty="0">
                <a:ea typeface="+mn-lt"/>
                <a:cs typeface="+mn-lt"/>
              </a:rPr>
              <a:t>dos </a:t>
            </a:r>
            <a:r>
              <a:rPr lang="es-ES" sz="1600" b="1" dirty="0" err="1">
                <a:ea typeface="+mn-lt"/>
                <a:cs typeface="+mn-lt"/>
              </a:rPr>
              <a:t>waveguides</a:t>
            </a:r>
            <a:r>
              <a:rPr lang="es-ES" sz="1600" dirty="0">
                <a:ea typeface="+mn-lt"/>
                <a:cs typeface="+mn-lt"/>
              </a:rPr>
              <a:t> acoplados. </a:t>
            </a:r>
            <a:endParaRPr lang="es-ES" sz="1600" dirty="0">
              <a:ea typeface="Calibri"/>
              <a:cs typeface="Calibri"/>
            </a:endParaRPr>
          </a:p>
          <a:p>
            <a:endParaRPr lang="es-ES" sz="1600" dirty="0">
              <a:ea typeface="+mn-lt"/>
              <a:cs typeface="+mn-lt"/>
            </a:endParaRPr>
          </a:p>
          <a:p>
            <a:r>
              <a:rPr lang="es-ES" sz="1600" b="1">
                <a:ea typeface="+mn-lt"/>
                <a:cs typeface="+mn-lt"/>
              </a:rPr>
              <a:t>Parámetros: </a:t>
            </a:r>
            <a:endParaRPr lang="es-ES" sz="16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ES" sz="1600" dirty="0">
                <a:ea typeface="+mn-lt"/>
                <a:cs typeface="+mn-lt"/>
              </a:rPr>
              <a:t>w=1.2 </a:t>
            </a:r>
            <a:r>
              <a:rPr lang="es-ES" sz="1600" dirty="0" err="1">
                <a:ea typeface="+mn-lt"/>
                <a:cs typeface="+mn-lt"/>
              </a:rPr>
              <a:t>μm</a:t>
            </a:r>
            <a:endParaRPr lang="es-E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 g=0.6μm </a:t>
            </a:r>
            <a:endParaRPr lang="es-ES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h=300 nm</a:t>
            </a:r>
            <a:endParaRPr lang="es-ES" sz="1600">
              <a:ea typeface="Calibri"/>
              <a:cs typeface="Calibri"/>
            </a:endParaRPr>
          </a:p>
          <a:p>
            <a:r>
              <a:rPr lang="es-ES" sz="1600" b="1">
                <a:ea typeface="+mn-lt"/>
                <a:cs typeface="+mn-lt"/>
              </a:rPr>
              <a:t>Materiales: </a:t>
            </a:r>
            <a:endParaRPr lang="es-ES" sz="16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ES" sz="1600" dirty="0">
                <a:ea typeface="+mn-lt"/>
                <a:cs typeface="+mn-lt"/>
              </a:rPr>
              <a:t>Core: </a:t>
            </a:r>
            <a:r>
              <a:rPr lang="es-ES" sz="1600" dirty="0" err="1">
                <a:ea typeface="+mn-lt"/>
                <a:cs typeface="+mn-lt"/>
              </a:rPr>
              <a:t>SiN</a:t>
            </a:r>
            <a:r>
              <a:rPr lang="es-ES" sz="1600" dirty="0">
                <a:ea typeface="+mn-lt"/>
                <a:cs typeface="+mn-lt"/>
              </a:rPr>
              <a:t> </a:t>
            </a:r>
            <a:endParaRPr lang="es-E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ES" sz="1600" dirty="0" err="1">
                <a:ea typeface="+mn-lt"/>
                <a:cs typeface="+mn-lt"/>
              </a:rPr>
              <a:t>Cladding</a:t>
            </a:r>
            <a:r>
              <a:rPr lang="es-ES" sz="1600" dirty="0">
                <a:ea typeface="+mn-lt"/>
                <a:cs typeface="+mn-lt"/>
              </a:rPr>
              <a:t>: </a:t>
            </a:r>
            <a:r>
              <a:rPr lang="es-ES" sz="1600" dirty="0" err="1">
                <a:ea typeface="+mn-lt"/>
                <a:cs typeface="+mn-lt"/>
              </a:rPr>
              <a:t>SiO</a:t>
            </a:r>
            <a:r>
              <a:rPr lang="es-ES" sz="1600" dirty="0">
                <a:ea typeface="+mn-lt"/>
                <a:cs typeface="+mn-lt"/>
              </a:rPr>
              <a:t>₂</a:t>
            </a:r>
            <a:endParaRPr lang="es-ES" sz="1600" dirty="0">
              <a:ea typeface="Calibri"/>
              <a:cs typeface="Calibri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A0C104B9-8CC1-FDC0-A01E-B9783B4D5FF0}"/>
              </a:ext>
            </a:extLst>
          </p:cNvPr>
          <p:cNvCxnSpPr/>
          <p:nvPr/>
        </p:nvCxnSpPr>
        <p:spPr>
          <a:xfrm>
            <a:off x="8515352" y="1672658"/>
            <a:ext cx="16006" cy="286512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72B5191F-8EF7-EBCD-AACC-6FBB8A43CF11}"/>
              </a:ext>
            </a:extLst>
          </p:cNvPr>
          <p:cNvSpPr txBox="1"/>
          <p:nvPr/>
        </p:nvSpPr>
        <p:spPr>
          <a:xfrm>
            <a:off x="8859487" y="1719074"/>
            <a:ext cx="2825112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b="1" dirty="0">
                <a:ea typeface="Calibri"/>
                <a:cs typeface="Calibri"/>
              </a:rPr>
              <a:t>TE </a:t>
            </a:r>
            <a:r>
              <a:rPr lang="es-ES" sz="1600" b="1" dirty="0" err="1">
                <a:ea typeface="Calibri"/>
                <a:cs typeface="Calibri"/>
              </a:rPr>
              <a:t>modes</a:t>
            </a:r>
            <a:r>
              <a:rPr lang="es-ES" sz="1600" b="1" dirty="0">
                <a:ea typeface="Calibri"/>
                <a:cs typeface="Calibri"/>
              </a:rPr>
              <a:t>: </a:t>
            </a:r>
          </a:p>
          <a:p>
            <a:pPr marL="285750" indent="-285750">
              <a:buFont typeface="Arial,Sans-Serif"/>
              <a:buChar char="•"/>
            </a:pPr>
            <a:r>
              <a:rPr lang="es-ES" sz="1600">
                <a:ea typeface="Calibri"/>
                <a:cs typeface="Calibri"/>
              </a:rPr>
              <a:t>neff,0≈1.6094</a:t>
            </a:r>
          </a:p>
          <a:p>
            <a:pPr marL="285750" indent="-285750">
              <a:buFont typeface="Arial,Sans-Serif"/>
              <a:buChar char="•"/>
            </a:pPr>
            <a:r>
              <a:rPr lang="es-ES" sz="1600">
                <a:ea typeface="Calibri"/>
                <a:cs typeface="Calibri"/>
              </a:rPr>
              <a:t>neff,1≈1.6012</a:t>
            </a:r>
          </a:p>
          <a:p>
            <a:r>
              <a:rPr lang="es-ES" sz="1600" b="1" dirty="0">
                <a:ea typeface="Calibri"/>
                <a:cs typeface="Calibri"/>
              </a:rPr>
              <a:t>TM </a:t>
            </a:r>
            <a:r>
              <a:rPr lang="es-ES" sz="1600" b="1" dirty="0" err="1">
                <a:ea typeface="Calibri"/>
                <a:cs typeface="Calibri"/>
              </a:rPr>
              <a:t>modes</a:t>
            </a:r>
            <a:r>
              <a:rPr lang="es-ES" sz="1600" b="1" dirty="0">
                <a:ea typeface="Calibri"/>
                <a:cs typeface="Calibri"/>
              </a:rPr>
              <a:t>: </a:t>
            </a:r>
          </a:p>
          <a:p>
            <a:pPr marL="285750" indent="-285750">
              <a:buFont typeface="Arial,Sans-Serif"/>
              <a:buChar char="•"/>
            </a:pPr>
            <a:r>
              <a:rPr lang="es-ES" sz="1600">
                <a:ea typeface="Calibri"/>
                <a:cs typeface="Calibri"/>
              </a:rPr>
              <a:t>neff,2≈1.5354</a:t>
            </a:r>
          </a:p>
          <a:p>
            <a:pPr marL="285750" indent="-285750" algn="l">
              <a:buFont typeface="Arial,Sans-Serif"/>
              <a:buChar char="•"/>
            </a:pPr>
            <a:r>
              <a:rPr lang="es-ES" sz="1600">
                <a:ea typeface="Calibri"/>
                <a:cs typeface="Calibri"/>
              </a:rPr>
              <a:t>neff,3≈1.5206</a:t>
            </a:r>
          </a:p>
          <a:p>
            <a:endParaRPr lang="es-ES" sz="1600" dirty="0">
              <a:ea typeface="Calibri"/>
              <a:cs typeface="Calibri"/>
            </a:endParaRPr>
          </a:p>
          <a:p>
            <a:r>
              <a:rPr lang="es-ES" sz="1600" dirty="0">
                <a:ea typeface="+mn-lt"/>
                <a:cs typeface="+mn-lt"/>
              </a:rPr>
              <a:t>Aparecen modos </a:t>
            </a:r>
            <a:r>
              <a:rPr lang="es-ES" sz="1600" b="1" dirty="0">
                <a:ea typeface="+mn-lt"/>
                <a:cs typeface="+mn-lt"/>
              </a:rPr>
              <a:t>par (</a:t>
            </a:r>
            <a:r>
              <a:rPr lang="es-ES" sz="1600" b="1" err="1">
                <a:ea typeface="+mn-lt"/>
                <a:cs typeface="+mn-lt"/>
              </a:rPr>
              <a:t>even</a:t>
            </a:r>
            <a:r>
              <a:rPr lang="es-ES" sz="1600" b="1" dirty="0">
                <a:ea typeface="+mn-lt"/>
                <a:cs typeface="+mn-lt"/>
              </a:rPr>
              <a:t>)</a:t>
            </a:r>
            <a:r>
              <a:rPr lang="es-ES" sz="1600" dirty="0">
                <a:ea typeface="+mn-lt"/>
                <a:cs typeface="+mn-lt"/>
              </a:rPr>
              <a:t> e </a:t>
            </a:r>
            <a:r>
              <a:rPr lang="es-ES" sz="1600" b="1" dirty="0">
                <a:ea typeface="+mn-lt"/>
                <a:cs typeface="+mn-lt"/>
              </a:rPr>
              <a:t>impar (</a:t>
            </a:r>
            <a:r>
              <a:rPr lang="es-ES" sz="1600" b="1" err="1">
                <a:ea typeface="+mn-lt"/>
                <a:cs typeface="+mn-lt"/>
              </a:rPr>
              <a:t>odd</a:t>
            </a:r>
            <a:r>
              <a:rPr lang="es-ES" sz="1600" b="1" dirty="0">
                <a:ea typeface="+mn-lt"/>
                <a:cs typeface="+mn-lt"/>
              </a:rPr>
              <a:t>)</a:t>
            </a:r>
            <a:r>
              <a:rPr lang="es-ES" sz="1600" dirty="0">
                <a:ea typeface="+mn-lt"/>
                <a:cs typeface="+mn-lt"/>
              </a:rPr>
              <a:t> debido al </a:t>
            </a:r>
            <a:r>
              <a:rPr lang="es-ES" sz="1600">
                <a:ea typeface="+mn-lt"/>
                <a:cs typeface="+mn-lt"/>
              </a:rPr>
              <a:t>acoplamiento entre guías.</a:t>
            </a:r>
          </a:p>
        </p:txBody>
      </p:sp>
    </p:spTree>
    <p:extLst>
      <p:ext uri="{BB962C8B-B14F-4D97-AF65-F5344CB8AC3E}">
        <p14:creationId xmlns:p14="http://schemas.microsoft.com/office/powerpoint/2010/main" val="1648878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3227C-83C6-F468-4820-CDDED5B16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9370BAB-08E1-E003-4160-C9E4C1F2CC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39DF52D-53D6-FC68-8E16-D4D34F6AB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1DD8FC0-7AA9-E368-D7D2-D3A677CA1B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014AEB0-3FC7-AED3-7E62-61C02D14CE3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AAABC1F7-C9C2-29A5-4268-5AE66303A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56" y="1346322"/>
            <a:ext cx="4681904" cy="409501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4366D71-60D4-3387-A7C2-13C04215DBB9}"/>
              </a:ext>
            </a:extLst>
          </p:cNvPr>
          <p:cNvSpPr txBox="1"/>
          <p:nvPr/>
        </p:nvSpPr>
        <p:spPr>
          <a:xfrm>
            <a:off x="5603895" y="2223083"/>
            <a:ext cx="5290082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>
                <a:ea typeface="+mn-lt"/>
                <a:cs typeface="+mn-lt"/>
              </a:rPr>
              <a:t>El acoplamiento se produce por interacción de los campos evanescentes entre ambas guías.</a:t>
            </a:r>
            <a:endParaRPr lang="es-ES"/>
          </a:p>
          <a:p>
            <a:endParaRPr lang="es-ES" sz="1600" dirty="0">
              <a:ea typeface="+mn-lt"/>
              <a:cs typeface="+mn-lt"/>
            </a:endParaRPr>
          </a:p>
          <a:p>
            <a:r>
              <a:rPr lang="es-ES" sz="1600">
                <a:ea typeface="+mn-lt"/>
                <a:cs typeface="+mn-lt"/>
              </a:rPr>
              <a:t>Los modos están claramente separados en polarización TE y TM:</a:t>
            </a:r>
            <a:endParaRPr lang="es-E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s-E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Modos 0 y 1 → </a:t>
            </a:r>
            <a:r>
              <a:rPr lang="es-ES" sz="1600" b="1">
                <a:ea typeface="+mn-lt"/>
                <a:cs typeface="+mn-lt"/>
              </a:rPr>
              <a:t>TE (≈1)</a:t>
            </a:r>
            <a:r>
              <a:rPr lang="es-ES" sz="1600" dirty="0">
                <a:ea typeface="+mn-lt"/>
                <a:cs typeface="+mn-lt"/>
              </a:rPr>
              <a:t> </a:t>
            </a:r>
            <a:endParaRPr lang="es-ES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Modos 2 y 3 → </a:t>
            </a:r>
            <a:r>
              <a:rPr lang="es-ES" sz="1600" b="1">
                <a:ea typeface="+mn-lt"/>
                <a:cs typeface="+mn-lt"/>
              </a:rPr>
              <a:t>TM (≈1)</a:t>
            </a:r>
            <a:endParaRPr lang="es-ES">
              <a:ea typeface="Calibri"/>
              <a:cs typeface="Calibri"/>
            </a:endParaRPr>
          </a:p>
          <a:p>
            <a:pPr algn="l"/>
            <a:endParaRPr lang="es-E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3057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446A-360B-41B4-4441-8E91B43D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C613C70-1302-1146-3391-A43E5FB465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1D655D-E6A1-B40B-4D75-23808D2E5A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EAD6F7D2-8CA5-0947-97C7-C659008ED0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8DAE4C-042C-D643-6E1E-F70DEE6467E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2" name="Imagen 1" descr="Gráfico&#10;&#10;El contenido generado por IA puede ser incorrecto.">
            <a:extLst>
              <a:ext uri="{FF2B5EF4-FFF2-40B4-BE49-F238E27FC236}">
                <a16:creationId xmlns:a16="http://schemas.microsoft.com/office/drawing/2014/main" id="{84B9E66E-DF66-D1DE-7096-7429645CC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955" y="4161326"/>
            <a:ext cx="2833323" cy="1888149"/>
          </a:xfrm>
          <a:prstGeom prst="rect">
            <a:avLst/>
          </a:prstGeom>
        </p:spPr>
      </p:pic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B8ACFE3B-ED01-FBBC-AD2B-C80102CD5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147" y="4158393"/>
            <a:ext cx="2833323" cy="188961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0342568-3B9D-DE4D-8BE1-A6B931F9FC10}"/>
              </a:ext>
            </a:extLst>
          </p:cNvPr>
          <p:cNvSpPr txBox="1"/>
          <p:nvPr/>
        </p:nvSpPr>
        <p:spPr>
          <a:xfrm>
            <a:off x="7908735" y="1186266"/>
            <a:ext cx="3773309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 err="1">
                <a:ea typeface="+mn-lt"/>
                <a:cs typeface="+mn-lt"/>
              </a:rPr>
              <a:t>Mode</a:t>
            </a:r>
            <a:r>
              <a:rPr lang="es-ES" sz="1600" dirty="0">
                <a:ea typeface="+mn-lt"/>
                <a:cs typeface="+mn-lt"/>
              </a:rPr>
              <a:t> 2 (</a:t>
            </a:r>
            <a:r>
              <a:rPr lang="es-ES" sz="1600" dirty="0" err="1">
                <a:ea typeface="+mn-lt"/>
                <a:cs typeface="+mn-lt"/>
              </a:rPr>
              <a:t>Ey</a:t>
            </a:r>
            <a:r>
              <a:rPr lang="es-ES" sz="1600" dirty="0">
                <a:ea typeface="+mn-lt"/>
                <a:cs typeface="+mn-lt"/>
              </a:rPr>
              <a:t>) (Izquierda) y </a:t>
            </a:r>
            <a:r>
              <a:rPr lang="es-ES" sz="1600" dirty="0" err="1">
                <a:ea typeface="+mn-lt"/>
                <a:cs typeface="+mn-lt"/>
              </a:rPr>
              <a:t>Mode</a:t>
            </a:r>
            <a:r>
              <a:rPr lang="es-ES" sz="1600" dirty="0">
                <a:ea typeface="+mn-lt"/>
                <a:cs typeface="+mn-lt"/>
              </a:rPr>
              <a:t> 3 (</a:t>
            </a:r>
            <a:r>
              <a:rPr lang="es-ES" sz="1600" dirty="0" err="1">
                <a:ea typeface="+mn-lt"/>
                <a:cs typeface="+mn-lt"/>
              </a:rPr>
              <a:t>Ey</a:t>
            </a:r>
            <a:r>
              <a:rPr lang="es-ES" sz="1600" dirty="0">
                <a:ea typeface="+mn-lt"/>
                <a:cs typeface="+mn-lt"/>
              </a:rPr>
              <a:t>) (Derecha). Mismo comportamiento que TE pero en polarización TM</a:t>
            </a:r>
            <a:endParaRPr lang="es-ES" sz="1600" dirty="0">
              <a:ea typeface="Calibri"/>
              <a:cs typeface="Calibri"/>
            </a:endParaRPr>
          </a:p>
          <a:p>
            <a:pPr algn="l"/>
            <a:endParaRPr lang="es-ES" dirty="0">
              <a:ea typeface="Calibri"/>
              <a:cs typeface="Calibri"/>
            </a:endParaRPr>
          </a:p>
        </p:txBody>
      </p:sp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C2909360-301E-97DE-8C59-5E827AC70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4931" y="3143983"/>
            <a:ext cx="2907323" cy="82794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51BC1DF-EFCD-D48E-17B8-5E8E9BA619C8}"/>
              </a:ext>
            </a:extLst>
          </p:cNvPr>
          <p:cNvSpPr txBox="1"/>
          <p:nvPr/>
        </p:nvSpPr>
        <p:spPr>
          <a:xfrm>
            <a:off x="8319946" y="4121750"/>
            <a:ext cx="343335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Lπ,TE≈93.84 </a:t>
            </a:r>
            <a:r>
              <a:rPr lang="es-ES" dirty="0" err="1">
                <a:ea typeface="+mn-lt"/>
                <a:cs typeface="+mn-lt"/>
              </a:rPr>
              <a:t>μm</a:t>
            </a:r>
            <a:endParaRPr lang="es-ES" dirty="0" err="1"/>
          </a:p>
          <a:p>
            <a:pPr marL="285750" indent="-285750"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Lπ,TM≈52.26 </a:t>
            </a:r>
            <a:r>
              <a:rPr lang="es-ES" dirty="0" err="1">
                <a:ea typeface="+mn-lt"/>
                <a:cs typeface="+mn-lt"/>
              </a:rPr>
              <a:t>μm</a:t>
            </a:r>
            <a:endParaRPr lang="es-ES" dirty="0" err="1"/>
          </a:p>
          <a:p>
            <a:pPr marL="285750" indent="-285750" algn="l">
              <a:buFont typeface="Arial"/>
              <a:buChar char="•"/>
            </a:pPr>
            <a:endParaRPr lang="es-ES" dirty="0">
              <a:ea typeface="Calibri"/>
              <a:cs typeface="Calibri"/>
            </a:endParaRPr>
          </a:p>
          <a:p>
            <a:r>
              <a:rPr lang="es-ES" dirty="0">
                <a:ea typeface="+mn-lt"/>
                <a:cs typeface="+mn-lt"/>
              </a:rPr>
              <a:t>Cuanto mayor </a:t>
            </a:r>
            <a:r>
              <a:rPr lang="es-ES" err="1">
                <a:ea typeface="+mn-lt"/>
                <a:cs typeface="+mn-lt"/>
              </a:rPr>
              <a:t>Δneff</a:t>
            </a:r>
            <a:r>
              <a:rPr lang="es-ES" dirty="0">
                <a:ea typeface="+mn-lt"/>
                <a:cs typeface="+mn-lt"/>
              </a:rPr>
              <a:t> → menor </a:t>
            </a:r>
            <a:r>
              <a:rPr lang="es-ES">
                <a:ea typeface="+mn-lt"/>
                <a:cs typeface="+mn-lt"/>
              </a:rPr>
              <a:t>Lπ</a:t>
            </a:r>
            <a:endParaRPr lang="es-ES" dirty="0"/>
          </a:p>
          <a:p>
            <a:endParaRPr lang="es-ES" dirty="0">
              <a:ea typeface="Calibri"/>
              <a:cs typeface="Calibri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4A19149-F8CE-A080-7262-8781B86291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771" y="970817"/>
            <a:ext cx="3177687" cy="2202474"/>
          </a:xfrm>
          <a:prstGeom prst="rect">
            <a:avLst/>
          </a:prstGeom>
        </p:spPr>
      </p:pic>
      <p:pic>
        <p:nvPicPr>
          <p:cNvPr id="18" name="Imagen 17" descr="Gráfico, Gráfico de burbujas&#10;&#10;El contenido generado por IA puede ser incorrecto.">
            <a:extLst>
              <a:ext uri="{FF2B5EF4-FFF2-40B4-BE49-F238E27FC236}">
                <a16:creationId xmlns:a16="http://schemas.microsoft.com/office/drawing/2014/main" id="{7E551E54-9FA2-8221-BE8B-D7593E1FCE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5655" y="973747"/>
            <a:ext cx="3232639" cy="2178295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759DAA07-9399-1AA9-9ABF-A98F588004A3}"/>
              </a:ext>
            </a:extLst>
          </p:cNvPr>
          <p:cNvSpPr txBox="1"/>
          <p:nvPr/>
        </p:nvSpPr>
        <p:spPr>
          <a:xfrm>
            <a:off x="666226" y="3299980"/>
            <a:ext cx="650678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 err="1">
                <a:ea typeface="+mn-lt"/>
                <a:cs typeface="+mn-lt"/>
              </a:rPr>
              <a:t>Mode</a:t>
            </a:r>
            <a:r>
              <a:rPr lang="es-ES" sz="1600" dirty="0">
                <a:ea typeface="+mn-lt"/>
                <a:cs typeface="+mn-lt"/>
              </a:rPr>
              <a:t> 0 (Ex) → </a:t>
            </a:r>
            <a:r>
              <a:rPr lang="es-ES" sz="1600" b="1" dirty="0">
                <a:ea typeface="+mn-lt"/>
                <a:cs typeface="+mn-lt"/>
              </a:rPr>
              <a:t>modo par (</a:t>
            </a:r>
            <a:r>
              <a:rPr lang="es-ES" sz="1600" b="1" dirty="0" err="1">
                <a:ea typeface="+mn-lt"/>
                <a:cs typeface="+mn-lt"/>
              </a:rPr>
              <a:t>even</a:t>
            </a:r>
            <a:r>
              <a:rPr lang="es-ES" sz="1600" b="1" dirty="0">
                <a:ea typeface="+mn-lt"/>
                <a:cs typeface="+mn-lt"/>
              </a:rPr>
              <a:t>)</a:t>
            </a:r>
            <a:r>
              <a:rPr lang="es-ES" sz="1600" dirty="0">
                <a:ea typeface="+mn-lt"/>
                <a:cs typeface="+mn-lt"/>
              </a:rPr>
              <a:t> → campos en fase (Izquierda)</a:t>
            </a:r>
            <a:endParaRPr lang="es-ES" sz="1600" dirty="0">
              <a:ea typeface="Calibri"/>
              <a:cs typeface="Calibri"/>
            </a:endParaRPr>
          </a:p>
          <a:p>
            <a:r>
              <a:rPr lang="es-ES" sz="1600" dirty="0" err="1">
                <a:ea typeface="+mn-lt"/>
                <a:cs typeface="+mn-lt"/>
              </a:rPr>
              <a:t>Mode</a:t>
            </a:r>
            <a:r>
              <a:rPr lang="es-ES" sz="1600" dirty="0">
                <a:ea typeface="+mn-lt"/>
                <a:cs typeface="+mn-lt"/>
              </a:rPr>
              <a:t> 1 (Ex) → </a:t>
            </a:r>
            <a:r>
              <a:rPr lang="es-ES" sz="1600" b="1" dirty="0">
                <a:ea typeface="+mn-lt"/>
                <a:cs typeface="+mn-lt"/>
              </a:rPr>
              <a:t>modo impar (</a:t>
            </a:r>
            <a:r>
              <a:rPr lang="es-ES" sz="1600" b="1" dirty="0" err="1">
                <a:ea typeface="+mn-lt"/>
                <a:cs typeface="+mn-lt"/>
              </a:rPr>
              <a:t>odd</a:t>
            </a:r>
            <a:r>
              <a:rPr lang="es-ES" sz="1600" b="1" dirty="0">
                <a:ea typeface="+mn-lt"/>
                <a:cs typeface="+mn-lt"/>
              </a:rPr>
              <a:t>)</a:t>
            </a:r>
            <a:r>
              <a:rPr lang="es-ES" sz="1600" dirty="0">
                <a:ea typeface="+mn-lt"/>
                <a:cs typeface="+mn-lt"/>
              </a:rPr>
              <a:t> → campos en oposición de fase (Derecha)</a:t>
            </a:r>
            <a:endParaRPr lang="es-ES" sz="1600" dirty="0">
              <a:ea typeface="Calibri"/>
              <a:cs typeface="Calibri"/>
            </a:endParaRPr>
          </a:p>
          <a:p>
            <a:pPr algn="l"/>
            <a:endParaRPr lang="es-ES" dirty="0">
              <a:ea typeface="Calibri"/>
              <a:cs typeface="Calibri"/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E68B340-F36C-5C07-BB86-8CE48D45B896}"/>
              </a:ext>
            </a:extLst>
          </p:cNvPr>
          <p:cNvCxnSpPr/>
          <p:nvPr/>
        </p:nvCxnSpPr>
        <p:spPr>
          <a:xfrm flipV="1">
            <a:off x="7291996" y="2131732"/>
            <a:ext cx="739111" cy="2675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95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Directional coupler length and coupling coefficient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 µm – width 1.2 µm – gap 0.6 µm – thickness 300 nm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K=0 → no hay </a:t>
            </a:r>
            <a:r>
              <a:rPr lang="en-US" sz="1200" dirty="0" err="1">
                <a:ea typeface="+mn-lt"/>
                <a:cs typeface="+mn-lt"/>
              </a:rPr>
              <a:t>transferencia</a:t>
            </a:r>
            <a:r>
              <a:rPr lang="en-US" sz="1200" dirty="0">
                <a:ea typeface="+mn-lt"/>
                <a:cs typeface="+mn-lt"/>
              </a:rPr>
              <a:t> (</a:t>
            </a:r>
            <a:r>
              <a:rPr lang="en-US" sz="1200" dirty="0" err="1">
                <a:ea typeface="+mn-lt"/>
                <a:cs typeface="+mn-lt"/>
              </a:rPr>
              <a:t>toda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potencia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sigue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guía</a:t>
            </a:r>
            <a:r>
              <a:rPr lang="en-US" sz="1200" dirty="0">
                <a:ea typeface="+mn-lt"/>
                <a:cs typeface="+mn-lt"/>
              </a:rPr>
              <a:t> original) </a:t>
            </a:r>
            <a:endParaRPr lang="es-ES" dirty="0"/>
          </a:p>
          <a:p>
            <a:pPr marL="285750" indent="-285750" algn="just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K=1 → </a:t>
            </a:r>
            <a:r>
              <a:rPr lang="en-US" sz="1200" dirty="0" err="1">
                <a:ea typeface="+mn-lt"/>
                <a:cs typeface="+mn-lt"/>
              </a:rPr>
              <a:t>transferencia</a:t>
            </a:r>
            <a:r>
              <a:rPr lang="en-US" sz="1200" dirty="0">
                <a:ea typeface="+mn-lt"/>
                <a:cs typeface="+mn-lt"/>
              </a:rPr>
              <a:t> completa de </a:t>
            </a:r>
            <a:r>
              <a:rPr lang="en-US" sz="1200" dirty="0" err="1">
                <a:ea typeface="+mn-lt"/>
                <a:cs typeface="+mn-lt"/>
              </a:rPr>
              <a:t>potencia</a:t>
            </a:r>
            <a:r>
              <a:rPr lang="en-US" sz="1200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K=0.5 → </a:t>
            </a:r>
            <a:r>
              <a:rPr lang="en-US" sz="1200" dirty="0" err="1">
                <a:ea typeface="+mn-lt"/>
                <a:cs typeface="+mn-lt"/>
              </a:rPr>
              <a:t>división</a:t>
            </a:r>
            <a:r>
              <a:rPr lang="en-US" sz="1200">
                <a:ea typeface="+mn-lt"/>
                <a:cs typeface="+mn-lt"/>
              </a:rPr>
              <a:t> 50/50</a:t>
            </a:r>
            <a:endParaRPr lang="en-US"/>
          </a:p>
          <a:p>
            <a:pPr algn="just"/>
            <a:r>
              <a:rPr lang="en-US" sz="1200" dirty="0">
                <a:ea typeface="+mn-lt"/>
                <a:cs typeface="+mn-lt"/>
              </a:rPr>
              <a:t>La </a:t>
            </a:r>
            <a:r>
              <a:rPr lang="en-US" sz="1200" dirty="0" err="1">
                <a:ea typeface="+mn-lt"/>
                <a:cs typeface="+mn-lt"/>
              </a:rPr>
              <a:t>longitud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acoplo</a:t>
            </a:r>
            <a:r>
              <a:rPr lang="en-US" sz="1200" dirty="0">
                <a:ea typeface="+mn-lt"/>
                <a:cs typeface="+mn-lt"/>
              </a:rPr>
              <a:t> Lπ </a:t>
            </a:r>
            <a:r>
              <a:rPr lang="en-US" sz="1200" dirty="0" err="1">
                <a:ea typeface="+mn-lt"/>
                <a:cs typeface="+mn-lt"/>
              </a:rPr>
              <a:t>determina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distancia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necesaria</a:t>
            </a:r>
            <a:r>
              <a:rPr lang="en-US" sz="1200" dirty="0">
                <a:ea typeface="+mn-lt"/>
                <a:cs typeface="+mn-lt"/>
              </a:rPr>
              <a:t> para </a:t>
            </a:r>
            <a:r>
              <a:rPr lang="en-US" sz="1200" dirty="0" err="1">
                <a:ea typeface="+mn-lt"/>
                <a:cs typeface="+mn-lt"/>
              </a:rPr>
              <a:t>transferir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completamente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energía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una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guía</a:t>
            </a:r>
            <a:r>
              <a:rPr lang="en-US" sz="1200" dirty="0">
                <a:ea typeface="+mn-lt"/>
                <a:cs typeface="+mn-lt"/>
              </a:rPr>
              <a:t> a </a:t>
            </a:r>
            <a:r>
              <a:rPr lang="en-US" sz="1200" dirty="0" err="1">
                <a:ea typeface="+mn-lt"/>
                <a:cs typeface="+mn-lt"/>
              </a:rPr>
              <a:t>otra</a:t>
            </a:r>
            <a:r>
              <a:rPr lang="en-US" sz="1200" dirty="0">
                <a:ea typeface="+mn-lt"/>
                <a:cs typeface="+mn-lt"/>
              </a:rPr>
              <a:t>. Para </a:t>
            </a:r>
            <a:r>
              <a:rPr lang="en-US" sz="1200" dirty="0" err="1">
                <a:ea typeface="+mn-lt"/>
                <a:cs typeface="+mn-lt"/>
              </a:rPr>
              <a:t>obtener</a:t>
            </a:r>
            <a:r>
              <a:rPr lang="en-US" sz="1200" dirty="0">
                <a:ea typeface="+mn-lt"/>
                <a:cs typeface="+mn-lt"/>
              </a:rPr>
              <a:t> un divisor de </a:t>
            </a:r>
            <a:r>
              <a:rPr lang="en-US" sz="1200" dirty="0" err="1">
                <a:ea typeface="+mn-lt"/>
                <a:cs typeface="+mn-lt"/>
              </a:rPr>
              <a:t>potencia</a:t>
            </a:r>
            <a:r>
              <a:rPr lang="en-US" sz="1200" dirty="0">
                <a:ea typeface="+mn-lt"/>
                <a:cs typeface="+mn-lt"/>
              </a:rPr>
              <a:t> 50/50, la </a:t>
            </a:r>
            <a:r>
              <a:rPr lang="en-US" sz="1200" dirty="0" err="1">
                <a:ea typeface="+mn-lt"/>
                <a:cs typeface="+mn-lt"/>
              </a:rPr>
              <a:t>longitud</a:t>
            </a:r>
            <a:r>
              <a:rPr lang="en-US" sz="1200" dirty="0">
                <a:ea typeface="+mn-lt"/>
                <a:cs typeface="+mn-lt"/>
              </a:rPr>
              <a:t> del </a:t>
            </a:r>
            <a:r>
              <a:rPr lang="en-US" sz="1200" dirty="0" err="1">
                <a:ea typeface="+mn-lt"/>
                <a:cs typeface="+mn-lt"/>
              </a:rPr>
              <a:t>acoplador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debe</a:t>
            </a:r>
            <a:r>
              <a:rPr lang="en-US" sz="1200" dirty="0">
                <a:ea typeface="+mn-lt"/>
                <a:cs typeface="+mn-lt"/>
              </a:rPr>
              <a:t> ser Lπ/2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3909688" y="2609722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L/</a:t>
            </a:r>
            <a:r>
              <a:rPr lang="en-US" dirty="0" err="1"/>
              <a:t>Lpi</a:t>
            </a:r>
            <a:r>
              <a:rPr lang="en-US" dirty="0"/>
              <a:t> vs K plot here</a:t>
            </a:r>
          </a:p>
        </p:txBody>
      </p:sp>
      <p:pic>
        <p:nvPicPr>
          <p:cNvPr id="6" name="Imagen 5" descr="Forma&#10;&#10;Descripción generada automáticamente con confianza media">
            <a:extLst>
              <a:ext uri="{FF2B5EF4-FFF2-40B4-BE49-F238E27FC236}">
                <a16:creationId xmlns:a16="http://schemas.microsoft.com/office/drawing/2014/main" id="{380A8455-6386-C7D5-7BB6-B79D8D91F0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88" y="1626040"/>
            <a:ext cx="3383313" cy="983682"/>
          </a:xfrm>
          <a:prstGeom prst="rect">
            <a:avLst/>
          </a:prstGeom>
        </p:spPr>
      </p:pic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C3C63B46-4874-A1A7-8B5D-A66E630E7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641" y="1562300"/>
            <a:ext cx="3802719" cy="301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24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1.55 µm – Sweep gaps between 0.2 and 1.2 µm in steps of 0.2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 dirty="0">
                <a:ea typeface="+mn-lt"/>
                <a:cs typeface="+mn-lt"/>
              </a:rPr>
              <a:t>Se </a:t>
            </a:r>
            <a:r>
              <a:rPr lang="en-US" sz="1200" dirty="0" err="1">
                <a:ea typeface="+mn-lt"/>
                <a:cs typeface="+mn-lt"/>
              </a:rPr>
              <a:t>obtiene</a:t>
            </a:r>
            <a:r>
              <a:rPr lang="en-US" sz="1200" dirty="0">
                <a:ea typeface="+mn-lt"/>
                <a:cs typeface="+mn-lt"/>
              </a:rPr>
              <a:t> un </a:t>
            </a:r>
            <a:r>
              <a:rPr lang="en-US" sz="1200" dirty="0" err="1">
                <a:ea typeface="+mn-lt"/>
                <a:cs typeface="+mn-lt"/>
              </a:rPr>
              <a:t>acoplador</a:t>
            </a:r>
            <a:r>
              <a:rPr lang="en-US" sz="1200" dirty="0">
                <a:ea typeface="+mn-lt"/>
                <a:cs typeface="+mn-lt"/>
              </a:rPr>
              <a:t> 2x2 50/50 con Lπ≈94 </a:t>
            </a:r>
            <a:r>
              <a:rPr lang="en-US" sz="1200" dirty="0" err="1">
                <a:ea typeface="+mn-lt"/>
                <a:cs typeface="+mn-lt"/>
              </a:rPr>
              <a:t>μm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utilizando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una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longitud</a:t>
            </a:r>
            <a:r>
              <a:rPr lang="en-US" sz="1200" dirty="0">
                <a:ea typeface="+mn-lt"/>
                <a:cs typeface="+mn-lt"/>
              </a:rPr>
              <a:t> L=Lπ/2, lo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da </a:t>
            </a:r>
            <a:r>
              <a:rPr lang="en-US" sz="1200" dirty="0" err="1">
                <a:ea typeface="+mn-lt"/>
                <a:cs typeface="+mn-lt"/>
              </a:rPr>
              <a:t>lugar</a:t>
            </a:r>
            <a:r>
              <a:rPr lang="en-US" sz="1200" dirty="0">
                <a:ea typeface="+mn-lt"/>
                <a:cs typeface="+mn-lt"/>
              </a:rPr>
              <a:t> a </a:t>
            </a:r>
            <a:r>
              <a:rPr lang="en-US" sz="1200" dirty="0" err="1">
                <a:ea typeface="+mn-lt"/>
                <a:cs typeface="+mn-lt"/>
              </a:rPr>
              <a:t>una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división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equilibrada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potencia</a:t>
            </a:r>
            <a:r>
              <a:rPr lang="en-US" sz="1200" dirty="0">
                <a:ea typeface="+mn-lt"/>
                <a:cs typeface="+mn-lt"/>
              </a:rPr>
              <a:t> (∼0.5/0.5) con </a:t>
            </a:r>
            <a:r>
              <a:rPr lang="en-US" sz="1200" dirty="0" err="1">
                <a:ea typeface="+mn-lt"/>
                <a:cs typeface="+mn-lt"/>
              </a:rPr>
              <a:t>pérdidas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bajas</a:t>
            </a:r>
            <a:r>
              <a:rPr lang="en-US" sz="1200" dirty="0">
                <a:ea typeface="+mn-lt"/>
                <a:cs typeface="+mn-lt"/>
              </a:rPr>
              <a:t> (~0.18 dB). La </a:t>
            </a:r>
            <a:r>
              <a:rPr lang="en-US" sz="1200" dirty="0" err="1">
                <a:ea typeface="+mn-lt"/>
                <a:cs typeface="+mn-lt"/>
              </a:rPr>
              <a:t>propagación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muestra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intercambio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periódico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energía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debido</a:t>
            </a:r>
            <a:r>
              <a:rPr lang="en-US" sz="1200" dirty="0">
                <a:ea typeface="+mn-lt"/>
                <a:cs typeface="+mn-lt"/>
              </a:rPr>
              <a:t> a la </a:t>
            </a:r>
            <a:r>
              <a:rPr lang="en-US" sz="1200" dirty="0" err="1">
                <a:ea typeface="+mn-lt"/>
                <a:cs typeface="+mn-lt"/>
              </a:rPr>
              <a:t>interferencia</a:t>
            </a:r>
            <a:r>
              <a:rPr lang="en-US" sz="1200" dirty="0">
                <a:ea typeface="+mn-lt"/>
                <a:cs typeface="+mn-lt"/>
              </a:rPr>
              <a:t> entre </a:t>
            </a:r>
            <a:r>
              <a:rPr lang="en-US" sz="1200" dirty="0" err="1">
                <a:ea typeface="+mn-lt"/>
                <a:cs typeface="+mn-lt"/>
              </a:rPr>
              <a:t>modos</a:t>
            </a:r>
            <a:r>
              <a:rPr lang="en-US" sz="1200" dirty="0">
                <a:ea typeface="+mn-lt"/>
                <a:cs typeface="+mn-lt"/>
              </a:rPr>
              <a:t> par e impar. Al </a:t>
            </a:r>
            <a:r>
              <a:rPr lang="en-US" sz="1200" dirty="0" err="1">
                <a:ea typeface="+mn-lt"/>
                <a:cs typeface="+mn-lt"/>
              </a:rPr>
              <a:t>aumentar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gap,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acoplamiento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disminuye</a:t>
            </a:r>
            <a:r>
              <a:rPr lang="en-US" sz="1200" dirty="0">
                <a:ea typeface="+mn-lt"/>
                <a:cs typeface="+mn-lt"/>
              </a:rPr>
              <a:t> y Lπ </a:t>
            </a:r>
            <a:r>
              <a:rPr lang="en-US" sz="1200" dirty="0" err="1">
                <a:ea typeface="+mn-lt"/>
                <a:cs typeface="+mn-lt"/>
              </a:rPr>
              <a:t>crece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significativamente</a:t>
            </a:r>
            <a:r>
              <a:rPr lang="en-US" sz="1200" dirty="0">
                <a:ea typeface="+mn-lt"/>
                <a:cs typeface="+mn-lt"/>
              </a:rPr>
              <a:t> (de ~30 µm a ~580 µm), </a:t>
            </a:r>
            <a:r>
              <a:rPr lang="en-US" sz="1200" dirty="0" err="1">
                <a:ea typeface="+mn-lt"/>
                <a:cs typeface="+mn-lt"/>
              </a:rPr>
              <a:t>confirmando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gap </a:t>
            </a:r>
            <a:r>
              <a:rPr lang="en-US" sz="1200" dirty="0" err="1">
                <a:ea typeface="+mn-lt"/>
                <a:cs typeface="+mn-lt"/>
              </a:rPr>
              <a:t>controla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intensidad</a:t>
            </a:r>
            <a:r>
              <a:rPr lang="en-US" sz="1200" dirty="0">
                <a:ea typeface="+mn-lt"/>
                <a:cs typeface="+mn-lt"/>
              </a:rPr>
              <a:t> del </a:t>
            </a:r>
            <a:r>
              <a:rPr lang="en-US" sz="1200" dirty="0" err="1">
                <a:ea typeface="+mn-lt"/>
                <a:cs typeface="+mn-lt"/>
              </a:rPr>
              <a:t>acoplamiento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s-ES" dirty="0"/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AA8E46-9ACF-16AC-3488-6CA4962E1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59" y="1476814"/>
            <a:ext cx="5101079" cy="3187194"/>
          </a:xfrm>
          <a:prstGeom prst="rect">
            <a:avLst/>
          </a:prstGeom>
        </p:spPr>
      </p:pic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E4BC672-E73E-1314-8E3F-C73A76F0B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899" y="1451800"/>
            <a:ext cx="4161147" cy="323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26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Parallel uncoupled waveguides – TE0 mode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1.55 µm, width 1.0 µm, gap to be found for uncoupled </a:t>
            </a:r>
            <a:r>
              <a:rPr lang="en-US" b="0" dirty="0" err="1"/>
              <a:t>wvgs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627196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 dirty="0">
                <a:ea typeface="+mn-lt"/>
                <a:cs typeface="+mn-lt"/>
              </a:rPr>
              <a:t>Para </a:t>
            </a:r>
            <a:r>
              <a:rPr lang="en-US" sz="1200" dirty="0" err="1">
                <a:ea typeface="+mn-lt"/>
                <a:cs typeface="+mn-lt"/>
              </a:rPr>
              <a:t>evitar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acoplamiento</a:t>
            </a:r>
            <a:r>
              <a:rPr lang="en-US" sz="1200" dirty="0">
                <a:ea typeface="+mn-lt"/>
                <a:cs typeface="+mn-lt"/>
              </a:rPr>
              <a:t> (K &lt; 0.01)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una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longitud</a:t>
            </a:r>
            <a:r>
              <a:rPr lang="en-US" sz="1200" dirty="0">
                <a:ea typeface="+mn-lt"/>
                <a:cs typeface="+mn-lt"/>
              </a:rPr>
              <a:t> de 10 mm, se </a:t>
            </a:r>
            <a:r>
              <a:rPr lang="en-US" sz="1200" dirty="0" err="1">
                <a:ea typeface="+mn-lt"/>
                <a:cs typeface="+mn-lt"/>
              </a:rPr>
              <a:t>requiere</a:t>
            </a:r>
            <a:r>
              <a:rPr lang="en-US" sz="1200" dirty="0">
                <a:ea typeface="+mn-lt"/>
                <a:cs typeface="+mn-lt"/>
              </a:rPr>
              <a:t> un Lπ≈156.8 </a:t>
            </a:r>
            <a:r>
              <a:rPr lang="en-US" sz="1200" dirty="0" err="1">
                <a:ea typeface="+mn-lt"/>
                <a:cs typeface="+mn-lt"/>
              </a:rPr>
              <a:t>μm</a:t>
            </a:r>
            <a:r>
              <a:rPr lang="en-US" sz="1200" dirty="0">
                <a:ea typeface="+mn-lt"/>
                <a:cs typeface="+mn-lt"/>
              </a:rPr>
              <a:t>. En </a:t>
            </a:r>
            <a:r>
              <a:rPr lang="en-US" sz="1200" dirty="0" err="1">
                <a:ea typeface="+mn-lt"/>
                <a:cs typeface="+mn-lt"/>
              </a:rPr>
              <a:t>guías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b="1" dirty="0">
                <a:ea typeface="+mn-lt"/>
                <a:cs typeface="+mn-lt"/>
              </a:rPr>
              <a:t>deep</a:t>
            </a:r>
            <a:r>
              <a:rPr lang="en-US" sz="1200" dirty="0">
                <a:ea typeface="+mn-lt"/>
                <a:cs typeface="+mn-lt"/>
              </a:rPr>
              <a:t>, la </a:t>
            </a:r>
            <a:r>
              <a:rPr lang="en-US" sz="1200" dirty="0" err="1">
                <a:ea typeface="+mn-lt"/>
                <a:cs typeface="+mn-lt"/>
              </a:rPr>
              <a:t>brecha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mínima</a:t>
            </a:r>
            <a:r>
              <a:rPr lang="en-US" sz="1200" dirty="0">
                <a:ea typeface="+mn-lt"/>
                <a:cs typeface="+mn-lt"/>
              </a:rPr>
              <a:t> es ≈0.97 µm (Lπ≈169.4 </a:t>
            </a:r>
            <a:r>
              <a:rPr lang="en-US" sz="1200" dirty="0" err="1">
                <a:ea typeface="+mn-lt"/>
                <a:cs typeface="+mn-lt"/>
              </a:rPr>
              <a:t>μm</a:t>
            </a:r>
            <a:r>
              <a:rPr lang="en-US" sz="1200" dirty="0">
                <a:ea typeface="+mn-lt"/>
                <a:cs typeface="+mn-lt"/>
              </a:rPr>
              <a:t>, K≈0.0086), </a:t>
            </a:r>
            <a:r>
              <a:rPr lang="en-US" sz="1200" dirty="0" err="1">
                <a:ea typeface="+mn-lt"/>
                <a:cs typeface="+mn-lt"/>
              </a:rPr>
              <a:t>mientras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b="1" dirty="0">
                <a:ea typeface="+mn-lt"/>
                <a:cs typeface="+mn-lt"/>
              </a:rPr>
              <a:t>shallow</a:t>
            </a:r>
            <a:r>
              <a:rPr lang="en-US" sz="1200" dirty="0">
                <a:ea typeface="+mn-lt"/>
                <a:cs typeface="+mn-lt"/>
              </a:rPr>
              <a:t> es mayor, ≈1.34 µm (Lπ≈165.1 </a:t>
            </a:r>
            <a:r>
              <a:rPr lang="en-US" sz="1200" dirty="0" err="1">
                <a:ea typeface="+mn-lt"/>
                <a:cs typeface="+mn-lt"/>
              </a:rPr>
              <a:t>μm</a:t>
            </a:r>
            <a:r>
              <a:rPr lang="en-US" sz="1200" dirty="0">
                <a:ea typeface="+mn-lt"/>
                <a:cs typeface="+mn-lt"/>
              </a:rPr>
              <a:t>, K≈0.0090). Esto </a:t>
            </a:r>
            <a:r>
              <a:rPr lang="en-US" sz="1200" dirty="0" err="1">
                <a:ea typeface="+mn-lt"/>
                <a:cs typeface="+mn-lt"/>
              </a:rPr>
              <a:t>confirma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las </a:t>
            </a:r>
            <a:r>
              <a:rPr lang="en-US" sz="1200" dirty="0" err="1">
                <a:ea typeface="+mn-lt"/>
                <a:cs typeface="+mn-lt"/>
              </a:rPr>
              <a:t>guías</a:t>
            </a:r>
            <a:r>
              <a:rPr lang="en-US" sz="1200" dirty="0">
                <a:ea typeface="+mn-lt"/>
                <a:cs typeface="+mn-lt"/>
              </a:rPr>
              <a:t> shallow </a:t>
            </a:r>
            <a:r>
              <a:rPr lang="en-US" sz="1200" dirty="0" err="1">
                <a:ea typeface="+mn-lt"/>
                <a:cs typeface="+mn-lt"/>
              </a:rPr>
              <a:t>presentan</a:t>
            </a:r>
            <a:r>
              <a:rPr lang="en-US" sz="1200" dirty="0">
                <a:ea typeface="+mn-lt"/>
                <a:cs typeface="+mn-lt"/>
              </a:rPr>
              <a:t> mayor </a:t>
            </a:r>
            <a:r>
              <a:rPr lang="en-US" sz="1200" dirty="0" err="1">
                <a:ea typeface="+mn-lt"/>
                <a:cs typeface="+mn-lt"/>
              </a:rPr>
              <a:t>acoplamiento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evanescente</a:t>
            </a:r>
            <a:r>
              <a:rPr lang="en-US" sz="1200" dirty="0">
                <a:ea typeface="+mn-lt"/>
                <a:cs typeface="+mn-lt"/>
              </a:rPr>
              <a:t> y </a:t>
            </a:r>
            <a:r>
              <a:rPr lang="en-US" sz="1200" dirty="0" err="1">
                <a:ea typeface="+mn-lt"/>
                <a:cs typeface="+mn-lt"/>
              </a:rPr>
              <a:t>requieren</a:t>
            </a:r>
            <a:r>
              <a:rPr lang="en-US" sz="1200" dirty="0">
                <a:ea typeface="+mn-lt"/>
                <a:cs typeface="+mn-lt"/>
              </a:rPr>
              <a:t> mayor </a:t>
            </a:r>
            <a:r>
              <a:rPr lang="en-US" sz="1200" dirty="0" err="1">
                <a:ea typeface="+mn-lt"/>
                <a:cs typeface="+mn-lt"/>
              </a:rPr>
              <a:t>separación</a:t>
            </a:r>
            <a:r>
              <a:rPr lang="en-US" sz="1200" dirty="0">
                <a:ea typeface="+mn-lt"/>
                <a:cs typeface="+mn-lt"/>
              </a:rPr>
              <a:t> para </a:t>
            </a:r>
            <a:r>
              <a:rPr lang="en-US" sz="1200" dirty="0" err="1">
                <a:ea typeface="+mn-lt"/>
                <a:cs typeface="+mn-lt"/>
              </a:rPr>
              <a:t>desacoplarse</a:t>
            </a:r>
            <a:r>
              <a:rPr lang="en-US" sz="1200" dirty="0">
                <a:ea typeface="+mn-lt"/>
                <a:cs typeface="+mn-lt"/>
              </a:rPr>
              <a:t>. En ambos </a:t>
            </a:r>
            <a:r>
              <a:rPr lang="en-US" sz="1200" dirty="0" err="1">
                <a:ea typeface="+mn-lt"/>
                <a:cs typeface="+mn-lt"/>
              </a:rPr>
              <a:t>casos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aumento</a:t>
            </a:r>
            <a:r>
              <a:rPr lang="en-US" sz="1200" dirty="0">
                <a:ea typeface="+mn-lt"/>
                <a:cs typeface="+mn-lt"/>
              </a:rPr>
              <a:t> del gap reduce </a:t>
            </a:r>
            <a:r>
              <a:rPr lang="en-US" sz="1200" dirty="0" err="1">
                <a:ea typeface="+mn-lt"/>
                <a:cs typeface="+mn-lt"/>
              </a:rPr>
              <a:t>exponencialmente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acoplamiento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controlando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eficazmente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interacción</a:t>
            </a:r>
            <a:r>
              <a:rPr lang="en-US" sz="1200" dirty="0">
                <a:ea typeface="+mn-lt"/>
                <a:cs typeface="+mn-lt"/>
              </a:rPr>
              <a:t> entre </a:t>
            </a:r>
            <a:r>
              <a:rPr lang="en-US" sz="1200" dirty="0" err="1">
                <a:ea typeface="+mn-lt"/>
                <a:cs typeface="+mn-lt"/>
              </a:rPr>
              <a:t>guías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n-US" sz="1200" dirty="0">
              <a:latin typeface="Calibri"/>
              <a:ea typeface="Calibri"/>
              <a:cs typeface="Calibri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4B77A0-B37C-3130-FB52-4E560C66946F}"/>
              </a:ext>
            </a:extLst>
          </p:cNvPr>
          <p:cNvSpPr/>
          <p:nvPr/>
        </p:nvSpPr>
        <p:spPr>
          <a:xfrm>
            <a:off x="609441" y="12192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A7ECAA3-0876-C0FB-D7E5-448FCC5ED226}"/>
              </a:ext>
            </a:extLst>
          </p:cNvPr>
          <p:cNvSpPr/>
          <p:nvPr/>
        </p:nvSpPr>
        <p:spPr>
          <a:xfrm>
            <a:off x="6321424" y="12192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1467207-8D05-D4C6-EBD2-209F796AE977}"/>
                  </a:ext>
                </a:extLst>
              </p:cNvPr>
              <p:cNvSpPr txBox="1"/>
              <p:nvPr/>
            </p:nvSpPr>
            <p:spPr>
              <a:xfrm>
                <a:off x="1079403" y="2480496"/>
                <a:ext cx="454663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vs gap for 10 mm </a:t>
                </a:r>
                <a:r>
                  <a:rPr lang="en-US" dirty="0" err="1"/>
                  <a:t>wvgs</a:t>
                </a:r>
                <a:r>
                  <a:rPr lang="en-US" dirty="0"/>
                  <a:t> to be uncoupled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1467207-8D05-D4C6-EBD2-209F796AE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480496"/>
                <a:ext cx="4546634" cy="1477328"/>
              </a:xfrm>
              <a:prstGeom prst="rect">
                <a:avLst/>
              </a:prstGeom>
              <a:blipFill>
                <a:blip r:embed="rId5"/>
                <a:stretch>
                  <a:fillRect t="-24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2E39C0C-95E1-ED90-891A-5D634D9DB76B}"/>
                  </a:ext>
                </a:extLst>
              </p:cNvPr>
              <p:cNvSpPr txBox="1"/>
              <p:nvPr/>
            </p:nvSpPr>
            <p:spPr>
              <a:xfrm>
                <a:off x="6883366" y="2480496"/>
                <a:ext cx="454663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r>
                  <a:rPr lang="en-US" dirty="0" err="1"/>
                  <a:t>slab_thickness</a:t>
                </a:r>
                <a:r>
                  <a:rPr lang="en-US" dirty="0"/>
                  <a:t> = 150 nm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vs gap for 10 mm </a:t>
                </a:r>
                <a:r>
                  <a:rPr lang="en-US" dirty="0" err="1"/>
                  <a:t>wvgs</a:t>
                </a:r>
                <a:r>
                  <a:rPr lang="en-US" dirty="0"/>
                  <a:t> to be uncoupled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2E39C0C-95E1-ED90-891A-5D634D9D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480496"/>
                <a:ext cx="4546634" cy="1477328"/>
              </a:xfrm>
              <a:prstGeom prst="rect">
                <a:avLst/>
              </a:prstGeom>
              <a:blipFill>
                <a:blip r:embed="rId6"/>
                <a:stretch>
                  <a:fillRect t="-2479" b="-578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581E837-1498-EA2F-40FC-433D65B52F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7785" y="1216638"/>
            <a:ext cx="4202597" cy="3310538"/>
          </a:xfrm>
          <a:prstGeom prst="rect">
            <a:avLst/>
          </a:prstGeom>
        </p:spPr>
      </p:pic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94B9BBB1-B16A-9FAF-F5C7-85D3BD0E7E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638" y="1221440"/>
            <a:ext cx="4283850" cy="331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4982-2E99-3EE0-CEBE-CEF54821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D29C4-F13C-8947-EF1D-2CBDDD14AC5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A4EFD1-1AF6-F17D-1B27-5115800F99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8111062F-F9A0-241E-6CCB-6E8BE4D8C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52650"/>
            <a:ext cx="10972800" cy="430887"/>
          </a:xfrm>
        </p:spPr>
        <p:txBody>
          <a:bodyPr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Multimode Interferometer (MMI) Coupler</a:t>
            </a:r>
          </a:p>
        </p:txBody>
      </p:sp>
    </p:spTree>
    <p:extLst>
      <p:ext uri="{BB962C8B-B14F-4D97-AF65-F5344CB8AC3E}">
        <p14:creationId xmlns:p14="http://schemas.microsoft.com/office/powerpoint/2010/main" val="3873318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#5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#2: </a:t>
                </a:r>
                <a:r>
                  <a:rPr lang="en-US" sz="2000" dirty="0"/>
                  <a:t>waveguide width 12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u="sng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532601" y="4732267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 dirty="0">
                <a:ea typeface="+mn-lt"/>
                <a:cs typeface="+mn-lt"/>
              </a:rPr>
              <a:t>La </a:t>
            </a:r>
            <a:r>
              <a:rPr lang="en-US" sz="1200" dirty="0" err="1">
                <a:ea typeface="+mn-lt"/>
                <a:cs typeface="+mn-lt"/>
              </a:rPr>
              <a:t>sección</a:t>
            </a:r>
            <a:r>
              <a:rPr lang="en-US" sz="1200" dirty="0">
                <a:ea typeface="+mn-lt"/>
                <a:cs typeface="+mn-lt"/>
              </a:rPr>
              <a:t> MMI (w = 12 µm) </a:t>
            </a:r>
            <a:r>
              <a:rPr lang="en-US" sz="1200" dirty="0" err="1">
                <a:ea typeface="+mn-lt"/>
                <a:cs typeface="+mn-lt"/>
              </a:rPr>
              <a:t>soporta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múltiples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modos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guiados</a:t>
            </a:r>
            <a:r>
              <a:rPr lang="en-US" sz="1200" dirty="0">
                <a:ea typeface="+mn-lt"/>
                <a:cs typeface="+mn-lt"/>
              </a:rPr>
              <a:t> con </a:t>
            </a:r>
            <a:r>
              <a:rPr lang="en-US" sz="1200" dirty="0" err="1">
                <a:ea typeface="+mn-lt"/>
                <a:cs typeface="+mn-lt"/>
              </a:rPr>
              <a:t>índices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efectivos</a:t>
            </a:r>
            <a:r>
              <a:rPr lang="en-US" sz="1200" dirty="0">
                <a:ea typeface="+mn-lt"/>
                <a:cs typeface="+mn-lt"/>
              </a:rPr>
              <a:t> entre ≈1.68 y 1.50, </a:t>
            </a:r>
            <a:r>
              <a:rPr lang="en-US" sz="1200" dirty="0" err="1">
                <a:ea typeface="+mn-lt"/>
                <a:cs typeface="+mn-lt"/>
              </a:rPr>
              <a:t>siendo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mayoritariamente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modos</a:t>
            </a:r>
            <a:r>
              <a:rPr lang="en-US" sz="1200" dirty="0">
                <a:ea typeface="+mn-lt"/>
                <a:cs typeface="+mn-lt"/>
              </a:rPr>
              <a:t> TE (</a:t>
            </a:r>
            <a:r>
              <a:rPr lang="en-US" sz="1200" dirty="0" err="1">
                <a:ea typeface="+mn-lt"/>
                <a:cs typeface="+mn-lt"/>
              </a:rPr>
              <a:t>fracción</a:t>
            </a:r>
            <a:r>
              <a:rPr lang="en-US" sz="1200" dirty="0">
                <a:ea typeface="+mn-lt"/>
                <a:cs typeface="+mn-lt"/>
              </a:rPr>
              <a:t> TE ≈ 1). Los </a:t>
            </a:r>
            <a:r>
              <a:rPr lang="en-US" sz="1200" dirty="0" err="1">
                <a:ea typeface="+mn-lt"/>
                <a:cs typeface="+mn-lt"/>
              </a:rPr>
              <a:t>perfiles</a:t>
            </a:r>
            <a:r>
              <a:rPr lang="en-US" sz="1200" dirty="0">
                <a:ea typeface="+mn-lt"/>
                <a:cs typeface="+mn-lt"/>
              </a:rPr>
              <a:t> de campo </a:t>
            </a:r>
            <a:r>
              <a:rPr lang="en-US" sz="1200" dirty="0" err="1">
                <a:ea typeface="+mn-lt"/>
                <a:cs typeface="+mn-lt"/>
              </a:rPr>
              <a:t>muestran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patrones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interferencia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espacial</a:t>
            </a:r>
            <a:r>
              <a:rPr lang="en-US" sz="1200" dirty="0">
                <a:ea typeface="+mn-lt"/>
                <a:cs typeface="+mn-lt"/>
              </a:rPr>
              <a:t> (</a:t>
            </a:r>
            <a:r>
              <a:rPr lang="en-US" sz="1200" dirty="0" err="1">
                <a:ea typeface="+mn-lt"/>
                <a:cs typeface="+mn-lt"/>
              </a:rPr>
              <a:t>modos</a:t>
            </a:r>
            <a:r>
              <a:rPr lang="en-US" sz="1200" dirty="0">
                <a:ea typeface="+mn-lt"/>
                <a:cs typeface="+mn-lt"/>
              </a:rPr>
              <a:t> par/impar y de </a:t>
            </a:r>
            <a:r>
              <a:rPr lang="en-US" sz="1200" dirty="0" err="1">
                <a:ea typeface="+mn-lt"/>
                <a:cs typeface="+mn-lt"/>
              </a:rPr>
              <a:t>orden</a:t>
            </a:r>
            <a:r>
              <a:rPr lang="en-US" sz="1200" dirty="0">
                <a:ea typeface="+mn-lt"/>
                <a:cs typeface="+mn-lt"/>
              </a:rPr>
              <a:t> superior) </a:t>
            </a:r>
            <a:r>
              <a:rPr lang="en-US" sz="1200" dirty="0" err="1">
                <a:ea typeface="+mn-lt"/>
                <a:cs typeface="+mn-lt"/>
              </a:rPr>
              <a:t>responsables</a:t>
            </a:r>
            <a:r>
              <a:rPr lang="en-US" sz="1200" dirty="0">
                <a:ea typeface="+mn-lt"/>
                <a:cs typeface="+mn-lt"/>
              </a:rPr>
              <a:t> del auto-imaging. A </a:t>
            </a:r>
            <a:r>
              <a:rPr lang="en-US" sz="1200" dirty="0" err="1">
                <a:ea typeface="+mn-lt"/>
                <a:cs typeface="+mn-lt"/>
              </a:rPr>
              <a:t>partir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los</a:t>
            </a:r>
            <a:r>
              <a:rPr lang="en-US" sz="1200" dirty="0">
                <a:ea typeface="+mn-lt"/>
                <a:cs typeface="+mn-lt"/>
              </a:rPr>
              <a:t> dos primeros </a:t>
            </a:r>
            <a:r>
              <a:rPr lang="en-US" sz="1200" dirty="0" err="1">
                <a:ea typeface="+mn-lt"/>
                <a:cs typeface="+mn-lt"/>
              </a:rPr>
              <a:t>modos</a:t>
            </a:r>
            <a:r>
              <a:rPr lang="en-US" sz="1200" dirty="0">
                <a:ea typeface="+mn-lt"/>
                <a:cs typeface="+mn-lt"/>
              </a:rPr>
              <a:t> se </a:t>
            </a:r>
            <a:r>
              <a:rPr lang="en-US" sz="1200" dirty="0" err="1">
                <a:ea typeface="+mn-lt"/>
                <a:cs typeface="+mn-lt"/>
              </a:rPr>
              <a:t>obtiene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una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longitud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característica</a:t>
            </a:r>
            <a:r>
              <a:rPr lang="en-US" sz="1200" dirty="0">
                <a:ea typeface="+mn-lt"/>
                <a:cs typeface="+mn-lt"/>
              </a:rPr>
              <a:t> Lπ≈219.4 </a:t>
            </a:r>
            <a:r>
              <a:rPr lang="en-US" sz="1200" dirty="0" err="1">
                <a:ea typeface="+mn-lt"/>
                <a:cs typeface="+mn-lt"/>
              </a:rPr>
              <a:t>μm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define la </a:t>
            </a:r>
            <a:r>
              <a:rPr lang="en-US" sz="1200" dirty="0" err="1">
                <a:ea typeface="+mn-lt"/>
                <a:cs typeface="+mn-lt"/>
              </a:rPr>
              <a:t>periodicidad</a:t>
            </a:r>
            <a:r>
              <a:rPr lang="en-US" sz="1200" dirty="0">
                <a:ea typeface="+mn-lt"/>
                <a:cs typeface="+mn-lt"/>
              </a:rPr>
              <a:t> de la </a:t>
            </a:r>
            <a:r>
              <a:rPr lang="en-US" sz="1200" dirty="0" err="1">
                <a:ea typeface="+mn-lt"/>
                <a:cs typeface="+mn-lt"/>
              </a:rPr>
              <a:t>interferencia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multimodo</a:t>
            </a:r>
            <a:r>
              <a:rPr lang="en-US" sz="1200" dirty="0">
                <a:ea typeface="+mn-lt"/>
                <a:cs typeface="+mn-lt"/>
              </a:rPr>
              <a:t>. Este valor es clave para </a:t>
            </a:r>
            <a:r>
              <a:rPr lang="en-US" sz="1200" dirty="0" err="1">
                <a:ea typeface="+mn-lt"/>
                <a:cs typeface="+mn-lt"/>
              </a:rPr>
              <a:t>diseñar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longitud</a:t>
            </a:r>
            <a:r>
              <a:rPr lang="en-US" sz="1200" dirty="0">
                <a:ea typeface="+mn-lt"/>
                <a:cs typeface="+mn-lt"/>
              </a:rPr>
              <a:t> del MMI y </a:t>
            </a:r>
            <a:r>
              <a:rPr lang="en-US" sz="1200" dirty="0" err="1">
                <a:ea typeface="+mn-lt"/>
                <a:cs typeface="+mn-lt"/>
              </a:rPr>
              <a:t>obtener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divisores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potencia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controlados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s-ES" dirty="0"/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451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5427-574B-EB0A-FE20-1C4D6B84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FDC3E96-49BE-7B02-2773-A7932D8C25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#5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82BA411-0B81-07E0-9E43-CBB22AD4B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AACE153-9246-78DA-E410-6E50ECB5BA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48D2D5-DEA7-E4CD-2828-724997EC87E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2857F7C-F798-2B65-6313-E74F14749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34" y="1026819"/>
            <a:ext cx="2854939" cy="2031707"/>
          </a:xfrm>
          <a:prstGeom prst="rect">
            <a:avLst/>
          </a:prstGeom>
        </p:spPr>
      </p:pic>
      <p:pic>
        <p:nvPicPr>
          <p:cNvPr id="6" name="Imagen 5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5EFA86D3-8737-0D71-F04B-17DAA06A2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997" y="1044428"/>
            <a:ext cx="2889438" cy="2016099"/>
          </a:xfrm>
          <a:prstGeom prst="rect">
            <a:avLst/>
          </a:prstGeom>
        </p:spPr>
      </p:pic>
      <p:pic>
        <p:nvPicPr>
          <p:cNvPr id="7" name="Imagen 6" descr="Gráfico, Aplicación&#10;&#10;El contenido generado por IA puede ser incorrecto.">
            <a:extLst>
              <a:ext uri="{FF2B5EF4-FFF2-40B4-BE49-F238E27FC236}">
                <a16:creationId xmlns:a16="http://schemas.microsoft.com/office/drawing/2014/main" id="{2C36E8AA-F381-030F-A8BD-7D625D282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3312" y="1119668"/>
            <a:ext cx="2898963" cy="2028585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B012DAA-9CE5-90D1-FD89-FC8C6D3281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7191" y="3845899"/>
            <a:ext cx="6719927" cy="161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18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7C0E-2677-BADF-D636-6F9B71E66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B8D44BF-A3B5-6BED-C39C-FA8260E83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#6 – 6.1 2x2 Multimode Interference Coupler 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DFCF1AD-6B06-F914-AC0B-80F0ED838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A656CCE-66E0-EAE0-5C63-DF1315DF62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AB6581-C493-80EB-A67F-5289454DAA2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5029729-ADF3-3B30-4FF9-83BE1DB82BD7}"/>
              </a:ext>
            </a:extLst>
          </p:cNvPr>
          <p:cNvSpPr txBox="1"/>
          <p:nvPr/>
        </p:nvSpPr>
        <p:spPr>
          <a:xfrm>
            <a:off x="609441" y="4819471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 dirty="0">
                <a:ea typeface="+mn-lt"/>
                <a:cs typeface="+mn-lt"/>
              </a:rPr>
              <a:t>El </a:t>
            </a:r>
            <a:r>
              <a:rPr lang="en-US" sz="1200" dirty="0" err="1">
                <a:ea typeface="+mn-lt"/>
                <a:cs typeface="+mn-lt"/>
              </a:rPr>
              <a:t>acoplador</a:t>
            </a:r>
            <a:r>
              <a:rPr lang="en-US" sz="1200" dirty="0">
                <a:ea typeface="+mn-lt"/>
                <a:cs typeface="+mn-lt"/>
              </a:rPr>
              <a:t> MMI 2x2 (w = 6.6 µm) </a:t>
            </a:r>
            <a:r>
              <a:rPr lang="en-US" sz="1200" dirty="0" err="1">
                <a:ea typeface="+mn-lt"/>
                <a:cs typeface="+mn-lt"/>
              </a:rPr>
              <a:t>presenta</a:t>
            </a:r>
            <a:r>
              <a:rPr lang="en-US" sz="1200" dirty="0">
                <a:ea typeface="+mn-lt"/>
                <a:cs typeface="+mn-lt"/>
              </a:rPr>
              <a:t> un </a:t>
            </a:r>
            <a:r>
              <a:rPr lang="en-US" sz="1200" dirty="0" err="1">
                <a:ea typeface="+mn-lt"/>
                <a:cs typeface="+mn-lt"/>
              </a:rPr>
              <a:t>patrón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interferencia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multimodo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redistribuye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potencia</a:t>
            </a:r>
            <a:r>
              <a:rPr lang="en-US" sz="1200" dirty="0">
                <a:ea typeface="+mn-lt"/>
                <a:cs typeface="+mn-lt"/>
              </a:rPr>
              <a:t> entre las </a:t>
            </a:r>
            <a:r>
              <a:rPr lang="en-US" sz="1200" dirty="0" err="1">
                <a:ea typeface="+mn-lt"/>
                <a:cs typeface="+mn-lt"/>
              </a:rPr>
              <a:t>salidas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mediante</a:t>
            </a:r>
            <a:r>
              <a:rPr lang="en-US" sz="1200" dirty="0">
                <a:ea typeface="+mn-lt"/>
                <a:cs typeface="+mn-lt"/>
              </a:rPr>
              <a:t> auto-imaging, con </a:t>
            </a:r>
            <a:r>
              <a:rPr lang="en-US" sz="1200" dirty="0" err="1">
                <a:ea typeface="+mn-lt"/>
                <a:cs typeface="+mn-lt"/>
              </a:rPr>
              <a:t>una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longitud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característica</a:t>
            </a:r>
            <a:r>
              <a:rPr lang="en-US" sz="1200" dirty="0">
                <a:ea typeface="+mn-lt"/>
                <a:cs typeface="+mn-lt"/>
              </a:rPr>
              <a:t> Lπ≈69.0 </a:t>
            </a:r>
            <a:r>
              <a:rPr lang="en-US" sz="1200" dirty="0" err="1">
                <a:ea typeface="+mn-lt"/>
                <a:cs typeface="+mn-lt"/>
              </a:rPr>
              <a:t>μm</a:t>
            </a:r>
            <a:r>
              <a:rPr lang="en-US" sz="1200" dirty="0">
                <a:ea typeface="+mn-lt"/>
                <a:cs typeface="+mn-lt"/>
              </a:rPr>
              <a:t>. </a:t>
            </a:r>
            <a:r>
              <a:rPr lang="en-US" sz="1200" dirty="0" err="1">
                <a:ea typeface="+mn-lt"/>
                <a:cs typeface="+mn-lt"/>
              </a:rPr>
              <a:t>Usando</a:t>
            </a:r>
            <a:r>
              <a:rPr lang="en-US" sz="1200" dirty="0">
                <a:ea typeface="+mn-lt"/>
                <a:cs typeface="+mn-lt"/>
              </a:rPr>
              <a:t> L=Lπ/2≈34.5 </a:t>
            </a:r>
            <a:r>
              <a:rPr lang="en-US" sz="1200" dirty="0" err="1">
                <a:ea typeface="+mn-lt"/>
                <a:cs typeface="+mn-lt"/>
              </a:rPr>
              <a:t>μm</a:t>
            </a:r>
            <a:r>
              <a:rPr lang="en-US" sz="1200" dirty="0">
                <a:ea typeface="+mn-lt"/>
                <a:cs typeface="+mn-lt"/>
              </a:rPr>
              <a:t> se </a:t>
            </a:r>
            <a:r>
              <a:rPr lang="en-US" sz="1200" dirty="0" err="1">
                <a:ea typeface="+mn-lt"/>
                <a:cs typeface="+mn-lt"/>
              </a:rPr>
              <a:t>obtiene</a:t>
            </a:r>
            <a:r>
              <a:rPr lang="en-US" sz="1200" dirty="0">
                <a:ea typeface="+mn-lt"/>
                <a:cs typeface="+mn-lt"/>
              </a:rPr>
              <a:t> un divisor </a:t>
            </a:r>
            <a:r>
              <a:rPr lang="en-US" sz="1200" dirty="0" err="1">
                <a:ea typeface="+mn-lt"/>
                <a:cs typeface="+mn-lt"/>
              </a:rPr>
              <a:t>cercano</a:t>
            </a:r>
            <a:r>
              <a:rPr lang="en-US" sz="1200" dirty="0">
                <a:ea typeface="+mn-lt"/>
                <a:cs typeface="+mn-lt"/>
              </a:rPr>
              <a:t> a 50/50, con </a:t>
            </a:r>
            <a:r>
              <a:rPr lang="en-US" sz="1200" dirty="0" err="1">
                <a:ea typeface="+mn-lt"/>
                <a:cs typeface="+mn-lt"/>
              </a:rPr>
              <a:t>potencias</a:t>
            </a:r>
            <a:r>
              <a:rPr lang="en-US" sz="1200" dirty="0">
                <a:ea typeface="+mn-lt"/>
                <a:cs typeface="+mn-lt"/>
              </a:rPr>
              <a:t> ≈0.47/0.44 y ratios ≈0.52/0.48. Las </a:t>
            </a:r>
            <a:r>
              <a:rPr lang="en-US" sz="1200" dirty="0" err="1">
                <a:ea typeface="+mn-lt"/>
                <a:cs typeface="+mn-lt"/>
              </a:rPr>
              <a:t>pérdidas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totales</a:t>
            </a:r>
            <a:r>
              <a:rPr lang="en-US" sz="1200" dirty="0">
                <a:ea typeface="+mn-lt"/>
                <a:cs typeface="+mn-lt"/>
              </a:rPr>
              <a:t> son </a:t>
            </a:r>
            <a:r>
              <a:rPr lang="en-US" sz="1200" dirty="0" err="1">
                <a:ea typeface="+mn-lt"/>
                <a:cs typeface="+mn-lt"/>
              </a:rPr>
              <a:t>moderadas</a:t>
            </a:r>
            <a:r>
              <a:rPr lang="en-US" sz="1200" dirty="0">
                <a:ea typeface="+mn-lt"/>
                <a:cs typeface="+mn-lt"/>
              </a:rPr>
              <a:t> (~0.42 dB), </a:t>
            </a:r>
            <a:r>
              <a:rPr lang="en-US" sz="1200" dirty="0" err="1">
                <a:ea typeface="+mn-lt"/>
                <a:cs typeface="+mn-lt"/>
              </a:rPr>
              <a:t>debidas</a:t>
            </a:r>
            <a:r>
              <a:rPr lang="en-US" sz="1200" dirty="0">
                <a:ea typeface="+mn-lt"/>
                <a:cs typeface="+mn-lt"/>
              </a:rPr>
              <a:t> a </a:t>
            </a:r>
            <a:r>
              <a:rPr lang="en-US" sz="1200" dirty="0" err="1">
                <a:ea typeface="+mn-lt"/>
                <a:cs typeface="+mn-lt"/>
              </a:rPr>
              <a:t>desajustes</a:t>
            </a:r>
            <a:r>
              <a:rPr lang="en-US" sz="1200" dirty="0">
                <a:ea typeface="+mn-lt"/>
                <a:cs typeface="+mn-lt"/>
              </a:rPr>
              <a:t> y </a:t>
            </a:r>
            <a:r>
              <a:rPr lang="en-US" sz="1200" dirty="0" err="1">
                <a:ea typeface="+mn-lt"/>
                <a:cs typeface="+mn-lt"/>
              </a:rPr>
              <a:t>radiación</a:t>
            </a:r>
            <a:r>
              <a:rPr lang="en-US" sz="1200" dirty="0">
                <a:ea typeface="+mn-lt"/>
                <a:cs typeface="+mn-lt"/>
              </a:rPr>
              <a:t> modal. </a:t>
            </a:r>
            <a:r>
              <a:rPr lang="en-US" sz="1200" dirty="0" err="1">
                <a:ea typeface="+mn-lt"/>
                <a:cs typeface="+mn-lt"/>
              </a:rPr>
              <a:t>Frente</a:t>
            </a:r>
            <a:r>
              <a:rPr lang="en-US" sz="1200" dirty="0">
                <a:ea typeface="+mn-lt"/>
                <a:cs typeface="+mn-lt"/>
              </a:rPr>
              <a:t> al directional coupler,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MMI es </a:t>
            </a:r>
            <a:r>
              <a:rPr lang="en-US" sz="1200" dirty="0" err="1">
                <a:ea typeface="+mn-lt"/>
                <a:cs typeface="+mn-lt"/>
              </a:rPr>
              <a:t>más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tolerante</a:t>
            </a:r>
            <a:r>
              <a:rPr lang="en-US" sz="1200" dirty="0">
                <a:ea typeface="+mn-lt"/>
                <a:cs typeface="+mn-lt"/>
              </a:rPr>
              <a:t> a </a:t>
            </a:r>
            <a:r>
              <a:rPr lang="en-US" sz="1200" dirty="0" err="1">
                <a:ea typeface="+mn-lt"/>
                <a:cs typeface="+mn-lt"/>
              </a:rPr>
              <a:t>variaciones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geométricas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pero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menos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preciso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balance ideal de </a:t>
            </a:r>
            <a:r>
              <a:rPr lang="en-US" sz="1200" dirty="0" err="1">
                <a:ea typeface="+mn-lt"/>
                <a:cs typeface="+mn-lt"/>
              </a:rPr>
              <a:t>potencia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s-ES" dirty="0"/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8DE5FDA-4E91-E843-E84A-1467BFAA9986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DB642EE-D104-8365-EFF8-B86FF45C6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006" y="1479176"/>
            <a:ext cx="3833047" cy="310563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02BF7E3-24D6-4F7E-E8B5-ABDEF8C0B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229" y="2886315"/>
            <a:ext cx="34480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79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11DBE-A482-7036-60B2-70B7E2318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096193E-AB86-E3CD-BDAC-0F9156C1A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#6.2 – 2x2 Multimode Interference Coupler - Optimization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D17DCD6-D851-E62D-D95C-A9F995460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891046F-11DC-B7FC-54F7-9583E688DC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9BAA39-017F-D602-6705-A6CF4483013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3D7D9E5-DAC3-2BB8-7377-826863CBAD4E}"/>
              </a:ext>
            </a:extLst>
          </p:cNvPr>
          <p:cNvSpPr txBox="1"/>
          <p:nvPr/>
        </p:nvSpPr>
        <p:spPr>
          <a:xfrm>
            <a:off x="609441" y="4819471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 dirty="0">
                <a:ea typeface="+mn-lt"/>
                <a:cs typeface="+mn-lt"/>
              </a:rPr>
              <a:t>Con </a:t>
            </a:r>
            <a:r>
              <a:rPr lang="en-US" sz="1200" dirty="0" err="1">
                <a:ea typeface="+mn-lt"/>
                <a:cs typeface="+mn-lt"/>
              </a:rPr>
              <a:t>una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optimización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más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fina</a:t>
            </a:r>
            <a:r>
              <a:rPr lang="en-US" sz="1200" dirty="0">
                <a:ea typeface="+mn-lt"/>
                <a:cs typeface="+mn-lt"/>
              </a:rPr>
              <a:t> (</a:t>
            </a:r>
            <a:r>
              <a:rPr lang="en-US" sz="1200" dirty="0" err="1">
                <a:ea typeface="+mn-lt"/>
                <a:cs typeface="+mn-lt"/>
              </a:rPr>
              <a:t>dLMMI</a:t>
            </a:r>
            <a:r>
              <a:rPr lang="en-US" sz="1200" dirty="0">
                <a:ea typeface="+mn-lt"/>
                <a:cs typeface="+mn-lt"/>
              </a:rPr>
              <a:t>=−0.5 </a:t>
            </a:r>
            <a:r>
              <a:rPr lang="en-US" sz="1200" dirty="0" err="1">
                <a:ea typeface="+mn-lt"/>
                <a:cs typeface="+mn-lt"/>
              </a:rPr>
              <a:t>μm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dy</a:t>
            </a:r>
            <a:r>
              <a:rPr lang="en-US" sz="1200" dirty="0">
                <a:ea typeface="+mn-lt"/>
                <a:cs typeface="+mn-lt"/>
              </a:rPr>
              <a:t>=0.03), se </a:t>
            </a:r>
            <a:r>
              <a:rPr lang="en-US" sz="1200" dirty="0" err="1">
                <a:ea typeface="+mn-lt"/>
                <a:cs typeface="+mn-lt"/>
              </a:rPr>
              <a:t>logra</a:t>
            </a:r>
            <a:r>
              <a:rPr lang="en-US" sz="1200" dirty="0">
                <a:ea typeface="+mn-lt"/>
                <a:cs typeface="+mn-lt"/>
              </a:rPr>
              <a:t> un </a:t>
            </a:r>
            <a:r>
              <a:rPr lang="en-US" sz="1200" dirty="0" err="1">
                <a:ea typeface="+mn-lt"/>
                <a:cs typeface="+mn-lt"/>
              </a:rPr>
              <a:t>mejor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compromiso</a:t>
            </a:r>
            <a:r>
              <a:rPr lang="en-US" sz="1200" dirty="0">
                <a:ea typeface="+mn-lt"/>
                <a:cs typeface="+mn-lt"/>
              </a:rPr>
              <a:t> entre balance y </a:t>
            </a:r>
            <a:r>
              <a:rPr lang="en-US" sz="1200" dirty="0" err="1">
                <a:ea typeface="+mn-lt"/>
                <a:cs typeface="+mn-lt"/>
              </a:rPr>
              <a:t>pérdidas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obteniendo</a:t>
            </a:r>
            <a:r>
              <a:rPr lang="en-US" sz="1200" dirty="0">
                <a:ea typeface="+mn-lt"/>
                <a:cs typeface="+mn-lt"/>
              </a:rPr>
              <a:t> ratios ≈0.507/0.493 (</a:t>
            </a:r>
            <a:r>
              <a:rPr lang="en-US" sz="1200" dirty="0" err="1">
                <a:ea typeface="+mn-lt"/>
                <a:cs typeface="+mn-lt"/>
              </a:rPr>
              <a:t>muy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cercano</a:t>
            </a:r>
            <a:r>
              <a:rPr lang="en-US" sz="1200" dirty="0">
                <a:ea typeface="+mn-lt"/>
                <a:cs typeface="+mn-lt"/>
              </a:rPr>
              <a:t> a 50/50) y </a:t>
            </a:r>
            <a:r>
              <a:rPr lang="en-US" sz="1200" dirty="0" err="1">
                <a:ea typeface="+mn-lt"/>
                <a:cs typeface="+mn-lt"/>
              </a:rPr>
              <a:t>potencias</a:t>
            </a:r>
            <a:r>
              <a:rPr lang="en-US" sz="1200" dirty="0">
                <a:ea typeface="+mn-lt"/>
                <a:cs typeface="+mn-lt"/>
              </a:rPr>
              <a:t> ≈0.46/0.45. Las </a:t>
            </a:r>
            <a:r>
              <a:rPr lang="en-US" sz="1200" dirty="0" err="1">
                <a:ea typeface="+mn-lt"/>
                <a:cs typeface="+mn-lt"/>
              </a:rPr>
              <a:t>pérdidas</a:t>
            </a:r>
            <a:r>
              <a:rPr lang="en-US" sz="1200" dirty="0">
                <a:ea typeface="+mn-lt"/>
                <a:cs typeface="+mn-lt"/>
              </a:rPr>
              <a:t> se </a:t>
            </a:r>
            <a:r>
              <a:rPr lang="en-US" sz="1200" dirty="0" err="1">
                <a:ea typeface="+mn-lt"/>
                <a:cs typeface="+mn-lt"/>
              </a:rPr>
              <a:t>reducen</a:t>
            </a:r>
            <a:r>
              <a:rPr lang="en-US" sz="1200" dirty="0">
                <a:ea typeface="+mn-lt"/>
                <a:cs typeface="+mn-lt"/>
              </a:rPr>
              <a:t> a ~0.39 dB, </a:t>
            </a:r>
            <a:r>
              <a:rPr lang="en-US" sz="1200" dirty="0" err="1">
                <a:ea typeface="+mn-lt"/>
                <a:cs typeface="+mn-lt"/>
              </a:rPr>
              <a:t>mejorando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respecto</a:t>
            </a:r>
            <a:r>
              <a:rPr lang="en-US" sz="1200" dirty="0">
                <a:ea typeface="+mn-lt"/>
                <a:cs typeface="+mn-lt"/>
              </a:rPr>
              <a:t> al </a:t>
            </a:r>
            <a:r>
              <a:rPr lang="en-US" sz="1200" dirty="0" err="1">
                <a:ea typeface="+mn-lt"/>
                <a:cs typeface="+mn-lt"/>
              </a:rPr>
              <a:t>ajuste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previo</a:t>
            </a:r>
            <a:r>
              <a:rPr lang="en-US" sz="1200" dirty="0">
                <a:ea typeface="+mn-lt"/>
                <a:cs typeface="+mn-lt"/>
              </a:rPr>
              <a:t>, lo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indica </a:t>
            </a:r>
            <a:r>
              <a:rPr lang="en-US" sz="1200" dirty="0" err="1">
                <a:ea typeface="+mn-lt"/>
                <a:cs typeface="+mn-lt"/>
              </a:rPr>
              <a:t>una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interferencia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multimodo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más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eficiente</a:t>
            </a:r>
            <a:r>
              <a:rPr lang="en-US" sz="1200" dirty="0">
                <a:ea typeface="+mn-lt"/>
                <a:cs typeface="+mn-lt"/>
              </a:rPr>
              <a:t>. La </a:t>
            </a:r>
            <a:r>
              <a:rPr lang="en-US" sz="1200" dirty="0" err="1">
                <a:ea typeface="+mn-lt"/>
                <a:cs typeface="+mn-lt"/>
              </a:rPr>
              <a:t>ligera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corrección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longitud</a:t>
            </a:r>
            <a:r>
              <a:rPr lang="en-US" sz="1200" dirty="0">
                <a:ea typeface="+mn-lt"/>
                <a:cs typeface="+mn-lt"/>
              </a:rPr>
              <a:t> y </a:t>
            </a:r>
            <a:r>
              <a:rPr lang="en-US" sz="1200" dirty="0" err="1">
                <a:ea typeface="+mn-lt"/>
                <a:cs typeface="+mn-lt"/>
              </a:rPr>
              <a:t>posición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permite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alinear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mejor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autoimagen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las </a:t>
            </a:r>
            <a:r>
              <a:rPr lang="en-US" sz="1200" dirty="0" err="1">
                <a:ea typeface="+mn-lt"/>
                <a:cs typeface="+mn-lt"/>
              </a:rPr>
              <a:t>salidas</a:t>
            </a:r>
            <a:r>
              <a:rPr lang="en-US" sz="1200" dirty="0">
                <a:ea typeface="+mn-lt"/>
                <a:cs typeface="+mn-lt"/>
              </a:rPr>
              <a:t>. En conjunto, se </a:t>
            </a:r>
            <a:r>
              <a:rPr lang="en-US" sz="1200" dirty="0" err="1">
                <a:ea typeface="+mn-lt"/>
                <a:cs typeface="+mn-lt"/>
              </a:rPr>
              <a:t>confirma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pequeñas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variaciones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geométricas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tienen</a:t>
            </a:r>
            <a:r>
              <a:rPr lang="en-US" sz="1200" dirty="0">
                <a:ea typeface="+mn-lt"/>
                <a:cs typeface="+mn-lt"/>
              </a:rPr>
              <a:t> un </a:t>
            </a:r>
            <a:r>
              <a:rPr lang="en-US" sz="1200" dirty="0" err="1">
                <a:ea typeface="+mn-lt"/>
                <a:cs typeface="+mn-lt"/>
              </a:rPr>
              <a:t>impacto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crítico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rendimiento</a:t>
            </a:r>
            <a:r>
              <a:rPr lang="en-US" sz="1200" dirty="0">
                <a:ea typeface="+mn-lt"/>
                <a:cs typeface="+mn-lt"/>
              </a:rPr>
              <a:t> del MMI.</a:t>
            </a:r>
            <a:endParaRPr lang="es-ES" dirty="0"/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772491E-4FFB-FFC3-C855-72A4B15F3E73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B02CB76-36A3-A186-8175-41F427EEE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662" y="1415141"/>
            <a:ext cx="3817569" cy="323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15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A9819-E058-DC4F-FB99-88F20442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1662E38-DE72-ADF3-A38E-08ED40DCC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#6.3 – 2x2 Multimode Interference Coupler – Optimization (II)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CD4B005-DA76-DF7C-8A51-CA16DFD2CA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B06F952-20FD-3223-6AB8-83339507AF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06152F-2A2C-A19B-581F-494FDFF3375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F5B7948-A25A-9043-7061-DD15A9023924}"/>
              </a:ext>
            </a:extLst>
          </p:cNvPr>
          <p:cNvSpPr txBox="1"/>
          <p:nvPr/>
        </p:nvSpPr>
        <p:spPr>
          <a:xfrm>
            <a:off x="609441" y="4819471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 dirty="0">
                <a:ea typeface="+mn-lt"/>
                <a:cs typeface="+mn-lt"/>
              </a:rPr>
              <a:t>Tras </a:t>
            </a:r>
            <a:r>
              <a:rPr lang="en-US" sz="1200" dirty="0" err="1">
                <a:ea typeface="+mn-lt"/>
                <a:cs typeface="+mn-lt"/>
              </a:rPr>
              <a:t>modificar</a:t>
            </a:r>
            <a:r>
              <a:rPr lang="en-US" sz="1200" dirty="0">
                <a:ea typeface="+mn-lt"/>
                <a:cs typeface="+mn-lt"/>
              </a:rPr>
              <a:t> también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ancho de las </a:t>
            </a:r>
            <a:r>
              <a:rPr lang="en-US" sz="1200" dirty="0" err="1">
                <a:ea typeface="+mn-lt"/>
                <a:cs typeface="+mn-lt"/>
              </a:rPr>
              <a:t>guías</a:t>
            </a:r>
            <a:r>
              <a:rPr lang="en-US" sz="1200" dirty="0">
                <a:ea typeface="+mn-lt"/>
                <a:cs typeface="+mn-lt"/>
              </a:rPr>
              <a:t> de entrada/</a:t>
            </a:r>
            <a:r>
              <a:rPr lang="en-US" sz="1200" dirty="0" err="1">
                <a:ea typeface="+mn-lt"/>
                <a:cs typeface="+mn-lt"/>
              </a:rPr>
              <a:t>salida</a:t>
            </a:r>
            <a:r>
              <a:rPr lang="en-US" sz="1200" dirty="0">
                <a:ea typeface="+mn-lt"/>
                <a:cs typeface="+mn-lt"/>
              </a:rPr>
              <a:t> (</a:t>
            </a:r>
            <a:r>
              <a:rPr lang="en-US" sz="1200" dirty="0" err="1">
                <a:ea typeface="+mn-lt"/>
                <a:cs typeface="+mn-lt"/>
              </a:rPr>
              <a:t>Δw</a:t>
            </a:r>
            <a:r>
              <a:rPr lang="en-US" sz="1200" dirty="0">
                <a:ea typeface="+mn-lt"/>
                <a:cs typeface="+mn-lt"/>
              </a:rPr>
              <a:t> = +0.6 µm) junto con </a:t>
            </a:r>
            <a:r>
              <a:rPr lang="en-US" sz="1200" dirty="0" err="1">
                <a:ea typeface="+mn-lt"/>
                <a:cs typeface="+mn-lt"/>
              </a:rPr>
              <a:t>ajustes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finos</a:t>
            </a:r>
            <a:r>
              <a:rPr lang="en-US" sz="1200" dirty="0">
                <a:ea typeface="+mn-lt"/>
                <a:cs typeface="+mn-lt"/>
              </a:rPr>
              <a:t> (</a:t>
            </a:r>
            <a:r>
              <a:rPr lang="en-US" sz="1200" dirty="0" err="1">
                <a:ea typeface="+mn-lt"/>
                <a:cs typeface="+mn-lt"/>
              </a:rPr>
              <a:t>dLMMI</a:t>
            </a:r>
            <a:r>
              <a:rPr lang="en-US" sz="1200" dirty="0">
                <a:ea typeface="+mn-lt"/>
                <a:cs typeface="+mn-lt"/>
              </a:rPr>
              <a:t>=−0.29, </a:t>
            </a:r>
            <a:r>
              <a:rPr lang="en-US" sz="1200" dirty="0" err="1">
                <a:ea typeface="+mn-lt"/>
                <a:cs typeface="+mn-lt"/>
              </a:rPr>
              <a:t>dy</a:t>
            </a:r>
            <a:r>
              <a:rPr lang="en-US" sz="1200" dirty="0">
                <a:ea typeface="+mn-lt"/>
                <a:cs typeface="+mn-lt"/>
              </a:rPr>
              <a:t>=0.045), se </a:t>
            </a:r>
            <a:r>
              <a:rPr lang="en-US" sz="1200" dirty="0" err="1">
                <a:ea typeface="+mn-lt"/>
                <a:cs typeface="+mn-lt"/>
              </a:rPr>
              <a:t>alcanza</a:t>
            </a:r>
            <a:r>
              <a:rPr lang="en-US" sz="1200" dirty="0">
                <a:ea typeface="+mn-lt"/>
                <a:cs typeface="+mn-lt"/>
              </a:rPr>
              <a:t> un </a:t>
            </a:r>
            <a:r>
              <a:rPr lang="en-US" sz="1200" dirty="0" err="1">
                <a:ea typeface="+mn-lt"/>
                <a:cs typeface="+mn-lt"/>
              </a:rPr>
              <a:t>comportamiento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casi</a:t>
            </a:r>
            <a:r>
              <a:rPr lang="en-US" sz="1200" dirty="0">
                <a:ea typeface="+mn-lt"/>
                <a:cs typeface="+mn-lt"/>
              </a:rPr>
              <a:t> ideal con ratios ≈0.509/0.491 y </a:t>
            </a:r>
            <a:r>
              <a:rPr lang="en-US" sz="1200" dirty="0" err="1">
                <a:ea typeface="+mn-lt"/>
                <a:cs typeface="+mn-lt"/>
              </a:rPr>
              <a:t>potencias</a:t>
            </a:r>
            <a:r>
              <a:rPr lang="en-US" sz="1200" dirty="0">
                <a:ea typeface="+mn-lt"/>
                <a:cs typeface="+mn-lt"/>
              </a:rPr>
              <a:t> ≈0.50/0.48. Las </a:t>
            </a:r>
            <a:r>
              <a:rPr lang="en-US" sz="1200" dirty="0" err="1">
                <a:ea typeface="+mn-lt"/>
                <a:cs typeface="+mn-lt"/>
              </a:rPr>
              <a:t>pérdidas</a:t>
            </a:r>
            <a:r>
              <a:rPr lang="en-US" sz="1200" dirty="0">
                <a:ea typeface="+mn-lt"/>
                <a:cs typeface="+mn-lt"/>
              </a:rPr>
              <a:t> se </a:t>
            </a:r>
            <a:r>
              <a:rPr lang="en-US" sz="1200" dirty="0" err="1">
                <a:ea typeface="+mn-lt"/>
                <a:cs typeface="+mn-lt"/>
              </a:rPr>
              <a:t>reducen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significativamente</a:t>
            </a:r>
            <a:r>
              <a:rPr lang="en-US" sz="1200" dirty="0">
                <a:ea typeface="+mn-lt"/>
                <a:cs typeface="+mn-lt"/>
              </a:rPr>
              <a:t> hasta ~0.095 dB, </a:t>
            </a:r>
            <a:r>
              <a:rPr lang="en-US" sz="1200" dirty="0" err="1">
                <a:ea typeface="+mn-lt"/>
                <a:cs typeface="+mn-lt"/>
              </a:rPr>
              <a:t>cumpliendo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objetivo</a:t>
            </a:r>
            <a:r>
              <a:rPr lang="en-US" sz="1200" dirty="0">
                <a:ea typeface="+mn-lt"/>
                <a:cs typeface="+mn-lt"/>
              </a:rPr>
              <a:t> (&lt;0.1 dB) y </a:t>
            </a:r>
            <a:r>
              <a:rPr lang="en-US" sz="1200" dirty="0" err="1">
                <a:ea typeface="+mn-lt"/>
                <a:cs typeface="+mn-lt"/>
              </a:rPr>
              <a:t>mostrando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una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mejora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clara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eficiencia</a:t>
            </a:r>
            <a:r>
              <a:rPr lang="en-US" sz="1200" dirty="0">
                <a:ea typeface="+mn-lt"/>
                <a:cs typeface="+mn-lt"/>
              </a:rPr>
              <a:t>. El </a:t>
            </a:r>
            <a:r>
              <a:rPr lang="en-US" sz="1200" dirty="0" err="1">
                <a:ea typeface="+mn-lt"/>
                <a:cs typeface="+mn-lt"/>
              </a:rPr>
              <a:t>mejor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acoplo</a:t>
            </a:r>
            <a:r>
              <a:rPr lang="en-US" sz="1200" dirty="0">
                <a:ea typeface="+mn-lt"/>
                <a:cs typeface="+mn-lt"/>
              </a:rPr>
              <a:t> modal reduce </a:t>
            </a:r>
            <a:r>
              <a:rPr lang="en-US" sz="1200" dirty="0" err="1">
                <a:ea typeface="+mn-lt"/>
                <a:cs typeface="+mn-lt"/>
              </a:rPr>
              <a:t>reflexiones</a:t>
            </a:r>
            <a:r>
              <a:rPr lang="en-US" sz="1200" dirty="0">
                <a:ea typeface="+mn-lt"/>
                <a:cs typeface="+mn-lt"/>
              </a:rPr>
              <a:t> y </a:t>
            </a:r>
            <a:r>
              <a:rPr lang="en-US" sz="1200" dirty="0" err="1">
                <a:ea typeface="+mn-lt"/>
                <a:cs typeface="+mn-lt"/>
              </a:rPr>
              <a:t>desajustes</a:t>
            </a:r>
            <a:r>
              <a:rPr lang="en-US" sz="1200" dirty="0">
                <a:ea typeface="+mn-lt"/>
                <a:cs typeface="+mn-lt"/>
              </a:rPr>
              <a:t> entre la </a:t>
            </a:r>
            <a:r>
              <a:rPr lang="en-US" sz="1200" dirty="0" err="1">
                <a:ea typeface="+mn-lt"/>
                <a:cs typeface="+mn-lt"/>
              </a:rPr>
              <a:t>región</a:t>
            </a:r>
            <a:r>
              <a:rPr lang="en-US" sz="1200" dirty="0">
                <a:ea typeface="+mn-lt"/>
                <a:cs typeface="+mn-lt"/>
              </a:rPr>
              <a:t> MMI y las </a:t>
            </a:r>
            <a:r>
              <a:rPr lang="en-US" sz="1200" dirty="0" err="1">
                <a:ea typeface="+mn-lt"/>
                <a:cs typeface="+mn-lt"/>
              </a:rPr>
              <a:t>guías</a:t>
            </a:r>
            <a:r>
              <a:rPr lang="en-US" sz="1200" dirty="0">
                <a:ea typeface="+mn-lt"/>
                <a:cs typeface="+mn-lt"/>
              </a:rPr>
              <a:t> I/O. En conjunto, </a:t>
            </a:r>
            <a:r>
              <a:rPr lang="en-US" sz="1200" dirty="0" err="1">
                <a:ea typeface="+mn-lt"/>
                <a:cs typeface="+mn-lt"/>
              </a:rPr>
              <a:t>optimizar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simultáneamente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geometría</a:t>
            </a:r>
            <a:r>
              <a:rPr lang="en-US" sz="1200" dirty="0">
                <a:ea typeface="+mn-lt"/>
                <a:cs typeface="+mn-lt"/>
              </a:rPr>
              <a:t> y ancho de </a:t>
            </a:r>
            <a:r>
              <a:rPr lang="en-US" sz="1200" dirty="0" err="1">
                <a:ea typeface="+mn-lt"/>
                <a:cs typeface="+mn-lt"/>
              </a:rPr>
              <a:t>guías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resulta</a:t>
            </a:r>
            <a:r>
              <a:rPr lang="en-US" sz="1200" dirty="0">
                <a:ea typeface="+mn-lt"/>
                <a:cs typeface="+mn-lt"/>
              </a:rPr>
              <a:t> clave para </a:t>
            </a:r>
            <a:r>
              <a:rPr lang="en-US" sz="1200" dirty="0" err="1">
                <a:ea typeface="+mn-lt"/>
                <a:cs typeface="+mn-lt"/>
              </a:rPr>
              <a:t>lograr</a:t>
            </a:r>
            <a:r>
              <a:rPr lang="en-US" sz="1200" dirty="0">
                <a:ea typeface="+mn-lt"/>
                <a:cs typeface="+mn-lt"/>
              </a:rPr>
              <a:t> alto </a:t>
            </a:r>
            <a:r>
              <a:rPr lang="en-US" sz="1200" dirty="0" err="1">
                <a:ea typeface="+mn-lt"/>
                <a:cs typeface="+mn-lt"/>
              </a:rPr>
              <a:t>rendimiento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s-ES" dirty="0"/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036B97-F577-1F3C-3CE2-BD45F7D1FFC2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107D893-B5DF-3FD5-47BF-4D7FE6782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356" y="1383124"/>
            <a:ext cx="3984381" cy="32977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9E476F5-B05B-96F8-9316-233B8480C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524" y="3029991"/>
            <a:ext cx="345757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31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A1363-C83E-82B6-7BDE-AD2801F8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E256546-3103-104D-A87F-78AEBE5D59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#7 – 1x4 Multimode Interference Coupler 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?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BFCA3D8-29F6-7091-7099-77888A9F8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2E75535-0FBC-4C5F-9AC5-7008914FCF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7AC2AFF-A7D9-EBCD-7C5A-6CDF61B6936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D73A2E-0E5A-8A39-6B70-F9E94D6DBB70}"/>
              </a:ext>
            </a:extLst>
          </p:cNvPr>
          <p:cNvSpPr txBox="1"/>
          <p:nvPr/>
        </p:nvSpPr>
        <p:spPr>
          <a:xfrm>
            <a:off x="609441" y="4819471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 dirty="0">
                <a:ea typeface="+mn-lt"/>
                <a:cs typeface="+mn-lt"/>
              </a:rPr>
              <a:t>Se ha </a:t>
            </a:r>
            <a:r>
              <a:rPr lang="en-US" sz="1200" dirty="0" err="1">
                <a:ea typeface="+mn-lt"/>
                <a:cs typeface="+mn-lt"/>
              </a:rPr>
              <a:t>diseñado</a:t>
            </a:r>
            <a:r>
              <a:rPr lang="en-US" sz="1200" dirty="0">
                <a:ea typeface="+mn-lt"/>
                <a:cs typeface="+mn-lt"/>
              </a:rPr>
              <a:t> un MMI 1×4 </a:t>
            </a:r>
            <a:r>
              <a:rPr lang="en-US" sz="1200" dirty="0" err="1">
                <a:ea typeface="+mn-lt"/>
                <a:cs typeface="+mn-lt"/>
              </a:rPr>
              <a:t>aumentando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ancho del </a:t>
            </a:r>
            <a:r>
              <a:rPr lang="en-US" sz="1200" dirty="0" err="1">
                <a:ea typeface="+mn-lt"/>
                <a:cs typeface="+mn-lt"/>
              </a:rPr>
              <a:t>cuerpo</a:t>
            </a:r>
            <a:r>
              <a:rPr lang="en-US" sz="1200" dirty="0">
                <a:ea typeface="+mn-lt"/>
                <a:cs typeface="+mn-lt"/>
              </a:rPr>
              <a:t> a 10 µm para </a:t>
            </a:r>
            <a:r>
              <a:rPr lang="en-US" sz="1200" dirty="0" err="1">
                <a:ea typeface="+mn-lt"/>
                <a:cs typeface="+mn-lt"/>
              </a:rPr>
              <a:t>acomodar</a:t>
            </a:r>
            <a:r>
              <a:rPr lang="en-US" sz="1200" dirty="0">
                <a:ea typeface="+mn-lt"/>
                <a:cs typeface="+mn-lt"/>
              </a:rPr>
              <a:t> las cuatro </a:t>
            </a:r>
            <a:r>
              <a:rPr lang="en-US" sz="1200" dirty="0" err="1">
                <a:ea typeface="+mn-lt"/>
                <a:cs typeface="+mn-lt"/>
              </a:rPr>
              <a:t>salidas</a:t>
            </a:r>
            <a:r>
              <a:rPr lang="en-US" sz="1200" dirty="0">
                <a:ea typeface="+mn-lt"/>
                <a:cs typeface="+mn-lt"/>
              </a:rPr>
              <a:t>. El </a:t>
            </a:r>
            <a:r>
              <a:rPr lang="en-US" sz="1200" dirty="0" err="1">
                <a:ea typeface="+mn-lt"/>
                <a:cs typeface="+mn-lt"/>
              </a:rPr>
              <a:t>comportamiento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observado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muestra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una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división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potencia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cercana</a:t>
            </a:r>
            <a:r>
              <a:rPr lang="en-US" sz="1200" dirty="0">
                <a:ea typeface="+mn-lt"/>
                <a:cs typeface="+mn-lt"/>
              </a:rPr>
              <a:t> al </a:t>
            </a:r>
            <a:r>
              <a:rPr lang="en-US" sz="1200" dirty="0" err="1">
                <a:ea typeface="+mn-lt"/>
                <a:cs typeface="+mn-lt"/>
              </a:rPr>
              <a:t>objetivo</a:t>
            </a:r>
            <a:r>
              <a:rPr lang="en-US" sz="1200" dirty="0">
                <a:ea typeface="+mn-lt"/>
                <a:cs typeface="+mn-lt"/>
              </a:rPr>
              <a:t> (≈25% </a:t>
            </a:r>
            <a:r>
              <a:rPr lang="en-US" sz="1200" dirty="0" err="1">
                <a:ea typeface="+mn-lt"/>
                <a:cs typeface="+mn-lt"/>
              </a:rPr>
              <a:t>por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salida</a:t>
            </a:r>
            <a:r>
              <a:rPr lang="en-US" sz="1200" dirty="0">
                <a:ea typeface="+mn-lt"/>
                <a:cs typeface="+mn-lt"/>
              </a:rPr>
              <a:t>), con </a:t>
            </a:r>
            <a:r>
              <a:rPr lang="en-US" sz="1200" dirty="0" err="1">
                <a:ea typeface="+mn-lt"/>
                <a:cs typeface="+mn-lt"/>
              </a:rPr>
              <a:t>valores</a:t>
            </a:r>
            <a:r>
              <a:rPr lang="en-US" sz="1200" dirty="0">
                <a:ea typeface="+mn-lt"/>
                <a:cs typeface="+mn-lt"/>
              </a:rPr>
              <a:t> entre 0.227–0.250, lo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indica un </a:t>
            </a:r>
            <a:r>
              <a:rPr lang="en-US" sz="1200" dirty="0" err="1">
                <a:ea typeface="+mn-lt"/>
                <a:cs typeface="+mn-lt"/>
              </a:rPr>
              <a:t>buen</a:t>
            </a:r>
            <a:r>
              <a:rPr lang="en-US" sz="1200" dirty="0">
                <a:ea typeface="+mn-lt"/>
                <a:cs typeface="+mn-lt"/>
              </a:rPr>
              <a:t> balance </a:t>
            </a:r>
            <a:r>
              <a:rPr lang="en-US" sz="1200" dirty="0" err="1">
                <a:ea typeface="+mn-lt"/>
                <a:cs typeface="+mn-lt"/>
              </a:rPr>
              <a:t>aunque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aún</a:t>
            </a:r>
            <a:r>
              <a:rPr lang="en-US" sz="1200" dirty="0">
                <a:ea typeface="+mn-lt"/>
                <a:cs typeface="+mn-lt"/>
              </a:rPr>
              <a:t> no perfecto. El </a:t>
            </a:r>
            <a:r>
              <a:rPr lang="en-US" sz="1200" dirty="0" err="1">
                <a:ea typeface="+mn-lt"/>
                <a:cs typeface="+mn-lt"/>
              </a:rPr>
              <a:t>patrón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propagación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confirma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autoimagen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múltiple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característica</a:t>
            </a:r>
            <a:r>
              <a:rPr lang="en-US" sz="1200" dirty="0">
                <a:ea typeface="+mn-lt"/>
                <a:cs typeface="+mn-lt"/>
              </a:rPr>
              <a:t>, con </a:t>
            </a:r>
            <a:r>
              <a:rPr lang="en-US" sz="1200" dirty="0" err="1">
                <a:ea typeface="+mn-lt"/>
                <a:cs typeface="+mn-lt"/>
              </a:rPr>
              <a:t>formación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progresiva</a:t>
            </a:r>
            <a:r>
              <a:rPr lang="en-US" sz="1200" dirty="0">
                <a:ea typeface="+mn-lt"/>
                <a:cs typeface="+mn-lt"/>
              </a:rPr>
              <a:t> de cuatro </a:t>
            </a:r>
            <a:r>
              <a:rPr lang="en-US" sz="1200" dirty="0" err="1">
                <a:ea typeface="+mn-lt"/>
                <a:cs typeface="+mn-lt"/>
              </a:rPr>
              <a:t>lóbulos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hacia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salida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s-ES" dirty="0"/>
          </a:p>
          <a:p>
            <a:pPr algn="just"/>
            <a:endParaRPr lang="en-US" sz="1200" dirty="0">
              <a:ea typeface="+mn-lt"/>
              <a:cs typeface="+mn-lt"/>
            </a:endParaRPr>
          </a:p>
          <a:p>
            <a:pPr algn="just"/>
            <a:r>
              <a:rPr lang="en-US" sz="1200" dirty="0">
                <a:ea typeface="+mn-lt"/>
                <a:cs typeface="+mn-lt"/>
              </a:rPr>
              <a:t>Las </a:t>
            </a:r>
            <a:r>
              <a:rPr lang="en-US" sz="1200" dirty="0" err="1">
                <a:ea typeface="+mn-lt"/>
                <a:cs typeface="+mn-lt"/>
              </a:rPr>
              <a:t>pérdidas</a:t>
            </a:r>
            <a:r>
              <a:rPr lang="en-US" sz="1200" dirty="0">
                <a:ea typeface="+mn-lt"/>
                <a:cs typeface="+mn-lt"/>
              </a:rPr>
              <a:t> son </a:t>
            </a:r>
            <a:r>
              <a:rPr lang="en-US" sz="1200" dirty="0" err="1">
                <a:ea typeface="+mn-lt"/>
                <a:cs typeface="+mn-lt"/>
              </a:rPr>
              <a:t>moderadas</a:t>
            </a:r>
            <a:r>
              <a:rPr lang="en-US" sz="1200" dirty="0">
                <a:ea typeface="+mn-lt"/>
                <a:cs typeface="+mn-lt"/>
              </a:rPr>
              <a:t> (~0.20 dB), </a:t>
            </a:r>
            <a:r>
              <a:rPr lang="en-US" sz="1200" dirty="0" err="1">
                <a:ea typeface="+mn-lt"/>
                <a:cs typeface="+mn-lt"/>
              </a:rPr>
              <a:t>mayores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caso</a:t>
            </a:r>
            <a:r>
              <a:rPr lang="en-US" sz="1200" dirty="0">
                <a:ea typeface="+mn-lt"/>
                <a:cs typeface="+mn-lt"/>
              </a:rPr>
              <a:t> 2×2 </a:t>
            </a:r>
            <a:r>
              <a:rPr lang="en-US" sz="1200" dirty="0" err="1">
                <a:ea typeface="+mn-lt"/>
                <a:cs typeface="+mn-lt"/>
              </a:rPr>
              <a:t>debido</a:t>
            </a:r>
            <a:r>
              <a:rPr lang="en-US" sz="1200" dirty="0">
                <a:ea typeface="+mn-lt"/>
                <a:cs typeface="+mn-lt"/>
              </a:rPr>
              <a:t> al mayor </a:t>
            </a:r>
            <a:r>
              <a:rPr lang="en-US" sz="1200" dirty="0" err="1">
                <a:ea typeface="+mn-lt"/>
                <a:cs typeface="+mn-lt"/>
              </a:rPr>
              <a:t>número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modos</a:t>
            </a:r>
            <a:r>
              <a:rPr lang="en-US" sz="1200" dirty="0">
                <a:ea typeface="+mn-lt"/>
                <a:cs typeface="+mn-lt"/>
              </a:rPr>
              <a:t> y a la </a:t>
            </a:r>
            <a:r>
              <a:rPr lang="en-US" sz="1200" dirty="0" err="1">
                <a:ea typeface="+mn-lt"/>
                <a:cs typeface="+mn-lt"/>
              </a:rPr>
              <a:t>complejidad</a:t>
            </a:r>
            <a:r>
              <a:rPr lang="en-US" sz="1200" dirty="0">
                <a:ea typeface="+mn-lt"/>
                <a:cs typeface="+mn-lt"/>
              </a:rPr>
              <a:t> de la </a:t>
            </a:r>
            <a:r>
              <a:rPr lang="en-US" sz="1200" dirty="0" err="1">
                <a:ea typeface="+mn-lt"/>
                <a:cs typeface="+mn-lt"/>
              </a:rPr>
              <a:t>interferencia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multimodo</a:t>
            </a:r>
            <a:r>
              <a:rPr lang="en-US" sz="1200" dirty="0">
                <a:ea typeface="+mn-lt"/>
                <a:cs typeface="+mn-lt"/>
              </a:rPr>
              <a:t>. La </a:t>
            </a:r>
            <a:r>
              <a:rPr lang="en-US" sz="1200" dirty="0" err="1">
                <a:ea typeface="+mn-lt"/>
                <a:cs typeface="+mn-lt"/>
              </a:rPr>
              <a:t>ligera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asimetría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las </a:t>
            </a:r>
            <a:r>
              <a:rPr lang="en-US" sz="1200" dirty="0" err="1">
                <a:ea typeface="+mn-lt"/>
                <a:cs typeface="+mn-lt"/>
              </a:rPr>
              <a:t>salidas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externas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frente</a:t>
            </a:r>
            <a:r>
              <a:rPr lang="en-US" sz="1200" dirty="0">
                <a:ea typeface="+mn-lt"/>
                <a:cs typeface="+mn-lt"/>
              </a:rPr>
              <a:t> a las </a:t>
            </a:r>
            <a:r>
              <a:rPr lang="en-US" sz="1200" dirty="0" err="1">
                <a:ea typeface="+mn-lt"/>
                <a:cs typeface="+mn-lt"/>
              </a:rPr>
              <a:t>internas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sugiere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aún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podría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optimizarse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ajustando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finamente</a:t>
            </a:r>
            <a:r>
              <a:rPr lang="en-US" sz="1200" dirty="0">
                <a:ea typeface="+mn-lt"/>
                <a:cs typeface="+mn-lt"/>
              </a:rPr>
              <a:t> las </a:t>
            </a:r>
            <a:r>
              <a:rPr lang="en-US" sz="1200" dirty="0" err="1">
                <a:ea typeface="+mn-lt"/>
                <a:cs typeface="+mn-lt"/>
              </a:rPr>
              <a:t>posiciones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salida</a:t>
            </a:r>
            <a:r>
              <a:rPr lang="en-US" sz="1200" dirty="0">
                <a:ea typeface="+mn-lt"/>
                <a:cs typeface="+mn-lt"/>
              </a:rPr>
              <a:t> o la </a:t>
            </a:r>
            <a:r>
              <a:rPr lang="en-US" sz="1200" dirty="0" err="1">
                <a:ea typeface="+mn-lt"/>
                <a:cs typeface="+mn-lt"/>
              </a:rPr>
              <a:t>longitud</a:t>
            </a:r>
            <a:r>
              <a:rPr lang="en-US" sz="1200" dirty="0">
                <a:ea typeface="+mn-lt"/>
                <a:cs typeface="+mn-lt"/>
              </a:rPr>
              <a:t> del MMI. En conjunto,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diseño</a:t>
            </a:r>
            <a:r>
              <a:rPr lang="en-US" sz="1200" dirty="0">
                <a:ea typeface="+mn-lt"/>
                <a:cs typeface="+mn-lt"/>
              </a:rPr>
              <a:t> es </a:t>
            </a:r>
            <a:r>
              <a:rPr lang="en-US" sz="1200" dirty="0" err="1">
                <a:ea typeface="+mn-lt"/>
                <a:cs typeface="+mn-lt"/>
              </a:rPr>
              <a:t>funcional</a:t>
            </a:r>
            <a:r>
              <a:rPr lang="en-US" sz="1200" dirty="0">
                <a:ea typeface="+mn-lt"/>
                <a:cs typeface="+mn-lt"/>
              </a:rPr>
              <a:t> y </a:t>
            </a:r>
            <a:r>
              <a:rPr lang="en-US" sz="1200" dirty="0" err="1">
                <a:ea typeface="+mn-lt"/>
                <a:cs typeface="+mn-lt"/>
              </a:rPr>
              <a:t>cumple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razonablemente</a:t>
            </a:r>
            <a:r>
              <a:rPr lang="en-US" sz="1200" dirty="0">
                <a:ea typeface="+mn-lt"/>
                <a:cs typeface="+mn-lt"/>
              </a:rPr>
              <a:t> con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reparto</a:t>
            </a:r>
            <a:r>
              <a:rPr lang="en-US" sz="1200" dirty="0">
                <a:ea typeface="+mn-lt"/>
                <a:cs typeface="+mn-lt"/>
              </a:rPr>
              <a:t> 1×4 </a:t>
            </a:r>
            <a:r>
              <a:rPr lang="en-US" sz="1200" dirty="0" err="1">
                <a:ea typeface="+mn-lt"/>
                <a:cs typeface="+mn-lt"/>
              </a:rPr>
              <a:t>esperado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B86587-21D4-5A33-7D00-DDF170C919BA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9A28F15-0717-3B25-2A78-65087010D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780" y="1376724"/>
            <a:ext cx="3651580" cy="331694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7A312D7-FBEB-3B40-AFFC-C827E91BB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995" y="2847894"/>
            <a:ext cx="32956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64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Extra #1 – Directional coupler gap dependence</a:t>
            </a:r>
            <a:br>
              <a:rPr lang="en-US" sz="2500" dirty="0"/>
            </a:br>
            <a:r>
              <a:rPr lang="en-US" b="0" dirty="0"/>
              <a:t>Wavelength 1.55 µm, width 1.0 µm, </a:t>
            </a:r>
            <a:r>
              <a:rPr lang="en-US" dirty="0"/>
              <a:t>gap 0.2-2.4 µm </a:t>
            </a:r>
            <a:r>
              <a:rPr lang="en-US" b="0" dirty="0"/>
              <a:t>(step 0.2 µm)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Make conclusions and observations from your results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488849-10A1-FB48-F511-E57B062CD7E2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8726DAB-1B5F-39D1-63A0-BB708EA6E17F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309BFB-98FD-0CBA-3C6A-346D8859893B}"/>
              </a:ext>
            </a:extLst>
          </p:cNvPr>
          <p:cNvSpPr txBox="1"/>
          <p:nvPr/>
        </p:nvSpPr>
        <p:spPr>
          <a:xfrm>
            <a:off x="6331152" y="4342178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9BD6C85-02F1-7B54-41E3-E3D9883786D8}"/>
                  </a:ext>
                </a:extLst>
              </p:cNvPr>
              <p:cNvSpPr txBox="1"/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gap for TE and TM plot here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9BD6C85-02F1-7B54-41E3-E3D988378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431A41C-EEB3-44D0-4622-A915E258C8F0}"/>
                  </a:ext>
                </a:extLst>
              </p:cNvPr>
              <p:cNvSpPr txBox="1"/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gap for TE and TM plot here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431A41C-EEB3-44D0-4622-A915E258C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blipFill>
                <a:blip r:embed="rId6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96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0F79-E2ED-1B1B-6289-A1259E80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AC39480-E3E5-69B1-401F-A50C45531E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Extra #2 – Directional wavelength dependence</a:t>
            </a:r>
            <a:br>
              <a:rPr lang="en-US" sz="2500" dirty="0"/>
            </a:br>
            <a:r>
              <a:rPr lang="en-US" b="0" dirty="0"/>
              <a:t>Wavelengths </a:t>
            </a:r>
            <a:r>
              <a:rPr lang="en-US" dirty="0"/>
              <a:t>from 1.5 to 1.7 µm</a:t>
            </a:r>
            <a:r>
              <a:rPr lang="en-US" b="0" dirty="0"/>
              <a:t>, gap = 0.6 µm, width 1.0 µm</a:t>
            </a:r>
            <a:br>
              <a:rPr lang="en-US" b="0" dirty="0"/>
            </a:b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BEE8680-2E49-EF52-0E73-7736679A4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3F99BBB-5F10-0BE4-E2DE-E78EAA82F5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B2FA4B-8D15-84DC-29D1-94F9F850476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1326FD-308E-2C47-D5D2-57B3357241AA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42E1AD9-10D4-8ACB-526F-2DA1DD2B9881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ED9C7E-0684-E2B9-7FD6-9BCF17CC000A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F16E403-DF61-C9A0-D57F-2E61BEFA8887}"/>
              </a:ext>
            </a:extLst>
          </p:cNvPr>
          <p:cNvSpPr txBox="1"/>
          <p:nvPr/>
        </p:nvSpPr>
        <p:spPr>
          <a:xfrm>
            <a:off x="6331152" y="4342178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08C2240-8810-4E0A-7DCF-E62A8271EA2E}"/>
                  </a:ext>
                </a:extLst>
              </p:cNvPr>
              <p:cNvSpPr txBox="1"/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</a:t>
                </a:r>
                <a:r>
                  <a:rPr lang="en-US" dirty="0" err="1"/>
                  <a:t>wvl</a:t>
                </a:r>
                <a:r>
                  <a:rPr lang="en-US" dirty="0"/>
                  <a:t> for TE and TM plot here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08C2240-8810-4E0A-7DCF-E62A8271E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BDDC809-0F06-CBE2-4D1A-3A2FA36C33A8}"/>
                  </a:ext>
                </a:extLst>
              </p:cNvPr>
              <p:cNvSpPr txBox="1"/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</a:t>
                </a:r>
                <a:r>
                  <a:rPr lang="en-US" dirty="0" err="1"/>
                  <a:t>wvl</a:t>
                </a:r>
                <a:r>
                  <a:rPr lang="en-US" dirty="0"/>
                  <a:t> for TE and TM plot here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BDDC809-0F06-CBE2-4D1A-3A2FA36C3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blipFill>
                <a:blip r:embed="rId6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558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Extra #3 – MMI coupler wavelength dependence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Wavelengths from 1.5 to 1.7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(Important. Compare with Directional Coupler)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6EDE51-D41E-C23B-F402-2F7357DE871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A3233C9-FE6F-52D8-4D87-224222BDA8E1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016548-01A2-6E58-B80D-148384B98EB3}"/>
              </a:ext>
            </a:extLst>
          </p:cNvPr>
          <p:cNvSpPr txBox="1"/>
          <p:nvPr/>
        </p:nvSpPr>
        <p:spPr>
          <a:xfrm>
            <a:off x="6331152" y="4342178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75D03BE-0D6A-89E5-3C68-D7BD97B4676E}"/>
                  </a:ext>
                </a:extLst>
              </p:cNvPr>
              <p:cNvSpPr txBox="1"/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</a:t>
                </a:r>
                <a:r>
                  <a:rPr lang="en-US" dirty="0" err="1"/>
                  <a:t>wvl</a:t>
                </a:r>
                <a:r>
                  <a:rPr lang="en-US" dirty="0"/>
                  <a:t> for TE and TM plot here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75D03BE-0D6A-89E5-3C68-D7BD97B46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C01EDEE-71CC-C570-700B-076F03FCF7E1}"/>
                  </a:ext>
                </a:extLst>
              </p:cNvPr>
              <p:cNvSpPr txBox="1"/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</a:t>
                </a:r>
                <a:r>
                  <a:rPr lang="en-US" dirty="0" err="1"/>
                  <a:t>wvl</a:t>
                </a:r>
                <a:r>
                  <a:rPr lang="en-US" dirty="0"/>
                  <a:t> for TE and TM plot here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C01EDEE-71CC-C570-700B-076F03FCF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blipFill>
                <a:blip r:embed="rId6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145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5C897-D580-E5C1-161C-F8E07269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3FFBD12-4EFF-41C1-4765-2AD268B2BD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Extra #4 – MMI coupler body width dependence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5-10 µm (steps 0.5 µm)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14AF521-052E-A1FA-D63D-CB0826C48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C87B233-8A68-967F-55BC-3A828B5F39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1B524E-0E15-1C98-31B0-C98BD07BFBE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D88CB07-C5F5-9BB7-9F41-E171F0F0E2B9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Polarization independent coupler: is there any point for which the MMI coupler can work identically for TE and TM? Answer yes / no and explain why?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58B1BB0-E248-0BA3-D1B3-93649227103E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0E2533-B1CA-72C4-3859-1CBDD588788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54B5534-E510-6404-1E30-B73FDF73AD42}"/>
              </a:ext>
            </a:extLst>
          </p:cNvPr>
          <p:cNvSpPr txBox="1"/>
          <p:nvPr/>
        </p:nvSpPr>
        <p:spPr>
          <a:xfrm>
            <a:off x="6331152" y="4342178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BDFECD2-156D-6697-CFBF-8CD783F9B986}"/>
                  </a:ext>
                </a:extLst>
              </p:cNvPr>
              <p:cNvSpPr txBox="1"/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width for TE and TM plot here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BDFECD2-156D-6697-CFBF-8CD783F9B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BFC64CA-DE35-A528-CF09-36A26DB3DEE4}"/>
                  </a:ext>
                </a:extLst>
              </p:cNvPr>
              <p:cNvSpPr txBox="1"/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width for TE and TM plot here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BFC64CA-DE35-A528-CF09-36A26DB3D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blipFill>
                <a:blip r:embed="rId6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939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22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15676089F187543AA99C0A8B7AABBF0" ma:contentTypeVersion="3" ma:contentTypeDescription="Crear nuevo documento." ma:contentTypeScope="" ma:versionID="6b93a700db2c669d7bf6fe695110710d">
  <xsd:schema xmlns:xsd="http://www.w3.org/2001/XMLSchema" xmlns:xs="http://www.w3.org/2001/XMLSchema" xmlns:p="http://schemas.microsoft.com/office/2006/metadata/properties" xmlns:ns2="9e2adbf5-1345-474f-a313-aad13b917699" targetNamespace="http://schemas.microsoft.com/office/2006/metadata/properties" ma:root="true" ma:fieldsID="55ce8b8f8ed3bbb9007cedc7cfd21244" ns2:_="">
    <xsd:import namespace="9e2adbf5-1345-474f-a313-aad13b9176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2adbf5-1345-474f-a313-aad13b9176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C01FF3-9057-4EE0-AF52-564B32419B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E45E39-5DB8-4A83-9EAE-509B9DCEDD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2adbf5-1345-474f-a313-aad13b9176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653D22-1F8F-4A9E-A01A-CDB67276084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</TotalTime>
  <Words>1210</Words>
  <Application>Microsoft Office PowerPoint</Application>
  <PresentationFormat>Panorámica</PresentationFormat>
  <Paragraphs>229</Paragraphs>
  <Slides>22</Slides>
  <Notes>17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Office Theme</vt:lpstr>
      <vt:lpstr>Presentación de PowerPoint</vt:lpstr>
      <vt:lpstr>Instructions General</vt:lpstr>
      <vt:lpstr>Presentación de PowerPoint</vt:lpstr>
      <vt:lpstr>Learning outcome #1 – Directional coupler cross-section in GDSFactory </vt:lpstr>
      <vt:lpstr>Learning outcome #1 – Directional coupler cross-section in GDSFactory </vt:lpstr>
      <vt:lpstr>Learning outcome #1 – Directional coupler cross-section in GDSFactory </vt:lpstr>
      <vt:lpstr>Learning outcome #1 – Directional coupler cross-section in GDSFactory </vt:lpstr>
      <vt:lpstr>Learning outcome #2 – Directional coupler length and coupling coefficient Wavelength 1.5 µm – width 1.2 µm – gap 0.6 µm – thickness 300 nm</vt:lpstr>
      <vt:lpstr>Learning outcome #3 – 2x2 Directional Coupler Wavelength 1.55 µm – Sweep gaps between 0.2 and 1.2 µm in steps of 0.2 µm</vt:lpstr>
      <vt:lpstr>Learning outcome #4 – Parallel uncoupled waveguides – TE0 mode Wavelength 1.55 µm, width 1.0 µm, gap to be found for uncoupled wvgs</vt:lpstr>
      <vt:lpstr>Presentación de PowerPoint</vt:lpstr>
      <vt:lpstr>Learning outcome #5 – Multimode Interference (MMI) Coupler cross-section</vt:lpstr>
      <vt:lpstr>Learning outcome #5 – Multimode Interference (MMI) Coupler cross-section</vt:lpstr>
      <vt:lpstr>Learning outcome #6 – 6.1 2x2 Multimode Interference Coupler  Wavelength 1.55 µm, wMMI = 6.6 µm</vt:lpstr>
      <vt:lpstr>Learning outcome #6.2 – 2x2 Multimode Interference Coupler - Optimization Wavelength 1.55 µm, wMMI = 6.6 µm</vt:lpstr>
      <vt:lpstr>Learning outcome #6.3 – 2x2 Multimode Interference Coupler – Optimization (II) Wavelength 1.55 µm, wMMI = 6.6 µm</vt:lpstr>
      <vt:lpstr>Learning outcome #7 – 1x4 Multimode Interference Coupler  Wavelength 1.55 µm, wMMI = ? µm</vt:lpstr>
      <vt:lpstr>Extra #1 – Directional coupler gap dependence Wavelength 1.55 µm, width 1.0 µm, gap 0.2-2.4 µm (step 0.2 µm) </vt:lpstr>
      <vt:lpstr>Extra #2 – Directional wavelength dependence Wavelengths from 1.5 to 1.7 µm, gap = 0.6 µm, width 1.0 µm  </vt:lpstr>
      <vt:lpstr>Extra #3 – MMI coupler wavelength dependence Wavelengths from 1.5 to 1.7 µm, wMMI = 6.6 µm</vt:lpstr>
      <vt:lpstr>Extra #4 – MMI coupler body width dependence Wavelength 1.55 µm, wMMI = 5-10 µm (steps 0.5 µm)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Christian Camilo Cano Vasquez</cp:lastModifiedBy>
  <cp:revision>231</cp:revision>
  <dcterms:created xsi:type="dcterms:W3CDTF">2025-01-27T02:46:57Z</dcterms:created>
  <dcterms:modified xsi:type="dcterms:W3CDTF">2026-05-02T16:35:26Z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  <property fmtid="{D5CDD505-2E9C-101B-9397-08002B2CF9AE}" pid="5" name="ContentTypeId">
    <vt:lpwstr>0x010100315676089F187543AA99C0A8B7AABBF0</vt:lpwstr>
  </property>
</Properties>
</file>