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27"/>
  </p:notesMasterIdLst>
  <p:handoutMasterIdLst>
    <p:handoutMasterId r:id="rId28"/>
  </p:handoutMasterIdLst>
  <p:sldIdLst>
    <p:sldId id="256" r:id="rId5"/>
    <p:sldId id="289" r:id="rId6"/>
    <p:sldId id="295" r:id="rId7"/>
    <p:sldId id="304" r:id="rId8"/>
    <p:sldId id="306" r:id="rId9"/>
    <p:sldId id="305" r:id="rId10"/>
    <p:sldId id="307" r:id="rId11"/>
    <p:sldId id="302" r:id="rId12"/>
    <p:sldId id="303" r:id="rId13"/>
    <p:sldId id="291" r:id="rId14"/>
    <p:sldId id="296" r:id="rId15"/>
    <p:sldId id="293" r:id="rId16"/>
    <p:sldId id="308" r:id="rId17"/>
    <p:sldId id="294" r:id="rId18"/>
    <p:sldId id="299" r:id="rId19"/>
    <p:sldId id="300" r:id="rId20"/>
    <p:sldId id="301" r:id="rId21"/>
    <p:sldId id="290" r:id="rId22"/>
    <p:sldId id="297" r:id="rId23"/>
    <p:sldId id="292" r:id="rId24"/>
    <p:sldId id="298" r:id="rId25"/>
    <p:sldId id="288" r:id="rId26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5FEF74-6D01-5EFA-4879-61C6783FDD95}" v="173" dt="2026-05-03T11:17:06.138"/>
    <p1510:client id="{9AB94315-64B2-F218-7FC4-1F67AD5A42E9}" v="870" dt="2026-05-02T16:35:24.689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79" d="100"/>
          <a:sy n="79" d="100"/>
        </p:scale>
        <p:origin x="1210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03/05/2026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03/05/2026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0E1CB-4380-09DA-B1F0-CB4B03A2E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3228C0D-B411-761D-8B9A-5690FEC1D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4E93492-098C-782F-6B0B-5A438637BD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D96D2F8-8162-546B-1A02-4485059A72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950487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CF4F9-CF55-3328-DAA5-009185053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C3CE4DE-A0BA-9226-815B-C98AB183E4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957D472-1A76-A94C-7421-F888163181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0C08B76-2E3F-5CE7-BE07-AAE254730E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47470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36C26-5CE5-AAFB-8541-A84405083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F0DA871-FD3B-34F2-A1E8-8FB91D0951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ED4D4B3-F4D1-AB42-A1CA-3DD20466C2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DE02F53-5E94-6493-7282-7D44E3EB76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595785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331159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DB646-23BF-F15C-2735-CA5519C4F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0BDECDB-4DAD-9A0A-4338-314C61F14C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FB4C354-FD7D-5811-7C94-3414CBFC05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9D033C6-4010-80F7-A4D4-A1D863D7C1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525325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12144-FCBE-6A8A-A0AE-4B9D57DA8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8B7E8D5-CF3D-FB31-A479-FE9B4678B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98ECD-779C-B147-FA65-387301E8BD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4D029A2-BBAC-779C-5358-BB9C7A2A12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645198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6B1C6-3682-4180-87C4-06A6C4E80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AAE3208-A690-FD1F-E94C-D310F334A7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8F7B85C-6C72-3DDD-289B-E766AA64E9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91AFB1E-8F28-1193-6909-CAB4A27B11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51709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0BA22-DBA9-14F1-E21B-ACB4C6B7F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316E6B2-214F-F40F-258D-FF87081027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DB75D3B-42C9-35E9-99BA-0268BA714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A531B01-1E40-9F79-3CC8-FA6E8156BA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149530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18B0B-1527-F1CE-B7C6-3A4EEEE44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D26890C-BFDE-EB57-C86A-5199A0D962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EEF1C62-7FB2-EC14-4109-CC2B3204CE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88CFB6A-4B50-8F81-53B5-44C94D279B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155608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422329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9112F-7FB7-4F49-F4F6-C1D0DC6AD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190F532-536D-B583-3561-FD0C56234D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C233B1A-142E-BC7B-FE19-6D22CE4082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85087E6-8FC6-B2E3-2D74-B3C5168F55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18590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0595306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3BE0A-4FED-FF2A-A29F-A3D3BA938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78D4508-C900-33E0-69A9-12D9A5EC8B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3678FD2-F52A-F464-A6DC-9AE4044DCA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6FF2B29-AFFB-903E-D5AD-4E4E99BA57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832986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2.0. COUPLERS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2.0. COUPLERS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2.0. COUPLERS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sv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3.sv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11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3.sv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.sv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2.0. </a:t>
            </a:r>
            <a:r>
              <a:rPr lang="es-ES" sz="3200" b="1" dirty="0" err="1">
                <a:latin typeface="Lucida Sans"/>
                <a:cs typeface="Lucida Sans"/>
              </a:rPr>
              <a:t>Couplers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s-ES" spc="165" err="1">
                <a:latin typeface="Arial"/>
                <a:cs typeface="Arial"/>
              </a:rPr>
              <a:t>Student</a:t>
            </a:r>
            <a:r>
              <a:rPr lang="es-ES" spc="165">
                <a:latin typeface="Arial"/>
                <a:cs typeface="Arial"/>
              </a:rPr>
              <a:t>: Evaristo Nicolas Travel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https://github.com/cccanvas-upv/cifoin-lab2.git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Terminal + ‘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uv</a:t>
            </a:r>
            <a:r>
              <a:rPr lang="en-US" kern="0">
                <a:solidFill>
                  <a:sysClr val="windowText" lastClr="000000"/>
                </a:solidFill>
                <a:sym typeface="Wingdings" pitchFamily="2" charset="2"/>
              </a:rPr>
              <a:t> sync’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COUPLERS_Student.ipynb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b="1" i="1" dirty="0"/>
          </a:p>
          <a:p>
            <a:pPr algn="just"/>
            <a:r>
              <a:rPr lang="en-US" b="1" i="1" dirty="0"/>
              <a:t>Cross-Sections </a:t>
            </a:r>
            <a:r>
              <a:rPr lang="en-US" i="1" dirty="0"/>
              <a:t>to be studied:</a:t>
            </a:r>
            <a:endParaRPr lang="en-US" b="1" i="1" dirty="0"/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1241591" y="3685362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95778" y="4331380"/>
            <a:ext cx="67949" cy="610424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229760" y="4389164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48179" y="4155787"/>
            <a:ext cx="914400" cy="89266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073955" y="3856694"/>
            <a:ext cx="7334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lang="es-ES"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3523559" y="4331380"/>
            <a:ext cx="9849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4421819" y="5309818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239000" y="3685362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7663179" y="4163346"/>
            <a:ext cx="3165333" cy="48374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10954" y="3926878"/>
            <a:ext cx="7334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lang="es-ES"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7663179" y="4325314"/>
            <a:ext cx="3165333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lang="es-ES" sz="1600" b="1" spc="-10" dirty="0">
                <a:latin typeface="Calibri"/>
                <a:cs typeface="Calibri"/>
              </a:rPr>
              <a:t>MMI </a:t>
            </a:r>
            <a:r>
              <a:rPr lang="es-ES" sz="1600" b="1" spc="-10" dirty="0" err="1">
                <a:latin typeface="Calibri"/>
                <a:cs typeface="Calibri"/>
              </a:rPr>
              <a:t>Body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7284458" y="5303772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7377675" y="5580458"/>
            <a:ext cx="3954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Multimode Interference (MMI) </a:t>
            </a:r>
            <a:r>
              <a:rPr lang="en-US" dirty="0"/>
              <a:t>coupler</a:t>
            </a:r>
            <a:r>
              <a:rPr lang="en-US" b="1" dirty="0"/>
              <a:t> </a:t>
            </a:r>
            <a:endParaRPr lang="en-U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1168826" y="5579058"/>
            <a:ext cx="27431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Directional </a:t>
            </a:r>
            <a:r>
              <a:rPr lang="en-US" dirty="0"/>
              <a:t>coupler (DC)</a:t>
            </a:r>
          </a:p>
        </p:txBody>
      </p:sp>
      <p:sp>
        <p:nvSpPr>
          <p:cNvPr id="7" name="object 73">
            <a:extLst>
              <a:ext uri="{FF2B5EF4-FFF2-40B4-BE49-F238E27FC236}">
                <a16:creationId xmlns:a16="http://schemas.microsoft.com/office/drawing/2014/main" id="{9404A65A-9F07-371B-17B4-56EE1381567B}"/>
              </a:ext>
            </a:extLst>
          </p:cNvPr>
          <p:cNvSpPr txBox="1"/>
          <p:nvPr/>
        </p:nvSpPr>
        <p:spPr>
          <a:xfrm>
            <a:off x="1948179" y="4331380"/>
            <a:ext cx="9849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9" name="object 64">
            <a:extLst>
              <a:ext uri="{FF2B5EF4-FFF2-40B4-BE49-F238E27FC236}">
                <a16:creationId xmlns:a16="http://schemas.microsoft.com/office/drawing/2014/main" id="{B06C28EB-4BF4-A40B-513B-ACC7E468CDC3}"/>
              </a:ext>
            </a:extLst>
          </p:cNvPr>
          <p:cNvSpPr/>
          <p:nvPr/>
        </p:nvSpPr>
        <p:spPr>
          <a:xfrm flipV="1">
            <a:off x="2911079" y="5067632"/>
            <a:ext cx="590401" cy="45719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63">
            <a:extLst>
              <a:ext uri="{FF2B5EF4-FFF2-40B4-BE49-F238E27FC236}">
                <a16:creationId xmlns:a16="http://schemas.microsoft.com/office/drawing/2014/main" id="{4601CBDA-CF6C-DA98-1398-C31497498862}"/>
              </a:ext>
            </a:extLst>
          </p:cNvPr>
          <p:cNvSpPr txBox="1"/>
          <p:nvPr/>
        </p:nvSpPr>
        <p:spPr>
          <a:xfrm>
            <a:off x="2939643" y="5090491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lang="es-ES" sz="1400" dirty="0">
                <a:latin typeface="Calibri"/>
                <a:cs typeface="Calibri"/>
              </a:rPr>
              <a:t>g</a:t>
            </a:r>
            <a:endParaRPr sz="1400" dirty="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</a:t>
            </a:r>
            <a:r>
              <a:rPr lang="es-ES" sz="1400" spc="-10" dirty="0">
                <a:latin typeface="Calibri"/>
                <a:cs typeface="Calibri"/>
              </a:rPr>
              <a:t>gap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  <p:sp>
        <p:nvSpPr>
          <p:cNvPr id="11" name="object 62">
            <a:extLst>
              <a:ext uri="{FF2B5EF4-FFF2-40B4-BE49-F238E27FC236}">
                <a16:creationId xmlns:a16="http://schemas.microsoft.com/office/drawing/2014/main" id="{F1DAA8E2-74AD-BD39-C248-2324458F6D54}"/>
              </a:ext>
            </a:extLst>
          </p:cNvPr>
          <p:cNvSpPr/>
          <p:nvPr/>
        </p:nvSpPr>
        <p:spPr>
          <a:xfrm>
            <a:off x="7448782" y="4331380"/>
            <a:ext cx="67949" cy="610424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63">
            <a:extLst>
              <a:ext uri="{FF2B5EF4-FFF2-40B4-BE49-F238E27FC236}">
                <a16:creationId xmlns:a16="http://schemas.microsoft.com/office/drawing/2014/main" id="{FCE9BE8C-E2F4-7CBE-236B-A2E5451F5C01}"/>
              </a:ext>
            </a:extLst>
          </p:cNvPr>
          <p:cNvSpPr txBox="1"/>
          <p:nvPr/>
        </p:nvSpPr>
        <p:spPr>
          <a:xfrm>
            <a:off x="6882764" y="4389164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F74687F-7302-3F32-F9D1-0566D05F33AE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8335A49-ACE2-C055-50CA-8DD755D2E76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6" name="Título 4">
            <a:extLst>
              <a:ext uri="{FF2B5EF4-FFF2-40B4-BE49-F238E27FC236}">
                <a16:creationId xmlns:a16="http://schemas.microsoft.com/office/drawing/2014/main" id="{AF6692CA-D0D0-2BAF-E673-933E02AE2B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52650"/>
            <a:ext cx="10972800" cy="430887"/>
          </a:xfrm>
        </p:spPr>
        <p:txBody>
          <a:bodyPr/>
          <a:lstStyle/>
          <a:p>
            <a:pPr algn="ctr"/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Directional coupler</a:t>
            </a:r>
          </a:p>
        </p:txBody>
      </p:sp>
    </p:spTree>
    <p:extLst>
      <p:ext uri="{BB962C8B-B14F-4D97-AF65-F5344CB8AC3E}">
        <p14:creationId xmlns:p14="http://schemas.microsoft.com/office/powerpoint/2010/main" val="16400195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cross-section in </a:t>
            </a:r>
            <a:r>
              <a:rPr lang="en-US" sz="2500" dirty="0" err="1"/>
              <a:t>GDSFactory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Marcador de texto 2">
                <a:extLst>
                  <a:ext uri="{FF2B5EF4-FFF2-40B4-BE49-F238E27FC236}">
                    <a16:creationId xmlns:a16="http://schemas.microsoft.com/office/drawing/2014/main" id="{AA9E72FF-B948-6B7A-8909-97C6BE95D6F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8012" y="1295400"/>
                <a:ext cx="11048999" cy="4958137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0">
                  <a:defRPr>
                    <a:latin typeface="+mn-lt"/>
                    <a:ea typeface="+mn-ea"/>
                    <a:cs typeface="+mn-cs"/>
                  </a:defRPr>
                </a:lvl1pPr>
                <a:lvl2pPr marL="457200">
                  <a:defRPr>
                    <a:latin typeface="+mn-lt"/>
                    <a:ea typeface="+mn-ea"/>
                    <a:cs typeface="+mn-cs"/>
                  </a:defRPr>
                </a:lvl2pPr>
                <a:lvl3pPr marL="914400">
                  <a:defRPr>
                    <a:latin typeface="+mn-lt"/>
                    <a:ea typeface="+mn-ea"/>
                    <a:cs typeface="+mn-cs"/>
                  </a:defRPr>
                </a:lvl3pPr>
                <a:lvl4pPr marL="1371600">
                  <a:defRPr>
                    <a:latin typeface="+mn-lt"/>
                    <a:ea typeface="+mn-ea"/>
                    <a:cs typeface="+mn-cs"/>
                  </a:defRPr>
                </a:lvl4pPr>
                <a:lvl5pPr marL="1828800">
                  <a:defRPr>
                    <a:latin typeface="+mn-lt"/>
                    <a:ea typeface="+mn-ea"/>
                    <a:cs typeface="+mn-cs"/>
                  </a:defRPr>
                </a:lvl5pPr>
                <a:lvl6pPr marL="2286000">
                  <a:defRPr>
                    <a:latin typeface="+mn-lt"/>
                    <a:ea typeface="+mn-ea"/>
                    <a:cs typeface="+mn-cs"/>
                  </a:defRPr>
                </a:lvl6pPr>
                <a:lvl7pPr marL="2743200">
                  <a:defRPr>
                    <a:latin typeface="+mn-lt"/>
                    <a:ea typeface="+mn-ea"/>
                    <a:cs typeface="+mn-cs"/>
                  </a:defRPr>
                </a:lvl7pPr>
                <a:lvl8pPr marL="3200400">
                  <a:defRPr>
                    <a:latin typeface="+mn-lt"/>
                    <a:ea typeface="+mn-ea"/>
                    <a:cs typeface="+mn-cs"/>
                  </a:defRPr>
                </a:lvl8pPr>
                <a:lvl9pPr marL="3657600">
                  <a:defRPr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b="1" dirty="0"/>
                  <a:t>INSTRUCTOR: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Present Python and </a:t>
                </a:r>
                <a:r>
                  <a:rPr lang="en-US" sz="2000" dirty="0" err="1"/>
                  <a:t>GDSFactory</a:t>
                </a:r>
                <a:r>
                  <a:rPr lang="en-US" sz="2000" dirty="0"/>
                  <a:t> implementation of DC cross-section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Describe how to obtain the beating length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2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Describe the outputs.</a:t>
                </a:r>
              </a:p>
              <a:p>
                <a:pPr marL="0" indent="0" algn="just">
                  <a:buNone/>
                </a:pPr>
                <a:r>
                  <a:rPr lang="en-US" sz="2000" b="1" dirty="0"/>
                  <a:t>ALL EXAMPLE #1: </a:t>
                </a:r>
                <a:r>
                  <a:rPr lang="en-US" sz="2000" dirty="0"/>
                  <a:t>waveguide width 1.2 µm, gap between waveguides 0.6 µm, deep </a:t>
                </a:r>
                <a:r>
                  <a:rPr lang="en-US" sz="2000" dirty="0" err="1"/>
                  <a:t>wvg</a:t>
                </a:r>
                <a:r>
                  <a:rPr lang="en-US" sz="2000" dirty="0"/>
                  <a:t>, wavelength start and end same 1.55 µm </a:t>
                </a:r>
                <a:r>
                  <a:rPr lang="en-US" sz="2000" dirty="0">
                    <a:sym typeface="Wingdings" pitchFamily="2" charset="2"/>
                  </a:rPr>
                  <a:t> all ”Run”</a:t>
                </a:r>
                <a:endParaRPr lang="en-US" sz="2000" dirty="0"/>
              </a:p>
              <a:p>
                <a:pPr marL="0" indent="0" algn="just">
                  <a:buNone/>
                </a:pPr>
                <a:r>
                  <a:rPr lang="en-US" sz="2000" b="1" dirty="0"/>
                  <a:t>ALL: </a:t>
                </a:r>
                <a:r>
                  <a:rPr lang="en-US" sz="2000" dirty="0"/>
                  <a:t>Follow</a:t>
                </a:r>
                <a:r>
                  <a:rPr lang="en-US" sz="2000" b="1" dirty="0"/>
                  <a:t> </a:t>
                </a:r>
                <a:r>
                  <a:rPr lang="en-US" sz="2000" dirty="0"/>
                  <a:t>instructor, that will show how to 1) plot mode, 2) explore the results (neff …)</a:t>
                </a:r>
              </a:p>
              <a:p>
                <a:pPr algn="just"/>
                <a:endParaRPr lang="en-US" sz="2000" b="1" i="1" dirty="0"/>
              </a:p>
              <a:p>
                <a:pPr algn="just"/>
                <a:endParaRPr lang="en-US" sz="2000" kern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4" name="Marcador de texto 2">
                <a:extLst>
                  <a:ext uri="{FF2B5EF4-FFF2-40B4-BE49-F238E27FC236}">
                    <a16:creationId xmlns:a16="http://schemas.microsoft.com/office/drawing/2014/main" id="{AA9E72FF-B948-6B7A-8909-97C6BE95D6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012" y="1295400"/>
                <a:ext cx="11048999" cy="4958137"/>
              </a:xfrm>
              <a:prstGeom prst="rect">
                <a:avLst/>
              </a:prstGeom>
              <a:blipFill>
                <a:blip r:embed="rId5"/>
                <a:stretch>
                  <a:fillRect l="-607" t="-738" r="-552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of different modes,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comparison between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different polarizations…)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0747D-09F4-6BE2-437A-A61A27881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F564E44A-48DD-C263-58AC-1BA81C1536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cross-section in </a:t>
            </a:r>
            <a:r>
              <a:rPr lang="en-US" sz="2500" dirty="0" err="1"/>
              <a:t>GDSFactory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2285E541-305F-1275-9062-E4C6566297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D12C9C0-1001-A408-C3A6-F0A37A84F52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913A18A-3B4E-B06D-F7DD-830A7B1220C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pic>
        <p:nvPicPr>
          <p:cNvPr id="2" name="Imagen 1" descr="Gráfico&#10;&#10;El contenido generado por IA puede ser incorrecto.">
            <a:extLst>
              <a:ext uri="{FF2B5EF4-FFF2-40B4-BE49-F238E27FC236}">
                <a16:creationId xmlns:a16="http://schemas.microsoft.com/office/drawing/2014/main" id="{1FD789FB-9CB7-8877-C3E4-DB9C9B31CF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56" y="979794"/>
            <a:ext cx="3331303" cy="2310126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CA2FA457-4BAC-FE14-CBB9-5CBEDE7BFD16}"/>
              </a:ext>
            </a:extLst>
          </p:cNvPr>
          <p:cNvSpPr txBox="1"/>
          <p:nvPr/>
        </p:nvSpPr>
        <p:spPr>
          <a:xfrm>
            <a:off x="5087717" y="2027717"/>
            <a:ext cx="2307788" cy="280076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600" dirty="0" err="1">
                <a:ea typeface="+mn-lt"/>
                <a:cs typeface="+mn-lt"/>
              </a:rPr>
              <a:t>Directional</a:t>
            </a:r>
            <a:r>
              <a:rPr lang="es-ES" sz="1600" dirty="0">
                <a:ea typeface="+mn-lt"/>
                <a:cs typeface="+mn-lt"/>
              </a:rPr>
              <a:t> </a:t>
            </a:r>
            <a:r>
              <a:rPr lang="es-ES" sz="1600" dirty="0" err="1">
                <a:ea typeface="+mn-lt"/>
                <a:cs typeface="+mn-lt"/>
              </a:rPr>
              <a:t>coupler</a:t>
            </a:r>
            <a:r>
              <a:rPr lang="es-ES" sz="1600" dirty="0">
                <a:ea typeface="+mn-lt"/>
                <a:cs typeface="+mn-lt"/>
              </a:rPr>
              <a:t> formado por </a:t>
            </a:r>
            <a:r>
              <a:rPr lang="es-ES" sz="1600" b="1" dirty="0">
                <a:ea typeface="+mn-lt"/>
                <a:cs typeface="+mn-lt"/>
              </a:rPr>
              <a:t>dos </a:t>
            </a:r>
            <a:r>
              <a:rPr lang="es-ES" sz="1600" b="1" dirty="0" err="1">
                <a:ea typeface="+mn-lt"/>
                <a:cs typeface="+mn-lt"/>
              </a:rPr>
              <a:t>waveguides</a:t>
            </a:r>
            <a:r>
              <a:rPr lang="es-ES" sz="1600" dirty="0">
                <a:ea typeface="+mn-lt"/>
                <a:cs typeface="+mn-lt"/>
              </a:rPr>
              <a:t> acoplados. </a:t>
            </a:r>
            <a:endParaRPr lang="es-ES" sz="1600" dirty="0">
              <a:ea typeface="Calibri"/>
              <a:cs typeface="Calibri"/>
            </a:endParaRPr>
          </a:p>
          <a:p>
            <a:endParaRPr lang="es-ES" sz="1600" dirty="0">
              <a:ea typeface="+mn-lt"/>
              <a:cs typeface="+mn-lt"/>
            </a:endParaRPr>
          </a:p>
          <a:p>
            <a:r>
              <a:rPr lang="es-ES" sz="1600" b="1">
                <a:ea typeface="+mn-lt"/>
                <a:cs typeface="+mn-lt"/>
              </a:rPr>
              <a:t>Parámetros: </a:t>
            </a:r>
            <a:endParaRPr lang="es-ES" sz="1600" b="1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s-ES" sz="1600" dirty="0">
                <a:ea typeface="+mn-lt"/>
                <a:cs typeface="+mn-lt"/>
              </a:rPr>
              <a:t>w=1.2 </a:t>
            </a:r>
            <a:r>
              <a:rPr lang="es-ES" sz="1600" dirty="0" err="1">
                <a:ea typeface="+mn-lt"/>
                <a:cs typeface="+mn-lt"/>
              </a:rPr>
              <a:t>μm</a:t>
            </a:r>
            <a:endParaRPr lang="es-ES" sz="16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s-ES" sz="1600">
                <a:ea typeface="+mn-lt"/>
                <a:cs typeface="+mn-lt"/>
              </a:rPr>
              <a:t> g=0.6μm </a:t>
            </a:r>
            <a:endParaRPr lang="es-ES" sz="1600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s-ES" sz="1600">
                <a:ea typeface="+mn-lt"/>
                <a:cs typeface="+mn-lt"/>
              </a:rPr>
              <a:t>h=300 nm</a:t>
            </a:r>
            <a:endParaRPr lang="es-ES" sz="1600">
              <a:ea typeface="Calibri"/>
              <a:cs typeface="Calibri"/>
            </a:endParaRPr>
          </a:p>
          <a:p>
            <a:r>
              <a:rPr lang="es-ES" sz="1600" b="1">
                <a:ea typeface="+mn-lt"/>
                <a:cs typeface="+mn-lt"/>
              </a:rPr>
              <a:t>Materiales: </a:t>
            </a:r>
            <a:endParaRPr lang="es-ES" sz="1600" b="1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s-ES" sz="1600" dirty="0">
                <a:ea typeface="+mn-lt"/>
                <a:cs typeface="+mn-lt"/>
              </a:rPr>
              <a:t>Core: </a:t>
            </a:r>
            <a:r>
              <a:rPr lang="es-ES" sz="1600" dirty="0" err="1">
                <a:ea typeface="+mn-lt"/>
                <a:cs typeface="+mn-lt"/>
              </a:rPr>
              <a:t>SiN</a:t>
            </a:r>
            <a:r>
              <a:rPr lang="es-ES" sz="1600" dirty="0">
                <a:ea typeface="+mn-lt"/>
                <a:cs typeface="+mn-lt"/>
              </a:rPr>
              <a:t> </a:t>
            </a:r>
            <a:endParaRPr lang="es-ES" sz="160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s-ES" sz="1600" dirty="0" err="1">
                <a:ea typeface="+mn-lt"/>
                <a:cs typeface="+mn-lt"/>
              </a:rPr>
              <a:t>Cladding</a:t>
            </a:r>
            <a:r>
              <a:rPr lang="es-ES" sz="1600" dirty="0">
                <a:ea typeface="+mn-lt"/>
                <a:cs typeface="+mn-lt"/>
              </a:rPr>
              <a:t>: </a:t>
            </a:r>
            <a:r>
              <a:rPr lang="es-ES" sz="1600" dirty="0" err="1">
                <a:ea typeface="+mn-lt"/>
                <a:cs typeface="+mn-lt"/>
              </a:rPr>
              <a:t>SiO</a:t>
            </a:r>
            <a:r>
              <a:rPr lang="es-ES" sz="1600" dirty="0">
                <a:ea typeface="+mn-lt"/>
                <a:cs typeface="+mn-lt"/>
              </a:rPr>
              <a:t>₂</a:t>
            </a:r>
            <a:endParaRPr lang="es-ES" sz="1600" dirty="0">
              <a:ea typeface="Calibri"/>
              <a:cs typeface="Calibri"/>
            </a:endParaRPr>
          </a:p>
        </p:txBody>
      </p: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A0C104B9-8CC1-FDC0-A01E-B9783B4D5FF0}"/>
              </a:ext>
            </a:extLst>
          </p:cNvPr>
          <p:cNvCxnSpPr/>
          <p:nvPr/>
        </p:nvCxnSpPr>
        <p:spPr>
          <a:xfrm>
            <a:off x="7507167" y="1983320"/>
            <a:ext cx="16006" cy="2865127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72B5191F-8EF7-EBCD-AACC-6FBB8A43CF11}"/>
              </a:ext>
            </a:extLst>
          </p:cNvPr>
          <p:cNvSpPr txBox="1"/>
          <p:nvPr/>
        </p:nvSpPr>
        <p:spPr>
          <a:xfrm>
            <a:off x="7851302" y="2029736"/>
            <a:ext cx="2825112" cy="255454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600" b="1" dirty="0">
                <a:ea typeface="Calibri"/>
                <a:cs typeface="Calibri"/>
              </a:rPr>
              <a:t>TE </a:t>
            </a:r>
            <a:r>
              <a:rPr lang="es-ES" sz="1600" b="1" dirty="0" err="1">
                <a:ea typeface="Calibri"/>
                <a:cs typeface="Calibri"/>
              </a:rPr>
              <a:t>modes</a:t>
            </a:r>
            <a:r>
              <a:rPr lang="es-ES" sz="1600" b="1" dirty="0">
                <a:ea typeface="Calibri"/>
                <a:cs typeface="Calibri"/>
              </a:rPr>
              <a:t>: </a:t>
            </a:r>
          </a:p>
          <a:p>
            <a:pPr marL="285750" indent="-285750">
              <a:buFont typeface="Arial,Sans-Serif"/>
              <a:buChar char="•"/>
            </a:pPr>
            <a:r>
              <a:rPr lang="es-ES" sz="1600">
                <a:ea typeface="Calibri"/>
                <a:cs typeface="Calibri"/>
              </a:rPr>
              <a:t>neff,0≈1.6094</a:t>
            </a:r>
          </a:p>
          <a:p>
            <a:pPr marL="285750" indent="-285750">
              <a:buFont typeface="Arial,Sans-Serif"/>
              <a:buChar char="•"/>
            </a:pPr>
            <a:r>
              <a:rPr lang="es-ES" sz="1600">
                <a:ea typeface="Calibri"/>
                <a:cs typeface="Calibri"/>
              </a:rPr>
              <a:t>neff,1≈1.6012</a:t>
            </a:r>
          </a:p>
          <a:p>
            <a:r>
              <a:rPr lang="es-ES" sz="1600" b="1" dirty="0">
                <a:ea typeface="Calibri"/>
                <a:cs typeface="Calibri"/>
              </a:rPr>
              <a:t>TM </a:t>
            </a:r>
            <a:r>
              <a:rPr lang="es-ES" sz="1600" b="1" dirty="0" err="1">
                <a:ea typeface="Calibri"/>
                <a:cs typeface="Calibri"/>
              </a:rPr>
              <a:t>modes</a:t>
            </a:r>
            <a:r>
              <a:rPr lang="es-ES" sz="1600" b="1" dirty="0">
                <a:ea typeface="Calibri"/>
                <a:cs typeface="Calibri"/>
              </a:rPr>
              <a:t>: </a:t>
            </a:r>
          </a:p>
          <a:p>
            <a:pPr marL="285750" indent="-285750">
              <a:buFont typeface="Arial,Sans-Serif"/>
              <a:buChar char="•"/>
            </a:pPr>
            <a:r>
              <a:rPr lang="es-ES" sz="1600">
                <a:ea typeface="Calibri"/>
                <a:cs typeface="Calibri"/>
              </a:rPr>
              <a:t>neff,2≈1.5354</a:t>
            </a:r>
          </a:p>
          <a:p>
            <a:pPr marL="285750" indent="-285750" algn="l">
              <a:buFont typeface="Arial,Sans-Serif"/>
              <a:buChar char="•"/>
            </a:pPr>
            <a:r>
              <a:rPr lang="es-ES" sz="1600">
                <a:ea typeface="Calibri"/>
                <a:cs typeface="Calibri"/>
              </a:rPr>
              <a:t>neff,3≈1.5206</a:t>
            </a:r>
          </a:p>
          <a:p>
            <a:endParaRPr lang="es-ES" sz="1600" dirty="0">
              <a:ea typeface="Calibri"/>
              <a:cs typeface="Calibri"/>
            </a:endParaRPr>
          </a:p>
          <a:p>
            <a:r>
              <a:rPr lang="es-ES" sz="1600" dirty="0">
                <a:ea typeface="+mn-lt"/>
                <a:cs typeface="+mn-lt"/>
              </a:rPr>
              <a:t>Aparecen modos </a:t>
            </a:r>
            <a:r>
              <a:rPr lang="es-ES" sz="1600" b="1" dirty="0">
                <a:ea typeface="+mn-lt"/>
                <a:cs typeface="+mn-lt"/>
              </a:rPr>
              <a:t>par (</a:t>
            </a:r>
            <a:r>
              <a:rPr lang="es-ES" sz="1600" b="1" err="1">
                <a:ea typeface="+mn-lt"/>
                <a:cs typeface="+mn-lt"/>
              </a:rPr>
              <a:t>even</a:t>
            </a:r>
            <a:r>
              <a:rPr lang="es-ES" sz="1600" b="1" dirty="0">
                <a:ea typeface="+mn-lt"/>
                <a:cs typeface="+mn-lt"/>
              </a:rPr>
              <a:t>)</a:t>
            </a:r>
            <a:r>
              <a:rPr lang="es-ES" sz="1600" dirty="0">
                <a:ea typeface="+mn-lt"/>
                <a:cs typeface="+mn-lt"/>
              </a:rPr>
              <a:t> e </a:t>
            </a:r>
            <a:r>
              <a:rPr lang="es-ES" sz="1600" b="1" dirty="0">
                <a:ea typeface="+mn-lt"/>
                <a:cs typeface="+mn-lt"/>
              </a:rPr>
              <a:t>impar (</a:t>
            </a:r>
            <a:r>
              <a:rPr lang="es-ES" sz="1600" b="1" err="1">
                <a:ea typeface="+mn-lt"/>
                <a:cs typeface="+mn-lt"/>
              </a:rPr>
              <a:t>odd</a:t>
            </a:r>
            <a:r>
              <a:rPr lang="es-ES" sz="1600" b="1" dirty="0">
                <a:ea typeface="+mn-lt"/>
                <a:cs typeface="+mn-lt"/>
              </a:rPr>
              <a:t>)</a:t>
            </a:r>
            <a:r>
              <a:rPr lang="es-ES" sz="1600" dirty="0">
                <a:ea typeface="+mn-lt"/>
                <a:cs typeface="+mn-lt"/>
              </a:rPr>
              <a:t> debido al </a:t>
            </a:r>
            <a:r>
              <a:rPr lang="es-ES" sz="1600">
                <a:ea typeface="+mn-lt"/>
                <a:cs typeface="+mn-lt"/>
              </a:rPr>
              <a:t>acoplamiento entre guías.</a:t>
            </a:r>
          </a:p>
        </p:txBody>
      </p:sp>
      <p:pic>
        <p:nvPicPr>
          <p:cNvPr id="7" name="Imagen 6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B3D4273C-954E-0DAE-F54C-1B69517661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78" y="3546989"/>
            <a:ext cx="3471980" cy="2415948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031F3AC3-D489-9504-9C38-41BD05D04BD2}"/>
              </a:ext>
            </a:extLst>
          </p:cNvPr>
          <p:cNvSpPr txBox="1"/>
          <p:nvPr/>
        </p:nvSpPr>
        <p:spPr>
          <a:xfrm>
            <a:off x="1181717" y="1004102"/>
            <a:ext cx="80223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b="1">
                <a:ea typeface="Calibri"/>
                <a:cs typeface="Calibri"/>
              </a:rPr>
              <a:t>Deep</a:t>
            </a:r>
            <a:endParaRPr lang="es-ES">
              <a:ea typeface="Calibri"/>
              <a:cs typeface="Calibri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3B6D20EB-E864-F0A4-E0FC-691B6FBB6953}"/>
              </a:ext>
            </a:extLst>
          </p:cNvPr>
          <p:cNvSpPr txBox="1"/>
          <p:nvPr/>
        </p:nvSpPr>
        <p:spPr>
          <a:xfrm>
            <a:off x="1179619" y="3544609"/>
            <a:ext cx="13935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b="1" dirty="0" err="1">
                <a:ea typeface="Calibri"/>
                <a:cs typeface="Calibri"/>
              </a:rPr>
              <a:t>Shallow</a:t>
            </a:r>
            <a:endParaRPr lang="es-ES" b="1" dirty="0" err="1"/>
          </a:p>
        </p:txBody>
      </p:sp>
    </p:spTree>
    <p:extLst>
      <p:ext uri="{BB962C8B-B14F-4D97-AF65-F5344CB8AC3E}">
        <p14:creationId xmlns:p14="http://schemas.microsoft.com/office/powerpoint/2010/main" val="16488781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3227C-83C6-F468-4820-CDDED5B16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9370BAB-08E1-E003-4160-C9E4C1F2CC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cross-section in </a:t>
            </a:r>
            <a:r>
              <a:rPr lang="en-US" sz="2500" dirty="0" err="1"/>
              <a:t>GDSFactory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239DF52D-53D6-FC68-8E16-D4D34F6ABC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1DD8FC0-7AA9-E368-D7D2-D3A677CA1BC3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014AEB0-3FC7-AED3-7E62-61C02D14CE3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pic>
        <p:nvPicPr>
          <p:cNvPr id="6" name="Imagen 5" descr="Texto&#10;&#10;El contenido generado por IA puede ser incorrecto.">
            <a:extLst>
              <a:ext uri="{FF2B5EF4-FFF2-40B4-BE49-F238E27FC236}">
                <a16:creationId xmlns:a16="http://schemas.microsoft.com/office/drawing/2014/main" id="{AAABC1F7-C9C2-29A5-4268-5AE66303A3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756" y="1346322"/>
            <a:ext cx="4681904" cy="4095018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54366D71-60D4-3387-A7C2-13C04215DBB9}"/>
              </a:ext>
            </a:extLst>
          </p:cNvPr>
          <p:cNvSpPr txBox="1"/>
          <p:nvPr/>
        </p:nvSpPr>
        <p:spPr>
          <a:xfrm>
            <a:off x="5603895" y="2223083"/>
            <a:ext cx="5290082" cy="233910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600">
                <a:ea typeface="+mn-lt"/>
                <a:cs typeface="+mn-lt"/>
              </a:rPr>
              <a:t>El acoplamiento se produce por interacción de los campos evanescentes entre ambas guías.</a:t>
            </a:r>
            <a:endParaRPr lang="es-ES"/>
          </a:p>
          <a:p>
            <a:endParaRPr lang="es-ES" sz="1600" dirty="0">
              <a:ea typeface="+mn-lt"/>
              <a:cs typeface="+mn-lt"/>
            </a:endParaRPr>
          </a:p>
          <a:p>
            <a:r>
              <a:rPr lang="es-ES" sz="1600">
                <a:ea typeface="+mn-lt"/>
                <a:cs typeface="+mn-lt"/>
              </a:rPr>
              <a:t>Los modos están claramente separados en polarización TE y TM:</a:t>
            </a:r>
            <a:endParaRPr lang="es-ES" sz="16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s-ES" sz="16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s-ES" sz="1600">
                <a:ea typeface="+mn-lt"/>
                <a:cs typeface="+mn-lt"/>
              </a:rPr>
              <a:t>Modos 0 y 1 → </a:t>
            </a:r>
            <a:r>
              <a:rPr lang="es-ES" sz="1600" b="1">
                <a:ea typeface="+mn-lt"/>
                <a:cs typeface="+mn-lt"/>
              </a:rPr>
              <a:t>TE (≈1)</a:t>
            </a:r>
            <a:r>
              <a:rPr lang="es-ES" sz="1600" dirty="0">
                <a:ea typeface="+mn-lt"/>
                <a:cs typeface="+mn-lt"/>
              </a:rPr>
              <a:t> </a:t>
            </a:r>
            <a:endParaRPr lang="es-ES" sz="1600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s-ES" sz="1600">
                <a:ea typeface="+mn-lt"/>
                <a:cs typeface="+mn-lt"/>
              </a:rPr>
              <a:t>Modos 2 y 3 → </a:t>
            </a:r>
            <a:r>
              <a:rPr lang="es-ES" sz="1600" b="1">
                <a:ea typeface="+mn-lt"/>
                <a:cs typeface="+mn-lt"/>
              </a:rPr>
              <a:t>TM (≈1)</a:t>
            </a:r>
            <a:endParaRPr lang="es-ES">
              <a:ea typeface="Calibri"/>
              <a:cs typeface="Calibri"/>
            </a:endParaRPr>
          </a:p>
          <a:p>
            <a:pPr algn="l"/>
            <a:endParaRPr lang="es-E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430572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4446A-360B-41B4-4441-8E91B43D3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C613C70-1302-1146-3391-A43E5FB465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cross-section in </a:t>
            </a:r>
            <a:r>
              <a:rPr lang="en-US" sz="2500" dirty="0" err="1"/>
              <a:t>GDSFactory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1D655D-E6A1-B40B-4D75-23808D2E5A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EAD6F7D2-8CA5-0947-97C7-C659008ED06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18DAE4C-042C-D643-6E1E-F70DEE6467E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pic>
        <p:nvPicPr>
          <p:cNvPr id="2" name="Imagen 1" descr="Gráfico&#10;&#10;El contenido generado por IA puede ser incorrecto.">
            <a:extLst>
              <a:ext uri="{FF2B5EF4-FFF2-40B4-BE49-F238E27FC236}">
                <a16:creationId xmlns:a16="http://schemas.microsoft.com/office/drawing/2014/main" id="{84B9E66E-DF66-D1DE-7096-7429645CCE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955" y="4161326"/>
            <a:ext cx="2833323" cy="1888149"/>
          </a:xfrm>
          <a:prstGeom prst="rect">
            <a:avLst/>
          </a:prstGeom>
        </p:spPr>
      </p:pic>
      <p:pic>
        <p:nvPicPr>
          <p:cNvPr id="4" name="Imagen 3" descr="Gráfico&#10;&#10;El contenido generado por IA puede ser incorrecto.">
            <a:extLst>
              <a:ext uri="{FF2B5EF4-FFF2-40B4-BE49-F238E27FC236}">
                <a16:creationId xmlns:a16="http://schemas.microsoft.com/office/drawing/2014/main" id="{B8ACFE3B-ED01-FBBC-AD2B-C80102CD51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7147" y="4158393"/>
            <a:ext cx="2833323" cy="1889615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20342568-3B9D-DE4D-8BE1-A6B931F9FC10}"/>
              </a:ext>
            </a:extLst>
          </p:cNvPr>
          <p:cNvSpPr txBox="1"/>
          <p:nvPr/>
        </p:nvSpPr>
        <p:spPr>
          <a:xfrm>
            <a:off x="7908735" y="1186266"/>
            <a:ext cx="3773309" cy="11079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600" dirty="0" err="1">
                <a:ea typeface="+mn-lt"/>
                <a:cs typeface="+mn-lt"/>
              </a:rPr>
              <a:t>Mode</a:t>
            </a:r>
            <a:r>
              <a:rPr lang="es-ES" sz="1600" dirty="0">
                <a:ea typeface="+mn-lt"/>
                <a:cs typeface="+mn-lt"/>
              </a:rPr>
              <a:t> 2 (</a:t>
            </a:r>
            <a:r>
              <a:rPr lang="es-ES" sz="1600" dirty="0" err="1">
                <a:ea typeface="+mn-lt"/>
                <a:cs typeface="+mn-lt"/>
              </a:rPr>
              <a:t>Ey</a:t>
            </a:r>
            <a:r>
              <a:rPr lang="es-ES" sz="1600" dirty="0">
                <a:ea typeface="+mn-lt"/>
                <a:cs typeface="+mn-lt"/>
              </a:rPr>
              <a:t>) (Izquierda) y </a:t>
            </a:r>
            <a:r>
              <a:rPr lang="es-ES" sz="1600" dirty="0" err="1">
                <a:ea typeface="+mn-lt"/>
                <a:cs typeface="+mn-lt"/>
              </a:rPr>
              <a:t>Mode</a:t>
            </a:r>
            <a:r>
              <a:rPr lang="es-ES" sz="1600" dirty="0">
                <a:ea typeface="+mn-lt"/>
                <a:cs typeface="+mn-lt"/>
              </a:rPr>
              <a:t> 3 (</a:t>
            </a:r>
            <a:r>
              <a:rPr lang="es-ES" sz="1600" dirty="0" err="1">
                <a:ea typeface="+mn-lt"/>
                <a:cs typeface="+mn-lt"/>
              </a:rPr>
              <a:t>Ey</a:t>
            </a:r>
            <a:r>
              <a:rPr lang="es-ES" sz="1600" dirty="0">
                <a:ea typeface="+mn-lt"/>
                <a:cs typeface="+mn-lt"/>
              </a:rPr>
              <a:t>) (Derecha). Mismo comportamiento que TE pero en polarización TM</a:t>
            </a:r>
            <a:endParaRPr lang="es-ES" sz="1600" dirty="0">
              <a:ea typeface="Calibri"/>
              <a:cs typeface="Calibri"/>
            </a:endParaRPr>
          </a:p>
          <a:p>
            <a:pPr algn="l"/>
            <a:endParaRPr lang="es-ES" dirty="0">
              <a:ea typeface="Calibri"/>
              <a:cs typeface="Calibri"/>
            </a:endParaRPr>
          </a:p>
        </p:txBody>
      </p:sp>
      <p:pic>
        <p:nvPicPr>
          <p:cNvPr id="11" name="Imagen 10" descr="Texto&#10;&#10;El contenido generado por IA puede ser incorrecto.">
            <a:extLst>
              <a:ext uri="{FF2B5EF4-FFF2-40B4-BE49-F238E27FC236}">
                <a16:creationId xmlns:a16="http://schemas.microsoft.com/office/drawing/2014/main" id="{C2909360-301E-97DE-8C59-5E827AC701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4931" y="3143983"/>
            <a:ext cx="2907323" cy="827942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851BC1DF-EFCD-D48E-17B8-5E8E9BA619C8}"/>
              </a:ext>
            </a:extLst>
          </p:cNvPr>
          <p:cNvSpPr txBox="1"/>
          <p:nvPr/>
        </p:nvSpPr>
        <p:spPr>
          <a:xfrm>
            <a:off x="8319946" y="4121750"/>
            <a:ext cx="3433351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s-ES" dirty="0">
                <a:ea typeface="+mn-lt"/>
                <a:cs typeface="+mn-lt"/>
              </a:rPr>
              <a:t>Lπ,TE≈93.84 </a:t>
            </a:r>
            <a:r>
              <a:rPr lang="es-ES" dirty="0" err="1">
                <a:ea typeface="+mn-lt"/>
                <a:cs typeface="+mn-lt"/>
              </a:rPr>
              <a:t>μm</a:t>
            </a:r>
            <a:endParaRPr lang="es-ES" dirty="0" err="1"/>
          </a:p>
          <a:p>
            <a:pPr marL="285750" indent="-285750">
              <a:buFont typeface="Arial"/>
              <a:buChar char="•"/>
            </a:pPr>
            <a:r>
              <a:rPr lang="es-ES" dirty="0">
                <a:ea typeface="+mn-lt"/>
                <a:cs typeface="+mn-lt"/>
              </a:rPr>
              <a:t>Lπ,TM≈52.26 </a:t>
            </a:r>
            <a:r>
              <a:rPr lang="es-ES" dirty="0" err="1">
                <a:ea typeface="+mn-lt"/>
                <a:cs typeface="+mn-lt"/>
              </a:rPr>
              <a:t>μm</a:t>
            </a:r>
            <a:endParaRPr lang="es-ES" dirty="0" err="1"/>
          </a:p>
          <a:p>
            <a:pPr marL="285750" indent="-285750" algn="l">
              <a:buFont typeface="Arial"/>
              <a:buChar char="•"/>
            </a:pPr>
            <a:endParaRPr lang="es-ES" dirty="0">
              <a:ea typeface="Calibri"/>
              <a:cs typeface="Calibri"/>
            </a:endParaRPr>
          </a:p>
          <a:p>
            <a:r>
              <a:rPr lang="es-ES" dirty="0">
                <a:ea typeface="+mn-lt"/>
                <a:cs typeface="+mn-lt"/>
              </a:rPr>
              <a:t>Cuanto mayor </a:t>
            </a:r>
            <a:r>
              <a:rPr lang="es-ES" err="1">
                <a:ea typeface="+mn-lt"/>
                <a:cs typeface="+mn-lt"/>
              </a:rPr>
              <a:t>Δneff</a:t>
            </a:r>
            <a:r>
              <a:rPr lang="es-ES" dirty="0">
                <a:ea typeface="+mn-lt"/>
                <a:cs typeface="+mn-lt"/>
              </a:rPr>
              <a:t> → menor </a:t>
            </a:r>
            <a:r>
              <a:rPr lang="es-ES">
                <a:ea typeface="+mn-lt"/>
                <a:cs typeface="+mn-lt"/>
              </a:rPr>
              <a:t>Lπ</a:t>
            </a:r>
            <a:endParaRPr lang="es-ES" dirty="0"/>
          </a:p>
          <a:p>
            <a:endParaRPr lang="es-ES" dirty="0">
              <a:ea typeface="Calibri"/>
              <a:cs typeface="Calibri"/>
            </a:endParaRP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94A19149-F8CE-A080-7262-8781B862918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771" y="970817"/>
            <a:ext cx="3177687" cy="2202474"/>
          </a:xfrm>
          <a:prstGeom prst="rect">
            <a:avLst/>
          </a:prstGeom>
        </p:spPr>
      </p:pic>
      <p:pic>
        <p:nvPicPr>
          <p:cNvPr id="18" name="Imagen 17" descr="Gráfico, Gráfico de burbujas&#10;&#10;El contenido generado por IA puede ser incorrecto.">
            <a:extLst>
              <a:ext uri="{FF2B5EF4-FFF2-40B4-BE49-F238E27FC236}">
                <a16:creationId xmlns:a16="http://schemas.microsoft.com/office/drawing/2014/main" id="{7E551E54-9FA2-8221-BE8B-D7593E1FCE6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5655" y="973747"/>
            <a:ext cx="3232639" cy="2178295"/>
          </a:xfrm>
          <a:prstGeom prst="rect">
            <a:avLst/>
          </a:prstGeom>
        </p:spPr>
      </p:pic>
      <p:sp>
        <p:nvSpPr>
          <p:cNvPr id="20" name="CuadroTexto 19">
            <a:extLst>
              <a:ext uri="{FF2B5EF4-FFF2-40B4-BE49-F238E27FC236}">
                <a16:creationId xmlns:a16="http://schemas.microsoft.com/office/drawing/2014/main" id="{759DAA07-9399-1AA9-9ABF-A98F588004A3}"/>
              </a:ext>
            </a:extLst>
          </p:cNvPr>
          <p:cNvSpPr txBox="1"/>
          <p:nvPr/>
        </p:nvSpPr>
        <p:spPr>
          <a:xfrm>
            <a:off x="666226" y="3299980"/>
            <a:ext cx="6506788" cy="861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600" dirty="0" err="1">
                <a:ea typeface="+mn-lt"/>
                <a:cs typeface="+mn-lt"/>
              </a:rPr>
              <a:t>Mode</a:t>
            </a:r>
            <a:r>
              <a:rPr lang="es-ES" sz="1600" dirty="0">
                <a:ea typeface="+mn-lt"/>
                <a:cs typeface="+mn-lt"/>
              </a:rPr>
              <a:t> 0 (Ex) → </a:t>
            </a:r>
            <a:r>
              <a:rPr lang="es-ES" sz="1600" b="1" dirty="0">
                <a:ea typeface="+mn-lt"/>
                <a:cs typeface="+mn-lt"/>
              </a:rPr>
              <a:t>modo par (</a:t>
            </a:r>
            <a:r>
              <a:rPr lang="es-ES" sz="1600" b="1" dirty="0" err="1">
                <a:ea typeface="+mn-lt"/>
                <a:cs typeface="+mn-lt"/>
              </a:rPr>
              <a:t>even</a:t>
            </a:r>
            <a:r>
              <a:rPr lang="es-ES" sz="1600" b="1" dirty="0">
                <a:ea typeface="+mn-lt"/>
                <a:cs typeface="+mn-lt"/>
              </a:rPr>
              <a:t>)</a:t>
            </a:r>
            <a:r>
              <a:rPr lang="es-ES" sz="1600" dirty="0">
                <a:ea typeface="+mn-lt"/>
                <a:cs typeface="+mn-lt"/>
              </a:rPr>
              <a:t> → campos en fase (Izquierda)</a:t>
            </a:r>
            <a:endParaRPr lang="es-ES" sz="1600" dirty="0">
              <a:ea typeface="Calibri"/>
              <a:cs typeface="Calibri"/>
            </a:endParaRPr>
          </a:p>
          <a:p>
            <a:r>
              <a:rPr lang="es-ES" sz="1600" dirty="0" err="1">
                <a:ea typeface="+mn-lt"/>
                <a:cs typeface="+mn-lt"/>
              </a:rPr>
              <a:t>Mode</a:t>
            </a:r>
            <a:r>
              <a:rPr lang="es-ES" sz="1600" dirty="0">
                <a:ea typeface="+mn-lt"/>
                <a:cs typeface="+mn-lt"/>
              </a:rPr>
              <a:t> 1 (Ex) → </a:t>
            </a:r>
            <a:r>
              <a:rPr lang="es-ES" sz="1600" b="1" dirty="0">
                <a:ea typeface="+mn-lt"/>
                <a:cs typeface="+mn-lt"/>
              </a:rPr>
              <a:t>modo impar (</a:t>
            </a:r>
            <a:r>
              <a:rPr lang="es-ES" sz="1600" b="1" dirty="0" err="1">
                <a:ea typeface="+mn-lt"/>
                <a:cs typeface="+mn-lt"/>
              </a:rPr>
              <a:t>odd</a:t>
            </a:r>
            <a:r>
              <a:rPr lang="es-ES" sz="1600" b="1" dirty="0">
                <a:ea typeface="+mn-lt"/>
                <a:cs typeface="+mn-lt"/>
              </a:rPr>
              <a:t>)</a:t>
            </a:r>
            <a:r>
              <a:rPr lang="es-ES" sz="1600" dirty="0">
                <a:ea typeface="+mn-lt"/>
                <a:cs typeface="+mn-lt"/>
              </a:rPr>
              <a:t> → campos en oposición de fase (Derecha)</a:t>
            </a:r>
            <a:endParaRPr lang="es-ES" sz="1600" dirty="0">
              <a:ea typeface="Calibri"/>
              <a:cs typeface="Calibri"/>
            </a:endParaRPr>
          </a:p>
          <a:p>
            <a:pPr algn="l"/>
            <a:endParaRPr lang="es-ES" dirty="0">
              <a:ea typeface="Calibri"/>
              <a:cs typeface="Calibri"/>
            </a:endParaRPr>
          </a:p>
        </p:txBody>
      </p: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AE68B340-F36C-5C07-BB86-8CE48D45B896}"/>
              </a:ext>
            </a:extLst>
          </p:cNvPr>
          <p:cNvCxnSpPr/>
          <p:nvPr/>
        </p:nvCxnSpPr>
        <p:spPr>
          <a:xfrm flipV="1">
            <a:off x="7291996" y="2131732"/>
            <a:ext cx="739111" cy="267537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0955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Directional coupler length and coupling coefficient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 1.5 µm – width 1.2 µm – gap 0.6 µm – thickness 300 nm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 algn="just">
              <a:buFont typeface="Arial"/>
              <a:buChar char="•"/>
            </a:pPr>
            <a:r>
              <a:rPr lang="en-US" sz="1200" dirty="0">
                <a:ea typeface="+mn-lt"/>
                <a:cs typeface="+mn-lt"/>
              </a:rPr>
              <a:t>K=0 → no hay </a:t>
            </a:r>
            <a:r>
              <a:rPr lang="en-US" sz="1200" dirty="0" err="1">
                <a:ea typeface="+mn-lt"/>
                <a:cs typeface="+mn-lt"/>
              </a:rPr>
              <a:t>transferencia</a:t>
            </a:r>
            <a:r>
              <a:rPr lang="en-US" sz="1200" dirty="0">
                <a:ea typeface="+mn-lt"/>
                <a:cs typeface="+mn-lt"/>
              </a:rPr>
              <a:t> (</a:t>
            </a:r>
            <a:r>
              <a:rPr lang="en-US" sz="1200" dirty="0" err="1">
                <a:ea typeface="+mn-lt"/>
                <a:cs typeface="+mn-lt"/>
              </a:rPr>
              <a:t>toda</a:t>
            </a:r>
            <a:r>
              <a:rPr lang="en-US" sz="1200" dirty="0">
                <a:ea typeface="+mn-lt"/>
                <a:cs typeface="+mn-lt"/>
              </a:rPr>
              <a:t> la </a:t>
            </a:r>
            <a:r>
              <a:rPr lang="en-US" sz="1200" dirty="0" err="1">
                <a:ea typeface="+mn-lt"/>
                <a:cs typeface="+mn-lt"/>
              </a:rPr>
              <a:t>potencia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sigue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en</a:t>
            </a:r>
            <a:r>
              <a:rPr lang="en-US" sz="1200" dirty="0">
                <a:ea typeface="+mn-lt"/>
                <a:cs typeface="+mn-lt"/>
              </a:rPr>
              <a:t> la </a:t>
            </a:r>
            <a:r>
              <a:rPr lang="en-US" sz="1200" dirty="0" err="1">
                <a:ea typeface="+mn-lt"/>
                <a:cs typeface="+mn-lt"/>
              </a:rPr>
              <a:t>guía</a:t>
            </a:r>
            <a:r>
              <a:rPr lang="en-US" sz="1200" dirty="0">
                <a:ea typeface="+mn-lt"/>
                <a:cs typeface="+mn-lt"/>
              </a:rPr>
              <a:t> original) </a:t>
            </a:r>
            <a:endParaRPr lang="es-ES" dirty="0"/>
          </a:p>
          <a:p>
            <a:pPr marL="285750" indent="-285750" algn="just">
              <a:buFont typeface="Arial"/>
              <a:buChar char="•"/>
            </a:pPr>
            <a:r>
              <a:rPr lang="en-US" sz="1200" dirty="0">
                <a:ea typeface="+mn-lt"/>
                <a:cs typeface="+mn-lt"/>
              </a:rPr>
              <a:t>K=1 → </a:t>
            </a:r>
            <a:r>
              <a:rPr lang="en-US" sz="1200" dirty="0" err="1">
                <a:ea typeface="+mn-lt"/>
                <a:cs typeface="+mn-lt"/>
              </a:rPr>
              <a:t>transferencia</a:t>
            </a:r>
            <a:r>
              <a:rPr lang="en-US" sz="1200" dirty="0">
                <a:ea typeface="+mn-lt"/>
                <a:cs typeface="+mn-lt"/>
              </a:rPr>
              <a:t> completa de </a:t>
            </a:r>
            <a:r>
              <a:rPr lang="en-US" sz="1200" dirty="0" err="1">
                <a:ea typeface="+mn-lt"/>
                <a:cs typeface="+mn-lt"/>
              </a:rPr>
              <a:t>potencia</a:t>
            </a:r>
            <a:r>
              <a:rPr lang="en-US" sz="1200" dirty="0">
                <a:ea typeface="+mn-lt"/>
                <a:cs typeface="+mn-lt"/>
              </a:rPr>
              <a:t> </a:t>
            </a:r>
            <a:endParaRPr lang="en-US" dirty="0"/>
          </a:p>
          <a:p>
            <a:pPr marL="285750" indent="-285750" algn="just">
              <a:buFont typeface="Arial"/>
              <a:buChar char="•"/>
            </a:pPr>
            <a:r>
              <a:rPr lang="en-US" sz="1200" dirty="0">
                <a:ea typeface="+mn-lt"/>
                <a:cs typeface="+mn-lt"/>
              </a:rPr>
              <a:t>K=0.5 → </a:t>
            </a:r>
            <a:r>
              <a:rPr lang="en-US" sz="1200" dirty="0" err="1">
                <a:ea typeface="+mn-lt"/>
                <a:cs typeface="+mn-lt"/>
              </a:rPr>
              <a:t>división</a:t>
            </a:r>
            <a:r>
              <a:rPr lang="en-US" sz="1200">
                <a:ea typeface="+mn-lt"/>
                <a:cs typeface="+mn-lt"/>
              </a:rPr>
              <a:t> 50/50</a:t>
            </a:r>
            <a:endParaRPr lang="en-US"/>
          </a:p>
          <a:p>
            <a:pPr algn="just"/>
            <a:r>
              <a:rPr lang="en-US" sz="1200" dirty="0">
                <a:ea typeface="+mn-lt"/>
                <a:cs typeface="+mn-lt"/>
              </a:rPr>
              <a:t>La </a:t>
            </a:r>
            <a:r>
              <a:rPr lang="en-US" sz="1200" dirty="0" err="1">
                <a:ea typeface="+mn-lt"/>
                <a:cs typeface="+mn-lt"/>
              </a:rPr>
              <a:t>longitud</a:t>
            </a:r>
            <a:r>
              <a:rPr lang="en-US" sz="1200" dirty="0">
                <a:ea typeface="+mn-lt"/>
                <a:cs typeface="+mn-lt"/>
              </a:rPr>
              <a:t> de </a:t>
            </a:r>
            <a:r>
              <a:rPr lang="en-US" sz="1200" dirty="0" err="1">
                <a:ea typeface="+mn-lt"/>
                <a:cs typeface="+mn-lt"/>
              </a:rPr>
              <a:t>acoplo</a:t>
            </a:r>
            <a:r>
              <a:rPr lang="en-US" sz="1200" dirty="0">
                <a:ea typeface="+mn-lt"/>
                <a:cs typeface="+mn-lt"/>
              </a:rPr>
              <a:t> Lπ </a:t>
            </a:r>
            <a:r>
              <a:rPr lang="en-US" sz="1200" dirty="0" err="1">
                <a:ea typeface="+mn-lt"/>
                <a:cs typeface="+mn-lt"/>
              </a:rPr>
              <a:t>determina</a:t>
            </a:r>
            <a:r>
              <a:rPr lang="en-US" sz="1200" dirty="0">
                <a:ea typeface="+mn-lt"/>
                <a:cs typeface="+mn-lt"/>
              </a:rPr>
              <a:t> la </a:t>
            </a:r>
            <a:r>
              <a:rPr lang="en-US" sz="1200" dirty="0" err="1">
                <a:ea typeface="+mn-lt"/>
                <a:cs typeface="+mn-lt"/>
              </a:rPr>
              <a:t>distancia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necesaria</a:t>
            </a:r>
            <a:r>
              <a:rPr lang="en-US" sz="1200" dirty="0">
                <a:ea typeface="+mn-lt"/>
                <a:cs typeface="+mn-lt"/>
              </a:rPr>
              <a:t> para </a:t>
            </a:r>
            <a:r>
              <a:rPr lang="en-US" sz="1200" dirty="0" err="1">
                <a:ea typeface="+mn-lt"/>
                <a:cs typeface="+mn-lt"/>
              </a:rPr>
              <a:t>transferir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completamente</a:t>
            </a:r>
            <a:r>
              <a:rPr lang="en-US" sz="1200" dirty="0">
                <a:ea typeface="+mn-lt"/>
                <a:cs typeface="+mn-lt"/>
              </a:rPr>
              <a:t> la </a:t>
            </a:r>
            <a:r>
              <a:rPr lang="en-US" sz="1200" dirty="0" err="1">
                <a:ea typeface="+mn-lt"/>
                <a:cs typeface="+mn-lt"/>
              </a:rPr>
              <a:t>energía</a:t>
            </a:r>
            <a:r>
              <a:rPr lang="en-US" sz="1200" dirty="0">
                <a:ea typeface="+mn-lt"/>
                <a:cs typeface="+mn-lt"/>
              </a:rPr>
              <a:t> de </a:t>
            </a:r>
            <a:r>
              <a:rPr lang="en-US" sz="1200" dirty="0" err="1">
                <a:ea typeface="+mn-lt"/>
                <a:cs typeface="+mn-lt"/>
              </a:rPr>
              <a:t>una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guía</a:t>
            </a:r>
            <a:r>
              <a:rPr lang="en-US" sz="1200" dirty="0">
                <a:ea typeface="+mn-lt"/>
                <a:cs typeface="+mn-lt"/>
              </a:rPr>
              <a:t> a </a:t>
            </a:r>
            <a:r>
              <a:rPr lang="en-US" sz="1200" dirty="0" err="1">
                <a:ea typeface="+mn-lt"/>
                <a:cs typeface="+mn-lt"/>
              </a:rPr>
              <a:t>otra</a:t>
            </a:r>
            <a:r>
              <a:rPr lang="en-US" sz="1200" dirty="0">
                <a:ea typeface="+mn-lt"/>
                <a:cs typeface="+mn-lt"/>
              </a:rPr>
              <a:t>. Para </a:t>
            </a:r>
            <a:r>
              <a:rPr lang="en-US" sz="1200" dirty="0" err="1">
                <a:ea typeface="+mn-lt"/>
                <a:cs typeface="+mn-lt"/>
              </a:rPr>
              <a:t>obtener</a:t>
            </a:r>
            <a:r>
              <a:rPr lang="en-US" sz="1200" dirty="0">
                <a:ea typeface="+mn-lt"/>
                <a:cs typeface="+mn-lt"/>
              </a:rPr>
              <a:t> un divisor de </a:t>
            </a:r>
            <a:r>
              <a:rPr lang="en-US" sz="1200" dirty="0" err="1">
                <a:ea typeface="+mn-lt"/>
                <a:cs typeface="+mn-lt"/>
              </a:rPr>
              <a:t>potencia</a:t>
            </a:r>
            <a:r>
              <a:rPr lang="en-US" sz="1200" dirty="0">
                <a:ea typeface="+mn-lt"/>
                <a:cs typeface="+mn-lt"/>
              </a:rPr>
              <a:t> 50/50, la </a:t>
            </a:r>
            <a:r>
              <a:rPr lang="en-US" sz="1200" dirty="0" err="1">
                <a:ea typeface="+mn-lt"/>
                <a:cs typeface="+mn-lt"/>
              </a:rPr>
              <a:t>longitud</a:t>
            </a:r>
            <a:r>
              <a:rPr lang="en-US" sz="1200" dirty="0">
                <a:ea typeface="+mn-lt"/>
                <a:cs typeface="+mn-lt"/>
              </a:rPr>
              <a:t> del </a:t>
            </a:r>
            <a:r>
              <a:rPr lang="en-US" sz="1200" dirty="0" err="1">
                <a:ea typeface="+mn-lt"/>
                <a:cs typeface="+mn-lt"/>
              </a:rPr>
              <a:t>acoplador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debe</a:t>
            </a:r>
            <a:r>
              <a:rPr lang="en-US" sz="1200" dirty="0">
                <a:ea typeface="+mn-lt"/>
                <a:cs typeface="+mn-lt"/>
              </a:rPr>
              <a:t> ser Lπ/2</a:t>
            </a:r>
            <a:endParaRPr lang="en-US" sz="1200" dirty="0">
              <a:latin typeface="Calibri"/>
              <a:ea typeface="Calibri"/>
              <a:cs typeface="Calibri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D9C65D4-5494-F5CE-1094-CB0A32C33876}"/>
              </a:ext>
            </a:extLst>
          </p:cNvPr>
          <p:cNvSpPr txBox="1"/>
          <p:nvPr/>
        </p:nvSpPr>
        <p:spPr>
          <a:xfrm>
            <a:off x="3909688" y="2609722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L/</a:t>
            </a:r>
            <a:r>
              <a:rPr lang="en-US" dirty="0" err="1"/>
              <a:t>Lpi</a:t>
            </a:r>
            <a:r>
              <a:rPr lang="en-US" dirty="0"/>
              <a:t> vs K plot here</a:t>
            </a:r>
          </a:p>
        </p:txBody>
      </p:sp>
      <p:pic>
        <p:nvPicPr>
          <p:cNvPr id="6" name="Imagen 5" descr="Forma&#10;&#10;Descripción generada automáticamente con confianza media">
            <a:extLst>
              <a:ext uri="{FF2B5EF4-FFF2-40B4-BE49-F238E27FC236}">
                <a16:creationId xmlns:a16="http://schemas.microsoft.com/office/drawing/2014/main" id="{380A8455-6386-C7D5-7BB6-B79D8D91F0E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588" y="1626040"/>
            <a:ext cx="3383313" cy="983682"/>
          </a:xfrm>
          <a:prstGeom prst="rect">
            <a:avLst/>
          </a:prstGeom>
        </p:spPr>
      </p:pic>
      <p:pic>
        <p:nvPicPr>
          <p:cNvPr id="4" name="Imagen 3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C3C63B46-4874-A1A7-8B5D-A66E630E77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4641" y="1562300"/>
            <a:ext cx="3802719" cy="301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6240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2x2 Directional Coupler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 1.55 µm – Sweep gaps between 0.2 and 1.2 µm in steps of 0.2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830997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200" dirty="0">
                <a:ea typeface="+mn-lt"/>
                <a:cs typeface="+mn-lt"/>
              </a:rPr>
              <a:t>Se </a:t>
            </a:r>
            <a:r>
              <a:rPr lang="en-US" sz="1200" dirty="0" err="1">
                <a:ea typeface="+mn-lt"/>
                <a:cs typeface="+mn-lt"/>
              </a:rPr>
              <a:t>obtiene</a:t>
            </a:r>
            <a:r>
              <a:rPr lang="en-US" sz="1200" dirty="0">
                <a:ea typeface="+mn-lt"/>
                <a:cs typeface="+mn-lt"/>
              </a:rPr>
              <a:t> un </a:t>
            </a:r>
            <a:r>
              <a:rPr lang="en-US" sz="1200" dirty="0" err="1">
                <a:ea typeface="+mn-lt"/>
                <a:cs typeface="+mn-lt"/>
              </a:rPr>
              <a:t>acoplador</a:t>
            </a:r>
            <a:r>
              <a:rPr lang="en-US" sz="1200" dirty="0">
                <a:ea typeface="+mn-lt"/>
                <a:cs typeface="+mn-lt"/>
              </a:rPr>
              <a:t> 2x2 50/50 con Lπ≈94 </a:t>
            </a:r>
            <a:r>
              <a:rPr lang="en-US" sz="1200" dirty="0" err="1">
                <a:ea typeface="+mn-lt"/>
                <a:cs typeface="+mn-lt"/>
              </a:rPr>
              <a:t>μm</a:t>
            </a:r>
            <a:r>
              <a:rPr lang="en-US" sz="1200" dirty="0">
                <a:ea typeface="+mn-lt"/>
                <a:cs typeface="+mn-lt"/>
              </a:rPr>
              <a:t>, </a:t>
            </a:r>
            <a:r>
              <a:rPr lang="en-US" sz="1200" dirty="0" err="1">
                <a:ea typeface="+mn-lt"/>
                <a:cs typeface="+mn-lt"/>
              </a:rPr>
              <a:t>utilizando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una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longitud</a:t>
            </a:r>
            <a:r>
              <a:rPr lang="en-US" sz="1200" dirty="0">
                <a:ea typeface="+mn-lt"/>
                <a:cs typeface="+mn-lt"/>
              </a:rPr>
              <a:t> L=Lπ/2, lo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da </a:t>
            </a:r>
            <a:r>
              <a:rPr lang="en-US" sz="1200" dirty="0" err="1">
                <a:ea typeface="+mn-lt"/>
                <a:cs typeface="+mn-lt"/>
              </a:rPr>
              <a:t>lugar</a:t>
            </a:r>
            <a:r>
              <a:rPr lang="en-US" sz="1200" dirty="0">
                <a:ea typeface="+mn-lt"/>
                <a:cs typeface="+mn-lt"/>
              </a:rPr>
              <a:t> a </a:t>
            </a:r>
            <a:r>
              <a:rPr lang="en-US" sz="1200" dirty="0" err="1">
                <a:ea typeface="+mn-lt"/>
                <a:cs typeface="+mn-lt"/>
              </a:rPr>
              <a:t>una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división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equilibrada</a:t>
            </a:r>
            <a:r>
              <a:rPr lang="en-US" sz="1200" dirty="0">
                <a:ea typeface="+mn-lt"/>
                <a:cs typeface="+mn-lt"/>
              </a:rPr>
              <a:t> de </a:t>
            </a:r>
            <a:r>
              <a:rPr lang="en-US" sz="1200" dirty="0" err="1">
                <a:ea typeface="+mn-lt"/>
                <a:cs typeface="+mn-lt"/>
              </a:rPr>
              <a:t>potencia</a:t>
            </a:r>
            <a:r>
              <a:rPr lang="en-US" sz="1200" dirty="0">
                <a:ea typeface="+mn-lt"/>
                <a:cs typeface="+mn-lt"/>
              </a:rPr>
              <a:t> (∼0.5/0.5) con </a:t>
            </a:r>
            <a:r>
              <a:rPr lang="en-US" sz="1200" dirty="0" err="1">
                <a:ea typeface="+mn-lt"/>
                <a:cs typeface="+mn-lt"/>
              </a:rPr>
              <a:t>pérdidas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bajas</a:t>
            </a:r>
            <a:r>
              <a:rPr lang="en-US" sz="1200" dirty="0">
                <a:ea typeface="+mn-lt"/>
                <a:cs typeface="+mn-lt"/>
              </a:rPr>
              <a:t> (~0.18 dB). La </a:t>
            </a:r>
            <a:r>
              <a:rPr lang="en-US" sz="1200" dirty="0" err="1">
                <a:ea typeface="+mn-lt"/>
                <a:cs typeface="+mn-lt"/>
              </a:rPr>
              <a:t>propagación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muestra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intercambio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periódico</a:t>
            </a:r>
            <a:r>
              <a:rPr lang="en-US" sz="1200" dirty="0">
                <a:ea typeface="+mn-lt"/>
                <a:cs typeface="+mn-lt"/>
              </a:rPr>
              <a:t> de </a:t>
            </a:r>
            <a:r>
              <a:rPr lang="en-US" sz="1200" dirty="0" err="1">
                <a:ea typeface="+mn-lt"/>
                <a:cs typeface="+mn-lt"/>
              </a:rPr>
              <a:t>energía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debido</a:t>
            </a:r>
            <a:r>
              <a:rPr lang="en-US" sz="1200" dirty="0">
                <a:ea typeface="+mn-lt"/>
                <a:cs typeface="+mn-lt"/>
              </a:rPr>
              <a:t> a la </a:t>
            </a:r>
            <a:r>
              <a:rPr lang="en-US" sz="1200" dirty="0" err="1">
                <a:ea typeface="+mn-lt"/>
                <a:cs typeface="+mn-lt"/>
              </a:rPr>
              <a:t>interferencia</a:t>
            </a:r>
            <a:r>
              <a:rPr lang="en-US" sz="1200" dirty="0">
                <a:ea typeface="+mn-lt"/>
                <a:cs typeface="+mn-lt"/>
              </a:rPr>
              <a:t> entre </a:t>
            </a:r>
            <a:r>
              <a:rPr lang="en-US" sz="1200" dirty="0" err="1">
                <a:ea typeface="+mn-lt"/>
                <a:cs typeface="+mn-lt"/>
              </a:rPr>
              <a:t>modos</a:t>
            </a:r>
            <a:r>
              <a:rPr lang="en-US" sz="1200" dirty="0">
                <a:ea typeface="+mn-lt"/>
                <a:cs typeface="+mn-lt"/>
              </a:rPr>
              <a:t> par e impar. Al </a:t>
            </a:r>
            <a:r>
              <a:rPr lang="en-US" sz="1200" dirty="0" err="1">
                <a:ea typeface="+mn-lt"/>
                <a:cs typeface="+mn-lt"/>
              </a:rPr>
              <a:t>aumentar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gap,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acoplamiento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disminuye</a:t>
            </a:r>
            <a:r>
              <a:rPr lang="en-US" sz="1200" dirty="0">
                <a:ea typeface="+mn-lt"/>
                <a:cs typeface="+mn-lt"/>
              </a:rPr>
              <a:t> y Lπ </a:t>
            </a:r>
            <a:r>
              <a:rPr lang="en-US" sz="1200" dirty="0" err="1">
                <a:ea typeface="+mn-lt"/>
                <a:cs typeface="+mn-lt"/>
              </a:rPr>
              <a:t>crece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significativamente</a:t>
            </a:r>
            <a:r>
              <a:rPr lang="en-US" sz="1200" dirty="0">
                <a:ea typeface="+mn-lt"/>
                <a:cs typeface="+mn-lt"/>
              </a:rPr>
              <a:t> (de ~20 µm a ~330 µm), </a:t>
            </a:r>
            <a:r>
              <a:rPr lang="en-US" sz="1200" dirty="0" err="1">
                <a:ea typeface="+mn-lt"/>
                <a:cs typeface="+mn-lt"/>
              </a:rPr>
              <a:t>confirmando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gap </a:t>
            </a:r>
            <a:r>
              <a:rPr lang="en-US" sz="1200" dirty="0" err="1">
                <a:ea typeface="+mn-lt"/>
                <a:cs typeface="+mn-lt"/>
              </a:rPr>
              <a:t>controla</a:t>
            </a:r>
            <a:r>
              <a:rPr lang="en-US" sz="1200" dirty="0">
                <a:ea typeface="+mn-lt"/>
                <a:cs typeface="+mn-lt"/>
              </a:rPr>
              <a:t> la </a:t>
            </a:r>
            <a:r>
              <a:rPr lang="en-US" sz="1200" dirty="0" err="1">
                <a:ea typeface="+mn-lt"/>
                <a:cs typeface="+mn-lt"/>
              </a:rPr>
              <a:t>intensidad</a:t>
            </a:r>
            <a:r>
              <a:rPr lang="en-US" sz="1200" dirty="0">
                <a:ea typeface="+mn-lt"/>
                <a:cs typeface="+mn-lt"/>
              </a:rPr>
              <a:t> del </a:t>
            </a:r>
            <a:r>
              <a:rPr lang="en-US" sz="1200" dirty="0" err="1">
                <a:ea typeface="+mn-lt"/>
                <a:cs typeface="+mn-lt"/>
              </a:rPr>
              <a:t>acoplamiento</a:t>
            </a:r>
            <a:r>
              <a:rPr lang="en-US" sz="1200" dirty="0">
                <a:ea typeface="+mn-lt"/>
                <a:cs typeface="+mn-lt"/>
              </a:rPr>
              <a:t>.</a:t>
            </a:r>
            <a:endParaRPr lang="es-ES" dirty="0"/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6AA8E46-9ACF-16AC-3488-6CA4962E1F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159" y="1476814"/>
            <a:ext cx="5101079" cy="3187194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E4BC672-E73E-1314-8E3F-C73A76F0B1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7950" y="1451800"/>
            <a:ext cx="4119045" cy="3237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3268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Parallel uncoupled waveguides – TE0 mode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 1.55 µm, width 1.0 µm, gap to be found for uncoupled </a:t>
            </a:r>
            <a:r>
              <a:rPr lang="en-US" b="0" dirty="0" err="1"/>
              <a:t>wvgs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627196"/>
            <a:ext cx="11199971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200" dirty="0">
                <a:ea typeface="+mn-lt"/>
                <a:cs typeface="+mn-lt"/>
              </a:rPr>
              <a:t>Para </a:t>
            </a:r>
            <a:r>
              <a:rPr lang="en-US" sz="1200" dirty="0" err="1">
                <a:ea typeface="+mn-lt"/>
                <a:cs typeface="+mn-lt"/>
              </a:rPr>
              <a:t>evitar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acoplamiento</a:t>
            </a:r>
            <a:r>
              <a:rPr lang="en-US" sz="1200" dirty="0">
                <a:ea typeface="+mn-lt"/>
                <a:cs typeface="+mn-lt"/>
              </a:rPr>
              <a:t> (K &lt; 0.01) </a:t>
            </a:r>
            <a:r>
              <a:rPr lang="en-US" sz="1200" dirty="0" err="1">
                <a:ea typeface="+mn-lt"/>
                <a:cs typeface="+mn-lt"/>
              </a:rPr>
              <a:t>en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una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longitud</a:t>
            </a:r>
            <a:r>
              <a:rPr lang="en-US" sz="1200" dirty="0">
                <a:ea typeface="+mn-lt"/>
                <a:cs typeface="+mn-lt"/>
              </a:rPr>
              <a:t> de 10 mm, se </a:t>
            </a:r>
            <a:r>
              <a:rPr lang="en-US" sz="1200" dirty="0" err="1">
                <a:ea typeface="+mn-lt"/>
                <a:cs typeface="+mn-lt"/>
              </a:rPr>
              <a:t>requiere</a:t>
            </a:r>
            <a:r>
              <a:rPr lang="en-US" sz="1200" dirty="0">
                <a:ea typeface="+mn-lt"/>
                <a:cs typeface="+mn-lt"/>
              </a:rPr>
              <a:t> un Lπ≈156.82 </a:t>
            </a:r>
            <a:r>
              <a:rPr lang="en-US" sz="1200" dirty="0" err="1">
                <a:ea typeface="+mn-lt"/>
                <a:cs typeface="+mn-lt"/>
              </a:rPr>
              <a:t>μm</a:t>
            </a:r>
            <a:r>
              <a:rPr lang="en-US" sz="1200" dirty="0">
                <a:ea typeface="+mn-lt"/>
                <a:cs typeface="+mn-lt"/>
              </a:rPr>
              <a:t>. En </a:t>
            </a:r>
            <a:r>
              <a:rPr lang="en-US" sz="1200" dirty="0" err="1">
                <a:ea typeface="+mn-lt"/>
                <a:cs typeface="+mn-lt"/>
              </a:rPr>
              <a:t>guías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b="1" dirty="0">
                <a:ea typeface="+mn-lt"/>
                <a:cs typeface="+mn-lt"/>
              </a:rPr>
              <a:t>deep</a:t>
            </a:r>
            <a:r>
              <a:rPr lang="en-US" sz="1200" dirty="0">
                <a:ea typeface="+mn-lt"/>
                <a:cs typeface="+mn-lt"/>
              </a:rPr>
              <a:t>, la </a:t>
            </a:r>
            <a:r>
              <a:rPr lang="en-US" sz="1200" dirty="0" err="1">
                <a:ea typeface="+mn-lt"/>
                <a:cs typeface="+mn-lt"/>
              </a:rPr>
              <a:t>brecha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mínima</a:t>
            </a:r>
            <a:r>
              <a:rPr lang="en-US" sz="1200" dirty="0">
                <a:ea typeface="+mn-lt"/>
                <a:cs typeface="+mn-lt"/>
              </a:rPr>
              <a:t> es ≈0.97 µm (Lπ≈169.4 </a:t>
            </a:r>
            <a:r>
              <a:rPr lang="en-US" sz="1200" dirty="0" err="1">
                <a:ea typeface="+mn-lt"/>
                <a:cs typeface="+mn-lt"/>
              </a:rPr>
              <a:t>μm</a:t>
            </a:r>
            <a:r>
              <a:rPr lang="en-US" sz="1200" dirty="0">
                <a:ea typeface="+mn-lt"/>
                <a:cs typeface="+mn-lt"/>
              </a:rPr>
              <a:t>, K≈0.0086), </a:t>
            </a:r>
            <a:r>
              <a:rPr lang="en-US" sz="1200" dirty="0" err="1">
                <a:ea typeface="+mn-lt"/>
                <a:cs typeface="+mn-lt"/>
              </a:rPr>
              <a:t>mientras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b="1" dirty="0">
                <a:ea typeface="+mn-lt"/>
                <a:cs typeface="+mn-lt"/>
              </a:rPr>
              <a:t>shallow</a:t>
            </a:r>
            <a:r>
              <a:rPr lang="en-US" sz="1200" dirty="0">
                <a:ea typeface="+mn-lt"/>
                <a:cs typeface="+mn-lt"/>
              </a:rPr>
              <a:t> es mayor, ≈1.34 µm (Lπ≈165.1 </a:t>
            </a:r>
            <a:r>
              <a:rPr lang="en-US" sz="1200" dirty="0" err="1">
                <a:ea typeface="+mn-lt"/>
                <a:cs typeface="+mn-lt"/>
              </a:rPr>
              <a:t>μm</a:t>
            </a:r>
            <a:r>
              <a:rPr lang="en-US" sz="1200" dirty="0">
                <a:ea typeface="+mn-lt"/>
                <a:cs typeface="+mn-lt"/>
              </a:rPr>
              <a:t>, K≈0.0090). Esto </a:t>
            </a:r>
            <a:r>
              <a:rPr lang="en-US" sz="1200" dirty="0" err="1">
                <a:ea typeface="+mn-lt"/>
                <a:cs typeface="+mn-lt"/>
              </a:rPr>
              <a:t>confirma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las </a:t>
            </a:r>
            <a:r>
              <a:rPr lang="en-US" sz="1200" dirty="0" err="1">
                <a:ea typeface="+mn-lt"/>
                <a:cs typeface="+mn-lt"/>
              </a:rPr>
              <a:t>guías</a:t>
            </a:r>
            <a:r>
              <a:rPr lang="en-US" sz="1200" dirty="0">
                <a:ea typeface="+mn-lt"/>
                <a:cs typeface="+mn-lt"/>
              </a:rPr>
              <a:t> shallow </a:t>
            </a:r>
            <a:r>
              <a:rPr lang="en-US" sz="1200" dirty="0" err="1">
                <a:ea typeface="+mn-lt"/>
                <a:cs typeface="+mn-lt"/>
              </a:rPr>
              <a:t>presentan</a:t>
            </a:r>
            <a:r>
              <a:rPr lang="en-US" sz="1200" dirty="0">
                <a:ea typeface="+mn-lt"/>
                <a:cs typeface="+mn-lt"/>
              </a:rPr>
              <a:t> mayor </a:t>
            </a:r>
            <a:r>
              <a:rPr lang="en-US" sz="1200" dirty="0" err="1">
                <a:ea typeface="+mn-lt"/>
                <a:cs typeface="+mn-lt"/>
              </a:rPr>
              <a:t>acoplamiento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evanescente</a:t>
            </a:r>
            <a:r>
              <a:rPr lang="en-US" sz="1200" dirty="0">
                <a:ea typeface="+mn-lt"/>
                <a:cs typeface="+mn-lt"/>
              </a:rPr>
              <a:t> y </a:t>
            </a:r>
            <a:r>
              <a:rPr lang="en-US" sz="1200" dirty="0" err="1">
                <a:ea typeface="+mn-lt"/>
                <a:cs typeface="+mn-lt"/>
              </a:rPr>
              <a:t>requieren</a:t>
            </a:r>
            <a:r>
              <a:rPr lang="en-US" sz="1200" dirty="0">
                <a:ea typeface="+mn-lt"/>
                <a:cs typeface="+mn-lt"/>
              </a:rPr>
              <a:t> mayor </a:t>
            </a:r>
            <a:r>
              <a:rPr lang="en-US" sz="1200" dirty="0" err="1">
                <a:ea typeface="+mn-lt"/>
                <a:cs typeface="+mn-lt"/>
              </a:rPr>
              <a:t>separación</a:t>
            </a:r>
            <a:r>
              <a:rPr lang="en-US" sz="1200" dirty="0">
                <a:ea typeface="+mn-lt"/>
                <a:cs typeface="+mn-lt"/>
              </a:rPr>
              <a:t> para </a:t>
            </a:r>
            <a:r>
              <a:rPr lang="en-US" sz="1200" dirty="0" err="1">
                <a:ea typeface="+mn-lt"/>
                <a:cs typeface="+mn-lt"/>
              </a:rPr>
              <a:t>desacoplarse</a:t>
            </a:r>
            <a:r>
              <a:rPr lang="en-US" sz="1200" dirty="0">
                <a:ea typeface="+mn-lt"/>
                <a:cs typeface="+mn-lt"/>
              </a:rPr>
              <a:t>. En ambos </a:t>
            </a:r>
            <a:r>
              <a:rPr lang="en-US" sz="1200" dirty="0" err="1">
                <a:ea typeface="+mn-lt"/>
                <a:cs typeface="+mn-lt"/>
              </a:rPr>
              <a:t>casos</a:t>
            </a:r>
            <a:r>
              <a:rPr lang="en-US" sz="1200" dirty="0">
                <a:ea typeface="+mn-lt"/>
                <a:cs typeface="+mn-lt"/>
              </a:rPr>
              <a:t>,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aumento</a:t>
            </a:r>
            <a:r>
              <a:rPr lang="en-US" sz="1200" dirty="0">
                <a:ea typeface="+mn-lt"/>
                <a:cs typeface="+mn-lt"/>
              </a:rPr>
              <a:t> del gap reduce </a:t>
            </a:r>
            <a:r>
              <a:rPr lang="en-US" sz="1200" dirty="0" err="1">
                <a:ea typeface="+mn-lt"/>
                <a:cs typeface="+mn-lt"/>
              </a:rPr>
              <a:t>exponencialmente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acoplamiento</a:t>
            </a:r>
            <a:r>
              <a:rPr lang="en-US" sz="1200" dirty="0">
                <a:ea typeface="+mn-lt"/>
                <a:cs typeface="+mn-lt"/>
              </a:rPr>
              <a:t>, </a:t>
            </a:r>
            <a:r>
              <a:rPr lang="en-US" sz="1200" dirty="0" err="1">
                <a:ea typeface="+mn-lt"/>
                <a:cs typeface="+mn-lt"/>
              </a:rPr>
              <a:t>controlando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eficazmente</a:t>
            </a:r>
            <a:r>
              <a:rPr lang="en-US" sz="1200" dirty="0">
                <a:ea typeface="+mn-lt"/>
                <a:cs typeface="+mn-lt"/>
              </a:rPr>
              <a:t> la </a:t>
            </a:r>
            <a:r>
              <a:rPr lang="en-US" sz="1200" dirty="0" err="1">
                <a:ea typeface="+mn-lt"/>
                <a:cs typeface="+mn-lt"/>
              </a:rPr>
              <a:t>interacción</a:t>
            </a:r>
            <a:r>
              <a:rPr lang="en-US" sz="1200" dirty="0">
                <a:ea typeface="+mn-lt"/>
                <a:cs typeface="+mn-lt"/>
              </a:rPr>
              <a:t> entre </a:t>
            </a:r>
            <a:r>
              <a:rPr lang="en-US" sz="1200" dirty="0" err="1">
                <a:ea typeface="+mn-lt"/>
                <a:cs typeface="+mn-lt"/>
              </a:rPr>
              <a:t>guías</a:t>
            </a:r>
            <a:r>
              <a:rPr lang="en-US" sz="1200" dirty="0">
                <a:ea typeface="+mn-lt"/>
                <a:cs typeface="+mn-lt"/>
              </a:rPr>
              <a:t>.</a:t>
            </a:r>
            <a:endParaRPr lang="es-ES" dirty="0">
              <a:ea typeface="+mn-lt"/>
              <a:cs typeface="+mn-lt"/>
            </a:endParaRPr>
          </a:p>
          <a:p>
            <a:pPr algn="just"/>
            <a:endParaRPr lang="en-US" sz="1200" dirty="0">
              <a:latin typeface="Calibri"/>
              <a:ea typeface="Calibri"/>
              <a:cs typeface="Calibri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B4B77A0-B37C-3130-FB52-4E560C66946F}"/>
              </a:ext>
            </a:extLst>
          </p:cNvPr>
          <p:cNvSpPr/>
          <p:nvPr/>
        </p:nvSpPr>
        <p:spPr>
          <a:xfrm>
            <a:off x="609441" y="12192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A7ECAA3-0876-C0FB-D7E5-448FCC5ED226}"/>
              </a:ext>
            </a:extLst>
          </p:cNvPr>
          <p:cNvSpPr/>
          <p:nvPr/>
        </p:nvSpPr>
        <p:spPr>
          <a:xfrm>
            <a:off x="6321424" y="12192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1467207-8D05-D4C6-EBD2-209F796AE977}"/>
                  </a:ext>
                </a:extLst>
              </p:cNvPr>
              <p:cNvSpPr txBox="1"/>
              <p:nvPr/>
            </p:nvSpPr>
            <p:spPr>
              <a:xfrm>
                <a:off x="1079403" y="2480496"/>
                <a:ext cx="4546634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vs gap for 10 mm </a:t>
                </a:r>
                <a:r>
                  <a:rPr lang="en-US" dirty="0" err="1"/>
                  <a:t>wvgs</a:t>
                </a:r>
                <a:r>
                  <a:rPr lang="en-US" dirty="0"/>
                  <a:t> to be uncoupled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1467207-8D05-D4C6-EBD2-209F796AE9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03" y="2480496"/>
                <a:ext cx="4546634" cy="1477328"/>
              </a:xfrm>
              <a:prstGeom prst="rect">
                <a:avLst/>
              </a:prstGeom>
              <a:blipFill>
                <a:blip r:embed="rId5"/>
                <a:stretch>
                  <a:fillRect t="-247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32E39C0C-95E1-ED90-891A-5D634D9DB76B}"/>
                  </a:ext>
                </a:extLst>
              </p:cNvPr>
              <p:cNvSpPr txBox="1"/>
              <p:nvPr/>
            </p:nvSpPr>
            <p:spPr>
              <a:xfrm>
                <a:off x="6883366" y="2480496"/>
                <a:ext cx="4546634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r>
                  <a:rPr lang="en-US" dirty="0" err="1"/>
                  <a:t>slab_thickness</a:t>
                </a:r>
                <a:r>
                  <a:rPr lang="en-US" dirty="0"/>
                  <a:t> = 150 nm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r>
                      <a:rPr lang="es-E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vs gap for 10 mm </a:t>
                </a:r>
                <a:r>
                  <a:rPr lang="en-US" dirty="0" err="1"/>
                  <a:t>wvgs</a:t>
                </a:r>
                <a:r>
                  <a:rPr lang="en-US" dirty="0"/>
                  <a:t> to be uncoupled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32E39C0C-95E1-ED90-891A-5D634D9DB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366" y="2480496"/>
                <a:ext cx="4546634" cy="1477328"/>
              </a:xfrm>
              <a:prstGeom prst="rect">
                <a:avLst/>
              </a:prstGeom>
              <a:blipFill>
                <a:blip r:embed="rId6"/>
                <a:stretch>
                  <a:fillRect t="-2479" b="-578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n 5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6581E837-1498-EA2F-40FC-433D65B52F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7785" y="1216638"/>
            <a:ext cx="4202597" cy="3310538"/>
          </a:xfrm>
          <a:prstGeom prst="rect">
            <a:avLst/>
          </a:prstGeom>
        </p:spPr>
      </p:pic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94B9BBB1-B16A-9FAF-F5C7-85D3BD0E7EE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2638" y="1221440"/>
            <a:ext cx="4283850" cy="3316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D4982-2E99-3EE0-CEBE-CEF54821C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D29C4-F13C-8947-EF1D-2CBDDD14AC5C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8A4EFD1-1AF6-F17D-1B27-5115800F99B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  <p:sp>
        <p:nvSpPr>
          <p:cNvPr id="6" name="Título 4">
            <a:extLst>
              <a:ext uri="{FF2B5EF4-FFF2-40B4-BE49-F238E27FC236}">
                <a16:creationId xmlns:a16="http://schemas.microsoft.com/office/drawing/2014/main" id="{8111062F-F9A0-241E-6CCB-6E8BE4D8C6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52650"/>
            <a:ext cx="10972800" cy="430887"/>
          </a:xfrm>
        </p:spPr>
        <p:txBody>
          <a:bodyPr/>
          <a:lstStyle/>
          <a:p>
            <a:pPr algn="ctr"/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Multimode Interferometer (MMI) Coupler</a:t>
            </a:r>
          </a:p>
        </p:txBody>
      </p:sp>
    </p:spTree>
    <p:extLst>
      <p:ext uri="{BB962C8B-B14F-4D97-AF65-F5344CB8AC3E}">
        <p14:creationId xmlns:p14="http://schemas.microsoft.com/office/powerpoint/2010/main" val="3873318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#5 – Multimode Interference (MMI) Coupler cross-section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Marcador de texto 2">
                <a:extLst>
                  <a:ext uri="{FF2B5EF4-FFF2-40B4-BE49-F238E27FC236}">
                    <a16:creationId xmlns:a16="http://schemas.microsoft.com/office/drawing/2014/main" id="{D838A93A-BFC8-0124-93CE-FDC193435A0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8012" y="1295400"/>
                <a:ext cx="11048999" cy="4958137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0">
                  <a:defRPr>
                    <a:latin typeface="+mn-lt"/>
                    <a:ea typeface="+mn-ea"/>
                    <a:cs typeface="+mn-cs"/>
                  </a:defRPr>
                </a:lvl1pPr>
                <a:lvl2pPr marL="457200">
                  <a:defRPr>
                    <a:latin typeface="+mn-lt"/>
                    <a:ea typeface="+mn-ea"/>
                    <a:cs typeface="+mn-cs"/>
                  </a:defRPr>
                </a:lvl2pPr>
                <a:lvl3pPr marL="914400">
                  <a:defRPr>
                    <a:latin typeface="+mn-lt"/>
                    <a:ea typeface="+mn-ea"/>
                    <a:cs typeface="+mn-cs"/>
                  </a:defRPr>
                </a:lvl3pPr>
                <a:lvl4pPr marL="1371600">
                  <a:defRPr>
                    <a:latin typeface="+mn-lt"/>
                    <a:ea typeface="+mn-ea"/>
                    <a:cs typeface="+mn-cs"/>
                  </a:defRPr>
                </a:lvl4pPr>
                <a:lvl5pPr marL="1828800">
                  <a:defRPr>
                    <a:latin typeface="+mn-lt"/>
                    <a:ea typeface="+mn-ea"/>
                    <a:cs typeface="+mn-cs"/>
                  </a:defRPr>
                </a:lvl5pPr>
                <a:lvl6pPr marL="2286000">
                  <a:defRPr>
                    <a:latin typeface="+mn-lt"/>
                    <a:ea typeface="+mn-ea"/>
                    <a:cs typeface="+mn-cs"/>
                  </a:defRPr>
                </a:lvl6pPr>
                <a:lvl7pPr marL="2743200">
                  <a:defRPr>
                    <a:latin typeface="+mn-lt"/>
                    <a:ea typeface="+mn-ea"/>
                    <a:cs typeface="+mn-cs"/>
                  </a:defRPr>
                </a:lvl7pPr>
                <a:lvl8pPr marL="3200400">
                  <a:defRPr>
                    <a:latin typeface="+mn-lt"/>
                    <a:ea typeface="+mn-ea"/>
                    <a:cs typeface="+mn-cs"/>
                  </a:defRPr>
                </a:lvl8pPr>
                <a:lvl9pPr marL="3657600">
                  <a:defRPr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b="1" dirty="0"/>
                  <a:t>INSTRUCTOR: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Present Python and </a:t>
                </a:r>
                <a:r>
                  <a:rPr lang="en-US" sz="2000" dirty="0" err="1"/>
                  <a:t>GDSFactory</a:t>
                </a:r>
                <a:r>
                  <a:rPr lang="en-US" sz="2000" dirty="0"/>
                  <a:t> implementation of DC cross-section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Describe how to obtain the length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2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Describe the outputs.</a:t>
                </a:r>
              </a:p>
              <a:p>
                <a:pPr marL="0" indent="0" algn="just">
                  <a:buNone/>
                </a:pPr>
                <a:r>
                  <a:rPr lang="en-US" sz="2000" b="1" dirty="0"/>
                  <a:t>ALL EXAMPLE #2: </a:t>
                </a:r>
                <a:r>
                  <a:rPr lang="en-US" sz="2000" dirty="0"/>
                  <a:t>waveguide width 12 µm, gap between waveguides 0.6 µm, deep </a:t>
                </a:r>
                <a:r>
                  <a:rPr lang="en-US" sz="2000" dirty="0" err="1"/>
                  <a:t>wvg</a:t>
                </a:r>
                <a:r>
                  <a:rPr lang="en-US" sz="2000" dirty="0"/>
                  <a:t>, wavelength start and end same 1.55 µm </a:t>
                </a:r>
                <a:r>
                  <a:rPr lang="en-US" sz="2000" dirty="0">
                    <a:sym typeface="Wingdings" pitchFamily="2" charset="2"/>
                  </a:rPr>
                  <a:t> all ”Run”</a:t>
                </a:r>
                <a:endParaRPr lang="en-US" sz="2000" dirty="0"/>
              </a:p>
              <a:p>
                <a:pPr marL="0" indent="0" algn="just">
                  <a:buNone/>
                </a:pPr>
                <a:r>
                  <a:rPr lang="en-US" sz="2000" b="1" dirty="0"/>
                  <a:t>ALL: </a:t>
                </a:r>
                <a:r>
                  <a:rPr lang="en-US" sz="2000" dirty="0"/>
                  <a:t>Follow</a:t>
                </a:r>
                <a:r>
                  <a:rPr lang="en-US" sz="2000" b="1" dirty="0"/>
                  <a:t> </a:t>
                </a:r>
                <a:r>
                  <a:rPr lang="en-US" sz="2000" dirty="0"/>
                  <a:t>instructor, that will show how to 1) plot mode, 2) explore the results (neff …)</a:t>
                </a:r>
              </a:p>
              <a:p>
                <a:pPr algn="just"/>
                <a:endParaRPr lang="en-US" sz="2000" b="1" i="1" u="sng" dirty="0"/>
              </a:p>
              <a:p>
                <a:pPr algn="just"/>
                <a:endParaRPr lang="en-US" sz="2000" kern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4" name="Marcador de texto 2">
                <a:extLst>
                  <a:ext uri="{FF2B5EF4-FFF2-40B4-BE49-F238E27FC236}">
                    <a16:creationId xmlns:a16="http://schemas.microsoft.com/office/drawing/2014/main" id="{D838A93A-BFC8-0124-93CE-FDC193435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012" y="1295400"/>
                <a:ext cx="11048999" cy="4958137"/>
              </a:xfrm>
              <a:prstGeom prst="rect">
                <a:avLst/>
              </a:prstGeom>
              <a:blipFill>
                <a:blip r:embed="rId5"/>
                <a:stretch>
                  <a:fillRect l="-607" t="-738" r="-552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532601" y="4732267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200" dirty="0">
                <a:ea typeface="+mn-lt"/>
                <a:cs typeface="+mn-lt"/>
              </a:rPr>
              <a:t>La </a:t>
            </a:r>
            <a:r>
              <a:rPr lang="en-US" sz="1200" dirty="0" err="1">
                <a:ea typeface="+mn-lt"/>
                <a:cs typeface="+mn-lt"/>
              </a:rPr>
              <a:t>sección</a:t>
            </a:r>
            <a:r>
              <a:rPr lang="en-US" sz="1200" dirty="0">
                <a:ea typeface="+mn-lt"/>
                <a:cs typeface="+mn-lt"/>
              </a:rPr>
              <a:t> MMI (w = 12 µm) </a:t>
            </a:r>
            <a:r>
              <a:rPr lang="en-US" sz="1200" dirty="0" err="1">
                <a:ea typeface="+mn-lt"/>
                <a:cs typeface="+mn-lt"/>
              </a:rPr>
              <a:t>soporta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múltiples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modos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guiados</a:t>
            </a:r>
            <a:r>
              <a:rPr lang="en-US" sz="1200" dirty="0">
                <a:ea typeface="+mn-lt"/>
                <a:cs typeface="+mn-lt"/>
              </a:rPr>
              <a:t> con </a:t>
            </a:r>
            <a:r>
              <a:rPr lang="en-US" sz="1200" dirty="0" err="1">
                <a:ea typeface="+mn-lt"/>
                <a:cs typeface="+mn-lt"/>
              </a:rPr>
              <a:t>índices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efectivos</a:t>
            </a:r>
            <a:r>
              <a:rPr lang="en-US" sz="1200" dirty="0">
                <a:ea typeface="+mn-lt"/>
                <a:cs typeface="+mn-lt"/>
              </a:rPr>
              <a:t> entre ≈1.68 y 1.50, </a:t>
            </a:r>
            <a:r>
              <a:rPr lang="en-US" sz="1200" dirty="0" err="1">
                <a:ea typeface="+mn-lt"/>
                <a:cs typeface="+mn-lt"/>
              </a:rPr>
              <a:t>siendo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mayoritariamente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modos</a:t>
            </a:r>
            <a:r>
              <a:rPr lang="en-US" sz="1200" dirty="0">
                <a:ea typeface="+mn-lt"/>
                <a:cs typeface="+mn-lt"/>
              </a:rPr>
              <a:t> TE (</a:t>
            </a:r>
            <a:r>
              <a:rPr lang="en-US" sz="1200" dirty="0" err="1">
                <a:ea typeface="+mn-lt"/>
                <a:cs typeface="+mn-lt"/>
              </a:rPr>
              <a:t>fracción</a:t>
            </a:r>
            <a:r>
              <a:rPr lang="en-US" sz="1200" dirty="0">
                <a:ea typeface="+mn-lt"/>
                <a:cs typeface="+mn-lt"/>
              </a:rPr>
              <a:t> TE ≈ 1). Los </a:t>
            </a:r>
            <a:r>
              <a:rPr lang="en-US" sz="1200" dirty="0" err="1">
                <a:ea typeface="+mn-lt"/>
                <a:cs typeface="+mn-lt"/>
              </a:rPr>
              <a:t>perfiles</a:t>
            </a:r>
            <a:r>
              <a:rPr lang="en-US" sz="1200" dirty="0">
                <a:ea typeface="+mn-lt"/>
                <a:cs typeface="+mn-lt"/>
              </a:rPr>
              <a:t> de campo </a:t>
            </a:r>
            <a:r>
              <a:rPr lang="en-US" sz="1200" dirty="0" err="1">
                <a:ea typeface="+mn-lt"/>
                <a:cs typeface="+mn-lt"/>
              </a:rPr>
              <a:t>muestran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patrones</a:t>
            </a:r>
            <a:r>
              <a:rPr lang="en-US" sz="1200" dirty="0">
                <a:ea typeface="+mn-lt"/>
                <a:cs typeface="+mn-lt"/>
              </a:rPr>
              <a:t> de </a:t>
            </a:r>
            <a:r>
              <a:rPr lang="en-US" sz="1200" dirty="0" err="1">
                <a:ea typeface="+mn-lt"/>
                <a:cs typeface="+mn-lt"/>
              </a:rPr>
              <a:t>interferencia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espacial</a:t>
            </a:r>
            <a:r>
              <a:rPr lang="en-US" sz="1200" dirty="0">
                <a:ea typeface="+mn-lt"/>
                <a:cs typeface="+mn-lt"/>
              </a:rPr>
              <a:t> (</a:t>
            </a:r>
            <a:r>
              <a:rPr lang="en-US" sz="1200" dirty="0" err="1">
                <a:ea typeface="+mn-lt"/>
                <a:cs typeface="+mn-lt"/>
              </a:rPr>
              <a:t>modos</a:t>
            </a:r>
            <a:r>
              <a:rPr lang="en-US" sz="1200" dirty="0">
                <a:ea typeface="+mn-lt"/>
                <a:cs typeface="+mn-lt"/>
              </a:rPr>
              <a:t> par/impar y de </a:t>
            </a:r>
            <a:r>
              <a:rPr lang="en-US" sz="1200" dirty="0" err="1">
                <a:ea typeface="+mn-lt"/>
                <a:cs typeface="+mn-lt"/>
              </a:rPr>
              <a:t>orden</a:t>
            </a:r>
            <a:r>
              <a:rPr lang="en-US" sz="1200" dirty="0">
                <a:ea typeface="+mn-lt"/>
                <a:cs typeface="+mn-lt"/>
              </a:rPr>
              <a:t> superior) </a:t>
            </a:r>
            <a:r>
              <a:rPr lang="en-US" sz="1200" dirty="0" err="1">
                <a:ea typeface="+mn-lt"/>
                <a:cs typeface="+mn-lt"/>
              </a:rPr>
              <a:t>responsables</a:t>
            </a:r>
            <a:r>
              <a:rPr lang="en-US" sz="1200" dirty="0">
                <a:ea typeface="+mn-lt"/>
                <a:cs typeface="+mn-lt"/>
              </a:rPr>
              <a:t> del auto-imaging. A </a:t>
            </a:r>
            <a:r>
              <a:rPr lang="en-US" sz="1200" dirty="0" err="1">
                <a:ea typeface="+mn-lt"/>
                <a:cs typeface="+mn-lt"/>
              </a:rPr>
              <a:t>partir</a:t>
            </a:r>
            <a:r>
              <a:rPr lang="en-US" sz="1200" dirty="0">
                <a:ea typeface="+mn-lt"/>
                <a:cs typeface="+mn-lt"/>
              </a:rPr>
              <a:t> de </a:t>
            </a:r>
            <a:r>
              <a:rPr lang="en-US" sz="1200" dirty="0" err="1">
                <a:ea typeface="+mn-lt"/>
                <a:cs typeface="+mn-lt"/>
              </a:rPr>
              <a:t>los</a:t>
            </a:r>
            <a:r>
              <a:rPr lang="en-US" sz="1200" dirty="0">
                <a:ea typeface="+mn-lt"/>
                <a:cs typeface="+mn-lt"/>
              </a:rPr>
              <a:t> dos primeros </a:t>
            </a:r>
            <a:r>
              <a:rPr lang="en-US" sz="1200" dirty="0" err="1">
                <a:ea typeface="+mn-lt"/>
                <a:cs typeface="+mn-lt"/>
              </a:rPr>
              <a:t>modos</a:t>
            </a:r>
            <a:r>
              <a:rPr lang="en-US" sz="1200" dirty="0">
                <a:ea typeface="+mn-lt"/>
                <a:cs typeface="+mn-lt"/>
              </a:rPr>
              <a:t> se </a:t>
            </a:r>
            <a:r>
              <a:rPr lang="en-US" sz="1200" dirty="0" err="1">
                <a:ea typeface="+mn-lt"/>
                <a:cs typeface="+mn-lt"/>
              </a:rPr>
              <a:t>obtiene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una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longitud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característica</a:t>
            </a:r>
            <a:r>
              <a:rPr lang="en-US" sz="1200" dirty="0">
                <a:ea typeface="+mn-lt"/>
                <a:cs typeface="+mn-lt"/>
              </a:rPr>
              <a:t> Lπ≈219.4 </a:t>
            </a:r>
            <a:r>
              <a:rPr lang="en-US" sz="1200" dirty="0" err="1">
                <a:ea typeface="+mn-lt"/>
                <a:cs typeface="+mn-lt"/>
              </a:rPr>
              <a:t>μm</a:t>
            </a:r>
            <a:r>
              <a:rPr lang="en-US" sz="1200" dirty="0">
                <a:ea typeface="+mn-lt"/>
                <a:cs typeface="+mn-lt"/>
              </a:rPr>
              <a:t>,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define la </a:t>
            </a:r>
            <a:r>
              <a:rPr lang="en-US" sz="1200" dirty="0" err="1">
                <a:ea typeface="+mn-lt"/>
                <a:cs typeface="+mn-lt"/>
              </a:rPr>
              <a:t>periodicidad</a:t>
            </a:r>
            <a:r>
              <a:rPr lang="en-US" sz="1200" dirty="0">
                <a:ea typeface="+mn-lt"/>
                <a:cs typeface="+mn-lt"/>
              </a:rPr>
              <a:t> de la </a:t>
            </a:r>
            <a:r>
              <a:rPr lang="en-US" sz="1200" dirty="0" err="1">
                <a:ea typeface="+mn-lt"/>
                <a:cs typeface="+mn-lt"/>
              </a:rPr>
              <a:t>interferencia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multimodo</a:t>
            </a:r>
            <a:r>
              <a:rPr lang="en-US" sz="1200" dirty="0">
                <a:ea typeface="+mn-lt"/>
                <a:cs typeface="+mn-lt"/>
              </a:rPr>
              <a:t>. Este valor es clave para </a:t>
            </a:r>
            <a:r>
              <a:rPr lang="en-US" sz="1200" dirty="0" err="1">
                <a:ea typeface="+mn-lt"/>
                <a:cs typeface="+mn-lt"/>
              </a:rPr>
              <a:t>diseñar</a:t>
            </a:r>
            <a:r>
              <a:rPr lang="en-US" sz="1200" dirty="0">
                <a:ea typeface="+mn-lt"/>
                <a:cs typeface="+mn-lt"/>
              </a:rPr>
              <a:t> la </a:t>
            </a:r>
            <a:r>
              <a:rPr lang="en-US" sz="1200" dirty="0" err="1">
                <a:ea typeface="+mn-lt"/>
                <a:cs typeface="+mn-lt"/>
              </a:rPr>
              <a:t>longitud</a:t>
            </a:r>
            <a:r>
              <a:rPr lang="en-US" sz="1200" dirty="0">
                <a:ea typeface="+mn-lt"/>
                <a:cs typeface="+mn-lt"/>
              </a:rPr>
              <a:t> del MMI y </a:t>
            </a:r>
            <a:r>
              <a:rPr lang="en-US" sz="1200" dirty="0" err="1">
                <a:ea typeface="+mn-lt"/>
                <a:cs typeface="+mn-lt"/>
              </a:rPr>
              <a:t>obtener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divisores</a:t>
            </a:r>
            <a:r>
              <a:rPr lang="en-US" sz="1200" dirty="0">
                <a:ea typeface="+mn-lt"/>
                <a:cs typeface="+mn-lt"/>
              </a:rPr>
              <a:t> de </a:t>
            </a:r>
            <a:r>
              <a:rPr lang="en-US" sz="1200" dirty="0" err="1">
                <a:ea typeface="+mn-lt"/>
                <a:cs typeface="+mn-lt"/>
              </a:rPr>
              <a:t>potencia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controlados</a:t>
            </a:r>
            <a:r>
              <a:rPr lang="en-US" sz="1200" dirty="0">
                <a:ea typeface="+mn-lt"/>
                <a:cs typeface="+mn-lt"/>
              </a:rPr>
              <a:t>.</a:t>
            </a:r>
            <a:endParaRPr lang="es-ES" dirty="0"/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24515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55427-574B-EB0A-FE20-1C4D6B841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FDC3E96-49BE-7B02-2773-A7932D8C25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#5 – Multimode Interference (MMI) Coupler cross-section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82BA411-0B81-07E0-9E43-CBB22AD4B7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AACE153-9246-78DA-E410-6E50ECB5BAC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548D2D5-DEA7-E4CD-2828-724997EC87E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pic>
        <p:nvPicPr>
          <p:cNvPr id="5" name="Imagen 4" descr="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02857F7C-F798-2B65-6313-E74F147493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034" y="1026819"/>
            <a:ext cx="2854939" cy="2031707"/>
          </a:xfrm>
          <a:prstGeom prst="rect">
            <a:avLst/>
          </a:prstGeom>
        </p:spPr>
      </p:pic>
      <p:pic>
        <p:nvPicPr>
          <p:cNvPr id="6" name="Imagen 5" descr="Imagen que contiene Gráfico&#10;&#10;El contenido generado por IA puede ser incorrecto.">
            <a:extLst>
              <a:ext uri="{FF2B5EF4-FFF2-40B4-BE49-F238E27FC236}">
                <a16:creationId xmlns:a16="http://schemas.microsoft.com/office/drawing/2014/main" id="{5EFA86D3-8737-0D71-F04B-17DAA06A20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4997" y="1044428"/>
            <a:ext cx="2889438" cy="2016099"/>
          </a:xfrm>
          <a:prstGeom prst="rect">
            <a:avLst/>
          </a:prstGeom>
        </p:spPr>
      </p:pic>
      <p:pic>
        <p:nvPicPr>
          <p:cNvPr id="7" name="Imagen 6" descr="Gráfico, Aplicación&#10;&#10;El contenido generado por IA puede ser incorrecto.">
            <a:extLst>
              <a:ext uri="{FF2B5EF4-FFF2-40B4-BE49-F238E27FC236}">
                <a16:creationId xmlns:a16="http://schemas.microsoft.com/office/drawing/2014/main" id="{2C36E8AA-F381-030F-A8BD-7D625D2825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3312" y="1119668"/>
            <a:ext cx="2898963" cy="2028585"/>
          </a:xfrm>
          <a:prstGeom prst="rect">
            <a:avLst/>
          </a:prstGeom>
        </p:spPr>
      </p:pic>
      <p:pic>
        <p:nvPicPr>
          <p:cNvPr id="8" name="Imagen 7" descr="Texto&#10;&#10;El contenido generado por IA puede ser incorrecto.">
            <a:extLst>
              <a:ext uri="{FF2B5EF4-FFF2-40B4-BE49-F238E27FC236}">
                <a16:creationId xmlns:a16="http://schemas.microsoft.com/office/drawing/2014/main" id="{6B012DAA-9CE5-90D1-FD89-FC8C6D3281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77191" y="3845899"/>
            <a:ext cx="6719927" cy="1614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0188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F7C0E-2677-BADF-D636-6F9B71E66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2B8D44BF-A3B5-6BED-C39C-FA8260E835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#6 – 6.1 2x2 Multimode Interference Coupler 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5DFCF1AD-6B06-F914-AC0B-80F0ED838E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A656CCE-66E0-EAE0-5C63-DF1315DF629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3AB6581-C493-80EB-A67F-5289454DAA2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B5029729-ADF3-3B30-4FF9-83BE1DB82BD7}"/>
              </a:ext>
            </a:extLst>
          </p:cNvPr>
          <p:cNvSpPr txBox="1"/>
          <p:nvPr/>
        </p:nvSpPr>
        <p:spPr>
          <a:xfrm>
            <a:off x="609441" y="4819471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200" dirty="0">
                <a:ea typeface="+mn-lt"/>
                <a:cs typeface="+mn-lt"/>
              </a:rPr>
              <a:t>El </a:t>
            </a:r>
            <a:r>
              <a:rPr lang="en-US" sz="1200" dirty="0" err="1">
                <a:ea typeface="+mn-lt"/>
                <a:cs typeface="+mn-lt"/>
              </a:rPr>
              <a:t>acoplador</a:t>
            </a:r>
            <a:r>
              <a:rPr lang="en-US" sz="1200" dirty="0">
                <a:ea typeface="+mn-lt"/>
                <a:cs typeface="+mn-lt"/>
              </a:rPr>
              <a:t> MMI 2x2 (w = 6.6 µm) </a:t>
            </a:r>
            <a:r>
              <a:rPr lang="en-US" sz="1200" dirty="0" err="1">
                <a:ea typeface="+mn-lt"/>
                <a:cs typeface="+mn-lt"/>
              </a:rPr>
              <a:t>presenta</a:t>
            </a:r>
            <a:r>
              <a:rPr lang="en-US" sz="1200" dirty="0">
                <a:ea typeface="+mn-lt"/>
                <a:cs typeface="+mn-lt"/>
              </a:rPr>
              <a:t> un </a:t>
            </a:r>
            <a:r>
              <a:rPr lang="en-US" sz="1200" dirty="0" err="1">
                <a:ea typeface="+mn-lt"/>
                <a:cs typeface="+mn-lt"/>
              </a:rPr>
              <a:t>patrón</a:t>
            </a:r>
            <a:r>
              <a:rPr lang="en-US" sz="1200" dirty="0">
                <a:ea typeface="+mn-lt"/>
                <a:cs typeface="+mn-lt"/>
              </a:rPr>
              <a:t> de </a:t>
            </a:r>
            <a:r>
              <a:rPr lang="en-US" sz="1200" dirty="0" err="1">
                <a:ea typeface="+mn-lt"/>
                <a:cs typeface="+mn-lt"/>
              </a:rPr>
              <a:t>interferencia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multimodo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redistribuye</a:t>
            </a:r>
            <a:r>
              <a:rPr lang="en-US" sz="1200" dirty="0">
                <a:ea typeface="+mn-lt"/>
                <a:cs typeface="+mn-lt"/>
              </a:rPr>
              <a:t> la </a:t>
            </a:r>
            <a:r>
              <a:rPr lang="en-US" sz="1200" dirty="0" err="1">
                <a:ea typeface="+mn-lt"/>
                <a:cs typeface="+mn-lt"/>
              </a:rPr>
              <a:t>potencia</a:t>
            </a:r>
            <a:r>
              <a:rPr lang="en-US" sz="1200" dirty="0">
                <a:ea typeface="+mn-lt"/>
                <a:cs typeface="+mn-lt"/>
              </a:rPr>
              <a:t> entre las </a:t>
            </a:r>
            <a:r>
              <a:rPr lang="en-US" sz="1200" dirty="0" err="1">
                <a:ea typeface="+mn-lt"/>
                <a:cs typeface="+mn-lt"/>
              </a:rPr>
              <a:t>salidas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mediante</a:t>
            </a:r>
            <a:r>
              <a:rPr lang="en-US" sz="1200" dirty="0">
                <a:ea typeface="+mn-lt"/>
                <a:cs typeface="+mn-lt"/>
              </a:rPr>
              <a:t> auto-imaging, con </a:t>
            </a:r>
            <a:r>
              <a:rPr lang="en-US" sz="1200" dirty="0" err="1">
                <a:ea typeface="+mn-lt"/>
                <a:cs typeface="+mn-lt"/>
              </a:rPr>
              <a:t>una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longitud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característica</a:t>
            </a:r>
            <a:r>
              <a:rPr lang="en-US" sz="1200" dirty="0">
                <a:ea typeface="+mn-lt"/>
                <a:cs typeface="+mn-lt"/>
              </a:rPr>
              <a:t> Lπ≈69.0 </a:t>
            </a:r>
            <a:r>
              <a:rPr lang="en-US" sz="1200" dirty="0" err="1">
                <a:ea typeface="+mn-lt"/>
                <a:cs typeface="+mn-lt"/>
              </a:rPr>
              <a:t>μm</a:t>
            </a:r>
            <a:r>
              <a:rPr lang="en-US" sz="1200" dirty="0">
                <a:ea typeface="+mn-lt"/>
                <a:cs typeface="+mn-lt"/>
              </a:rPr>
              <a:t>. </a:t>
            </a:r>
            <a:r>
              <a:rPr lang="en-US" sz="1200" dirty="0" err="1">
                <a:ea typeface="+mn-lt"/>
                <a:cs typeface="+mn-lt"/>
              </a:rPr>
              <a:t>Usando</a:t>
            </a:r>
            <a:r>
              <a:rPr lang="en-US" sz="1200" dirty="0">
                <a:ea typeface="+mn-lt"/>
                <a:cs typeface="+mn-lt"/>
              </a:rPr>
              <a:t> L=Lπ/2≈34.5 </a:t>
            </a:r>
            <a:r>
              <a:rPr lang="en-US" sz="1200" dirty="0" err="1">
                <a:ea typeface="+mn-lt"/>
                <a:cs typeface="+mn-lt"/>
              </a:rPr>
              <a:t>μm</a:t>
            </a:r>
            <a:r>
              <a:rPr lang="en-US" sz="1200" dirty="0">
                <a:ea typeface="+mn-lt"/>
                <a:cs typeface="+mn-lt"/>
              </a:rPr>
              <a:t> se </a:t>
            </a:r>
            <a:r>
              <a:rPr lang="en-US" sz="1200" dirty="0" err="1">
                <a:ea typeface="+mn-lt"/>
                <a:cs typeface="+mn-lt"/>
              </a:rPr>
              <a:t>obtiene</a:t>
            </a:r>
            <a:r>
              <a:rPr lang="en-US" sz="1200" dirty="0">
                <a:ea typeface="+mn-lt"/>
                <a:cs typeface="+mn-lt"/>
              </a:rPr>
              <a:t> un divisor </a:t>
            </a:r>
            <a:r>
              <a:rPr lang="en-US" sz="1200" dirty="0" err="1">
                <a:ea typeface="+mn-lt"/>
                <a:cs typeface="+mn-lt"/>
              </a:rPr>
              <a:t>cercano</a:t>
            </a:r>
            <a:r>
              <a:rPr lang="en-US" sz="1200" dirty="0">
                <a:ea typeface="+mn-lt"/>
                <a:cs typeface="+mn-lt"/>
              </a:rPr>
              <a:t> a 50/50, con </a:t>
            </a:r>
            <a:r>
              <a:rPr lang="en-US" sz="1200" dirty="0" err="1">
                <a:ea typeface="+mn-lt"/>
                <a:cs typeface="+mn-lt"/>
              </a:rPr>
              <a:t>potencias</a:t>
            </a:r>
            <a:r>
              <a:rPr lang="en-US" sz="1200" dirty="0">
                <a:ea typeface="+mn-lt"/>
                <a:cs typeface="+mn-lt"/>
              </a:rPr>
              <a:t> ≈0.47/0.44 y ratios ≈0.52/0.48. Las </a:t>
            </a:r>
            <a:r>
              <a:rPr lang="en-US" sz="1200" dirty="0" err="1">
                <a:ea typeface="+mn-lt"/>
                <a:cs typeface="+mn-lt"/>
              </a:rPr>
              <a:t>pérdidas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totales</a:t>
            </a:r>
            <a:r>
              <a:rPr lang="en-US" sz="1200" dirty="0">
                <a:ea typeface="+mn-lt"/>
                <a:cs typeface="+mn-lt"/>
              </a:rPr>
              <a:t> son </a:t>
            </a:r>
            <a:r>
              <a:rPr lang="en-US" sz="1200" dirty="0" err="1">
                <a:ea typeface="+mn-lt"/>
                <a:cs typeface="+mn-lt"/>
              </a:rPr>
              <a:t>moderadas</a:t>
            </a:r>
            <a:r>
              <a:rPr lang="en-US" sz="1200" dirty="0">
                <a:ea typeface="+mn-lt"/>
                <a:cs typeface="+mn-lt"/>
              </a:rPr>
              <a:t> (~0.42 dB), </a:t>
            </a:r>
            <a:r>
              <a:rPr lang="en-US" sz="1200" dirty="0" err="1">
                <a:ea typeface="+mn-lt"/>
                <a:cs typeface="+mn-lt"/>
              </a:rPr>
              <a:t>debidas</a:t>
            </a:r>
            <a:r>
              <a:rPr lang="en-US" sz="1200" dirty="0">
                <a:ea typeface="+mn-lt"/>
                <a:cs typeface="+mn-lt"/>
              </a:rPr>
              <a:t> a </a:t>
            </a:r>
            <a:r>
              <a:rPr lang="en-US" sz="1200" dirty="0" err="1">
                <a:ea typeface="+mn-lt"/>
                <a:cs typeface="+mn-lt"/>
              </a:rPr>
              <a:t>desajustes</a:t>
            </a:r>
            <a:r>
              <a:rPr lang="en-US" sz="1200" dirty="0">
                <a:ea typeface="+mn-lt"/>
                <a:cs typeface="+mn-lt"/>
              </a:rPr>
              <a:t> y </a:t>
            </a:r>
            <a:r>
              <a:rPr lang="en-US" sz="1200" dirty="0" err="1">
                <a:ea typeface="+mn-lt"/>
                <a:cs typeface="+mn-lt"/>
              </a:rPr>
              <a:t>radiación</a:t>
            </a:r>
            <a:r>
              <a:rPr lang="en-US" sz="1200" dirty="0">
                <a:ea typeface="+mn-lt"/>
                <a:cs typeface="+mn-lt"/>
              </a:rPr>
              <a:t> modal. </a:t>
            </a:r>
            <a:r>
              <a:rPr lang="en-US" sz="1200" dirty="0" err="1">
                <a:ea typeface="+mn-lt"/>
                <a:cs typeface="+mn-lt"/>
              </a:rPr>
              <a:t>Frente</a:t>
            </a:r>
            <a:r>
              <a:rPr lang="en-US" sz="1200" dirty="0">
                <a:ea typeface="+mn-lt"/>
                <a:cs typeface="+mn-lt"/>
              </a:rPr>
              <a:t> al directional coupler,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MMI es </a:t>
            </a:r>
            <a:r>
              <a:rPr lang="en-US" sz="1200" dirty="0" err="1">
                <a:ea typeface="+mn-lt"/>
                <a:cs typeface="+mn-lt"/>
              </a:rPr>
              <a:t>más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tolerante</a:t>
            </a:r>
            <a:r>
              <a:rPr lang="en-US" sz="1200" dirty="0">
                <a:ea typeface="+mn-lt"/>
                <a:cs typeface="+mn-lt"/>
              </a:rPr>
              <a:t> a </a:t>
            </a:r>
            <a:r>
              <a:rPr lang="en-US" sz="1200" dirty="0" err="1">
                <a:ea typeface="+mn-lt"/>
                <a:cs typeface="+mn-lt"/>
              </a:rPr>
              <a:t>variaciones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geométricas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pero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menos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preciso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balance ideal de </a:t>
            </a:r>
            <a:r>
              <a:rPr lang="en-US" sz="1200" dirty="0" err="1">
                <a:ea typeface="+mn-lt"/>
                <a:cs typeface="+mn-lt"/>
              </a:rPr>
              <a:t>potencia</a:t>
            </a:r>
            <a:r>
              <a:rPr lang="en-US" sz="1200" dirty="0">
                <a:ea typeface="+mn-lt"/>
                <a:cs typeface="+mn-lt"/>
              </a:rPr>
              <a:t>.</a:t>
            </a:r>
            <a:endParaRPr lang="es-ES" dirty="0"/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98DE5FDA-4E91-E843-E84A-1467BFAA9986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n 3" descr="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2DB642EE-D104-8365-EFF8-B86FF45C62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0006" y="1479176"/>
            <a:ext cx="3833047" cy="310563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002BF7E3-24D6-4F7E-E8B5-ABDEF8C0B9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5229" y="2886315"/>
            <a:ext cx="3448050" cy="295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6794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11DBE-A482-7036-60B2-70B7E2318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C096193E-AB86-E3CD-BDAC-0F9156C1A3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#6.2 – 2x2 Multimode Interference Coupler - Optimization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2D17DCD6-D851-E62D-D95C-A9F9954602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891046F-11DC-B7FC-54F7-9583E688DC0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C9BAA39-017F-D602-6705-A6CF44830139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3D7D9E5-DAC3-2BB8-7377-826863CBAD4E}"/>
              </a:ext>
            </a:extLst>
          </p:cNvPr>
          <p:cNvSpPr txBox="1"/>
          <p:nvPr/>
        </p:nvSpPr>
        <p:spPr>
          <a:xfrm>
            <a:off x="609441" y="4819471"/>
            <a:ext cx="11199971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200" dirty="0">
                <a:ea typeface="+mn-lt"/>
                <a:cs typeface="+mn-lt"/>
              </a:rPr>
              <a:t>Con </a:t>
            </a:r>
            <a:r>
              <a:rPr lang="en-US" sz="1200" dirty="0" err="1">
                <a:ea typeface="+mn-lt"/>
                <a:cs typeface="+mn-lt"/>
              </a:rPr>
              <a:t>una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optimización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más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fina</a:t>
            </a:r>
            <a:r>
              <a:rPr lang="en-US" sz="1200" dirty="0">
                <a:ea typeface="+mn-lt"/>
                <a:cs typeface="+mn-lt"/>
              </a:rPr>
              <a:t> (</a:t>
            </a:r>
            <a:r>
              <a:rPr lang="en-US" sz="1200" dirty="0" err="1">
                <a:ea typeface="+mn-lt"/>
                <a:cs typeface="+mn-lt"/>
              </a:rPr>
              <a:t>dLMMI</a:t>
            </a:r>
            <a:r>
              <a:rPr lang="en-US" sz="1200" dirty="0">
                <a:ea typeface="+mn-lt"/>
                <a:cs typeface="+mn-lt"/>
              </a:rPr>
              <a:t>=−0.5 </a:t>
            </a:r>
            <a:r>
              <a:rPr lang="en-US" sz="1200" dirty="0" err="1">
                <a:ea typeface="+mn-lt"/>
                <a:cs typeface="+mn-lt"/>
              </a:rPr>
              <a:t>μm</a:t>
            </a:r>
            <a:r>
              <a:rPr lang="en-US" sz="1200" dirty="0">
                <a:ea typeface="+mn-lt"/>
                <a:cs typeface="+mn-lt"/>
              </a:rPr>
              <a:t>, </a:t>
            </a:r>
            <a:r>
              <a:rPr lang="en-US" sz="1200" dirty="0" err="1">
                <a:ea typeface="+mn-lt"/>
                <a:cs typeface="+mn-lt"/>
              </a:rPr>
              <a:t>dy</a:t>
            </a:r>
            <a:r>
              <a:rPr lang="en-US" sz="1200" dirty="0">
                <a:ea typeface="+mn-lt"/>
                <a:cs typeface="+mn-lt"/>
              </a:rPr>
              <a:t>=0.03), se </a:t>
            </a:r>
            <a:r>
              <a:rPr lang="en-US" sz="1200" dirty="0" err="1">
                <a:ea typeface="+mn-lt"/>
                <a:cs typeface="+mn-lt"/>
              </a:rPr>
              <a:t>logra</a:t>
            </a:r>
            <a:r>
              <a:rPr lang="en-US" sz="1200" dirty="0">
                <a:ea typeface="+mn-lt"/>
                <a:cs typeface="+mn-lt"/>
              </a:rPr>
              <a:t> un </a:t>
            </a:r>
            <a:r>
              <a:rPr lang="en-US" sz="1200" dirty="0" err="1">
                <a:ea typeface="+mn-lt"/>
                <a:cs typeface="+mn-lt"/>
              </a:rPr>
              <a:t>mejor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compromiso</a:t>
            </a:r>
            <a:r>
              <a:rPr lang="en-US" sz="1200" dirty="0">
                <a:ea typeface="+mn-lt"/>
                <a:cs typeface="+mn-lt"/>
              </a:rPr>
              <a:t> entre balance y </a:t>
            </a:r>
            <a:r>
              <a:rPr lang="en-US" sz="1200" dirty="0" err="1">
                <a:ea typeface="+mn-lt"/>
                <a:cs typeface="+mn-lt"/>
              </a:rPr>
              <a:t>pérdidas</a:t>
            </a:r>
            <a:r>
              <a:rPr lang="en-US" sz="1200" dirty="0">
                <a:ea typeface="+mn-lt"/>
                <a:cs typeface="+mn-lt"/>
              </a:rPr>
              <a:t>, </a:t>
            </a:r>
            <a:r>
              <a:rPr lang="en-US" sz="1200" dirty="0" err="1">
                <a:ea typeface="+mn-lt"/>
                <a:cs typeface="+mn-lt"/>
              </a:rPr>
              <a:t>obteniendo</a:t>
            </a:r>
            <a:r>
              <a:rPr lang="en-US" sz="1200" dirty="0">
                <a:ea typeface="+mn-lt"/>
                <a:cs typeface="+mn-lt"/>
              </a:rPr>
              <a:t> ratios ≈0.507/0.493 (</a:t>
            </a:r>
            <a:r>
              <a:rPr lang="en-US" sz="1200" dirty="0" err="1">
                <a:ea typeface="+mn-lt"/>
                <a:cs typeface="+mn-lt"/>
              </a:rPr>
              <a:t>muy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cercano</a:t>
            </a:r>
            <a:r>
              <a:rPr lang="en-US" sz="1200" dirty="0">
                <a:ea typeface="+mn-lt"/>
                <a:cs typeface="+mn-lt"/>
              </a:rPr>
              <a:t> a 50/50) y </a:t>
            </a:r>
            <a:r>
              <a:rPr lang="en-US" sz="1200" dirty="0" err="1">
                <a:ea typeface="+mn-lt"/>
                <a:cs typeface="+mn-lt"/>
              </a:rPr>
              <a:t>potencias</a:t>
            </a:r>
            <a:r>
              <a:rPr lang="en-US" sz="1200" dirty="0">
                <a:ea typeface="+mn-lt"/>
                <a:cs typeface="+mn-lt"/>
              </a:rPr>
              <a:t> ≈0.46/0.45. Las </a:t>
            </a:r>
            <a:r>
              <a:rPr lang="en-US" sz="1200" dirty="0" err="1">
                <a:ea typeface="+mn-lt"/>
                <a:cs typeface="+mn-lt"/>
              </a:rPr>
              <a:t>pérdidas</a:t>
            </a:r>
            <a:r>
              <a:rPr lang="en-US" sz="1200" dirty="0">
                <a:ea typeface="+mn-lt"/>
                <a:cs typeface="+mn-lt"/>
              </a:rPr>
              <a:t> se </a:t>
            </a:r>
            <a:r>
              <a:rPr lang="en-US" sz="1200" dirty="0" err="1">
                <a:ea typeface="+mn-lt"/>
                <a:cs typeface="+mn-lt"/>
              </a:rPr>
              <a:t>reducen</a:t>
            </a:r>
            <a:r>
              <a:rPr lang="en-US" sz="1200" dirty="0">
                <a:ea typeface="+mn-lt"/>
                <a:cs typeface="+mn-lt"/>
              </a:rPr>
              <a:t> a ~0.39 dB, </a:t>
            </a:r>
            <a:r>
              <a:rPr lang="en-US" sz="1200" dirty="0" err="1">
                <a:ea typeface="+mn-lt"/>
                <a:cs typeface="+mn-lt"/>
              </a:rPr>
              <a:t>mejorando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respecto</a:t>
            </a:r>
            <a:r>
              <a:rPr lang="en-US" sz="1200" dirty="0">
                <a:ea typeface="+mn-lt"/>
                <a:cs typeface="+mn-lt"/>
              </a:rPr>
              <a:t> al </a:t>
            </a:r>
            <a:r>
              <a:rPr lang="en-US" sz="1200" dirty="0" err="1">
                <a:ea typeface="+mn-lt"/>
                <a:cs typeface="+mn-lt"/>
              </a:rPr>
              <a:t>ajuste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previo</a:t>
            </a:r>
            <a:r>
              <a:rPr lang="en-US" sz="1200" dirty="0">
                <a:ea typeface="+mn-lt"/>
                <a:cs typeface="+mn-lt"/>
              </a:rPr>
              <a:t>, lo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indica </a:t>
            </a:r>
            <a:r>
              <a:rPr lang="en-US" sz="1200" dirty="0" err="1">
                <a:ea typeface="+mn-lt"/>
                <a:cs typeface="+mn-lt"/>
              </a:rPr>
              <a:t>una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interferencia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multimodo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más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eficiente</a:t>
            </a:r>
            <a:r>
              <a:rPr lang="en-US" sz="1200" dirty="0">
                <a:ea typeface="+mn-lt"/>
                <a:cs typeface="+mn-lt"/>
              </a:rPr>
              <a:t>. La </a:t>
            </a:r>
            <a:r>
              <a:rPr lang="en-US" sz="1200" dirty="0" err="1">
                <a:ea typeface="+mn-lt"/>
                <a:cs typeface="+mn-lt"/>
              </a:rPr>
              <a:t>ligera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corrección</a:t>
            </a:r>
            <a:r>
              <a:rPr lang="en-US" sz="1200" dirty="0">
                <a:ea typeface="+mn-lt"/>
                <a:cs typeface="+mn-lt"/>
              </a:rPr>
              <a:t> de </a:t>
            </a:r>
            <a:r>
              <a:rPr lang="en-US" sz="1200" dirty="0" err="1">
                <a:ea typeface="+mn-lt"/>
                <a:cs typeface="+mn-lt"/>
              </a:rPr>
              <a:t>longitud</a:t>
            </a:r>
            <a:r>
              <a:rPr lang="en-US" sz="1200" dirty="0">
                <a:ea typeface="+mn-lt"/>
                <a:cs typeface="+mn-lt"/>
              </a:rPr>
              <a:t> y </a:t>
            </a:r>
            <a:r>
              <a:rPr lang="en-US" sz="1200" dirty="0" err="1">
                <a:ea typeface="+mn-lt"/>
                <a:cs typeface="+mn-lt"/>
              </a:rPr>
              <a:t>posición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permite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alinear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mejor</a:t>
            </a:r>
            <a:r>
              <a:rPr lang="en-US" sz="1200" dirty="0">
                <a:ea typeface="+mn-lt"/>
                <a:cs typeface="+mn-lt"/>
              </a:rPr>
              <a:t> la </a:t>
            </a:r>
            <a:r>
              <a:rPr lang="en-US" sz="1200" dirty="0" err="1">
                <a:ea typeface="+mn-lt"/>
                <a:cs typeface="+mn-lt"/>
              </a:rPr>
              <a:t>autoimagen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en</a:t>
            </a:r>
            <a:r>
              <a:rPr lang="en-US" sz="1200" dirty="0">
                <a:ea typeface="+mn-lt"/>
                <a:cs typeface="+mn-lt"/>
              </a:rPr>
              <a:t> las </a:t>
            </a:r>
            <a:r>
              <a:rPr lang="en-US" sz="1200" dirty="0" err="1">
                <a:ea typeface="+mn-lt"/>
                <a:cs typeface="+mn-lt"/>
              </a:rPr>
              <a:t>salidas</a:t>
            </a:r>
            <a:r>
              <a:rPr lang="en-US" sz="1200" dirty="0">
                <a:ea typeface="+mn-lt"/>
                <a:cs typeface="+mn-lt"/>
              </a:rPr>
              <a:t>. En conjunto, se </a:t>
            </a:r>
            <a:r>
              <a:rPr lang="en-US" sz="1200" dirty="0" err="1">
                <a:ea typeface="+mn-lt"/>
                <a:cs typeface="+mn-lt"/>
              </a:rPr>
              <a:t>confirma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pequeñas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variaciones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geométricas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tienen</a:t>
            </a:r>
            <a:r>
              <a:rPr lang="en-US" sz="1200" dirty="0">
                <a:ea typeface="+mn-lt"/>
                <a:cs typeface="+mn-lt"/>
              </a:rPr>
              <a:t> un </a:t>
            </a:r>
            <a:r>
              <a:rPr lang="en-US" sz="1200" dirty="0" err="1">
                <a:ea typeface="+mn-lt"/>
                <a:cs typeface="+mn-lt"/>
              </a:rPr>
              <a:t>impacto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crítico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rendimiento</a:t>
            </a:r>
            <a:r>
              <a:rPr lang="en-US" sz="1200" dirty="0">
                <a:ea typeface="+mn-lt"/>
                <a:cs typeface="+mn-lt"/>
              </a:rPr>
              <a:t> del MMI.</a:t>
            </a:r>
            <a:endParaRPr lang="es-ES" dirty="0"/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9772491E-4FFB-FFC3-C855-72A4B15F3E73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n 3" descr="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8B02CB76-36A3-A186-8175-41F427EEE0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3662" y="1415141"/>
            <a:ext cx="3817569" cy="3233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52157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A9819-E058-DC4F-FB99-88F20442D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1662E38-DE72-ADF3-A38E-08ED40DCC2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#6.3 – 2x2 Multimode Interference Coupler – Optimization (II)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1CD4B005-DA76-DF7C-8A51-CA16DFD2CA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B06F952-20FD-3223-6AB8-83339507AFE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B06152F-2A2C-A19B-581F-494FDFF33752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EF5B7948-A25A-9043-7061-DD15A9023924}"/>
              </a:ext>
            </a:extLst>
          </p:cNvPr>
          <p:cNvSpPr txBox="1"/>
          <p:nvPr/>
        </p:nvSpPr>
        <p:spPr>
          <a:xfrm>
            <a:off x="609441" y="4819471"/>
            <a:ext cx="11199971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200" dirty="0">
                <a:ea typeface="+mn-lt"/>
                <a:cs typeface="+mn-lt"/>
              </a:rPr>
              <a:t>Tras </a:t>
            </a:r>
            <a:r>
              <a:rPr lang="en-US" sz="1200" dirty="0" err="1">
                <a:ea typeface="+mn-lt"/>
                <a:cs typeface="+mn-lt"/>
              </a:rPr>
              <a:t>modificar</a:t>
            </a:r>
            <a:r>
              <a:rPr lang="en-US" sz="1200" dirty="0">
                <a:ea typeface="+mn-lt"/>
                <a:cs typeface="+mn-lt"/>
              </a:rPr>
              <a:t> también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ancho de las </a:t>
            </a:r>
            <a:r>
              <a:rPr lang="en-US" sz="1200" dirty="0" err="1">
                <a:ea typeface="+mn-lt"/>
                <a:cs typeface="+mn-lt"/>
              </a:rPr>
              <a:t>guías</a:t>
            </a:r>
            <a:r>
              <a:rPr lang="en-US" sz="1200" dirty="0">
                <a:ea typeface="+mn-lt"/>
                <a:cs typeface="+mn-lt"/>
              </a:rPr>
              <a:t> de entrada/</a:t>
            </a:r>
            <a:r>
              <a:rPr lang="en-US" sz="1200" dirty="0" err="1">
                <a:ea typeface="+mn-lt"/>
                <a:cs typeface="+mn-lt"/>
              </a:rPr>
              <a:t>salida</a:t>
            </a:r>
            <a:r>
              <a:rPr lang="en-US" sz="1200" dirty="0">
                <a:ea typeface="+mn-lt"/>
                <a:cs typeface="+mn-lt"/>
              </a:rPr>
              <a:t> (</a:t>
            </a:r>
            <a:r>
              <a:rPr lang="en-US" sz="1200" dirty="0" err="1">
                <a:ea typeface="+mn-lt"/>
                <a:cs typeface="+mn-lt"/>
              </a:rPr>
              <a:t>Δw</a:t>
            </a:r>
            <a:r>
              <a:rPr lang="en-US" sz="1200" dirty="0">
                <a:ea typeface="+mn-lt"/>
                <a:cs typeface="+mn-lt"/>
              </a:rPr>
              <a:t> = +0.6 µm) junto con </a:t>
            </a:r>
            <a:r>
              <a:rPr lang="en-US" sz="1200" dirty="0" err="1">
                <a:ea typeface="+mn-lt"/>
                <a:cs typeface="+mn-lt"/>
              </a:rPr>
              <a:t>ajustes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finos</a:t>
            </a:r>
            <a:r>
              <a:rPr lang="en-US" sz="1200" dirty="0">
                <a:ea typeface="+mn-lt"/>
                <a:cs typeface="+mn-lt"/>
              </a:rPr>
              <a:t> (</a:t>
            </a:r>
            <a:r>
              <a:rPr lang="en-US" sz="1200" dirty="0" err="1">
                <a:ea typeface="+mn-lt"/>
                <a:cs typeface="+mn-lt"/>
              </a:rPr>
              <a:t>dLMMI</a:t>
            </a:r>
            <a:r>
              <a:rPr lang="en-US" sz="1200" dirty="0">
                <a:ea typeface="+mn-lt"/>
                <a:cs typeface="+mn-lt"/>
              </a:rPr>
              <a:t>=−0.29, </a:t>
            </a:r>
            <a:r>
              <a:rPr lang="en-US" sz="1200" dirty="0" err="1">
                <a:ea typeface="+mn-lt"/>
                <a:cs typeface="+mn-lt"/>
              </a:rPr>
              <a:t>dy</a:t>
            </a:r>
            <a:r>
              <a:rPr lang="en-US" sz="1200" dirty="0">
                <a:ea typeface="+mn-lt"/>
                <a:cs typeface="+mn-lt"/>
              </a:rPr>
              <a:t>=0.045), se </a:t>
            </a:r>
            <a:r>
              <a:rPr lang="en-US" sz="1200" dirty="0" err="1">
                <a:ea typeface="+mn-lt"/>
                <a:cs typeface="+mn-lt"/>
              </a:rPr>
              <a:t>alcanza</a:t>
            </a:r>
            <a:r>
              <a:rPr lang="en-US" sz="1200" dirty="0">
                <a:ea typeface="+mn-lt"/>
                <a:cs typeface="+mn-lt"/>
              </a:rPr>
              <a:t> un </a:t>
            </a:r>
            <a:r>
              <a:rPr lang="en-US" sz="1200" dirty="0" err="1">
                <a:ea typeface="+mn-lt"/>
                <a:cs typeface="+mn-lt"/>
              </a:rPr>
              <a:t>comportamiento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casi</a:t>
            </a:r>
            <a:r>
              <a:rPr lang="en-US" sz="1200" dirty="0">
                <a:ea typeface="+mn-lt"/>
                <a:cs typeface="+mn-lt"/>
              </a:rPr>
              <a:t> ideal con ratios ≈0.509/0.491 y </a:t>
            </a:r>
            <a:r>
              <a:rPr lang="en-US" sz="1200" dirty="0" err="1">
                <a:ea typeface="+mn-lt"/>
                <a:cs typeface="+mn-lt"/>
              </a:rPr>
              <a:t>potencias</a:t>
            </a:r>
            <a:r>
              <a:rPr lang="en-US" sz="1200" dirty="0">
                <a:ea typeface="+mn-lt"/>
                <a:cs typeface="+mn-lt"/>
              </a:rPr>
              <a:t> ≈0.50/0.48. Las </a:t>
            </a:r>
            <a:r>
              <a:rPr lang="en-US" sz="1200" dirty="0" err="1">
                <a:ea typeface="+mn-lt"/>
                <a:cs typeface="+mn-lt"/>
              </a:rPr>
              <a:t>pérdidas</a:t>
            </a:r>
            <a:r>
              <a:rPr lang="en-US" sz="1200" dirty="0">
                <a:ea typeface="+mn-lt"/>
                <a:cs typeface="+mn-lt"/>
              </a:rPr>
              <a:t> se </a:t>
            </a:r>
            <a:r>
              <a:rPr lang="en-US" sz="1200" dirty="0" err="1">
                <a:ea typeface="+mn-lt"/>
                <a:cs typeface="+mn-lt"/>
              </a:rPr>
              <a:t>reducen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significativamente</a:t>
            </a:r>
            <a:r>
              <a:rPr lang="en-US" sz="1200" dirty="0">
                <a:ea typeface="+mn-lt"/>
                <a:cs typeface="+mn-lt"/>
              </a:rPr>
              <a:t> hasta ~0.095 dB, </a:t>
            </a:r>
            <a:r>
              <a:rPr lang="en-US" sz="1200" dirty="0" err="1">
                <a:ea typeface="+mn-lt"/>
                <a:cs typeface="+mn-lt"/>
              </a:rPr>
              <a:t>cumpliendo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objetivo</a:t>
            </a:r>
            <a:r>
              <a:rPr lang="en-US" sz="1200" dirty="0">
                <a:ea typeface="+mn-lt"/>
                <a:cs typeface="+mn-lt"/>
              </a:rPr>
              <a:t> (&lt;0.1 dB) y </a:t>
            </a:r>
            <a:r>
              <a:rPr lang="en-US" sz="1200" dirty="0" err="1">
                <a:ea typeface="+mn-lt"/>
                <a:cs typeface="+mn-lt"/>
              </a:rPr>
              <a:t>mostrando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una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mejora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clara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eficiencia</a:t>
            </a:r>
            <a:r>
              <a:rPr lang="en-US" sz="1200" dirty="0">
                <a:ea typeface="+mn-lt"/>
                <a:cs typeface="+mn-lt"/>
              </a:rPr>
              <a:t>. El </a:t>
            </a:r>
            <a:r>
              <a:rPr lang="en-US" sz="1200" dirty="0" err="1">
                <a:ea typeface="+mn-lt"/>
                <a:cs typeface="+mn-lt"/>
              </a:rPr>
              <a:t>mejor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acoplo</a:t>
            </a:r>
            <a:r>
              <a:rPr lang="en-US" sz="1200" dirty="0">
                <a:ea typeface="+mn-lt"/>
                <a:cs typeface="+mn-lt"/>
              </a:rPr>
              <a:t> modal reduce </a:t>
            </a:r>
            <a:r>
              <a:rPr lang="en-US" sz="1200" dirty="0" err="1">
                <a:ea typeface="+mn-lt"/>
                <a:cs typeface="+mn-lt"/>
              </a:rPr>
              <a:t>reflexiones</a:t>
            </a:r>
            <a:r>
              <a:rPr lang="en-US" sz="1200" dirty="0">
                <a:ea typeface="+mn-lt"/>
                <a:cs typeface="+mn-lt"/>
              </a:rPr>
              <a:t> y </a:t>
            </a:r>
            <a:r>
              <a:rPr lang="en-US" sz="1200" dirty="0" err="1">
                <a:ea typeface="+mn-lt"/>
                <a:cs typeface="+mn-lt"/>
              </a:rPr>
              <a:t>desajustes</a:t>
            </a:r>
            <a:r>
              <a:rPr lang="en-US" sz="1200" dirty="0">
                <a:ea typeface="+mn-lt"/>
                <a:cs typeface="+mn-lt"/>
              </a:rPr>
              <a:t> entre la </a:t>
            </a:r>
            <a:r>
              <a:rPr lang="en-US" sz="1200" dirty="0" err="1">
                <a:ea typeface="+mn-lt"/>
                <a:cs typeface="+mn-lt"/>
              </a:rPr>
              <a:t>región</a:t>
            </a:r>
            <a:r>
              <a:rPr lang="en-US" sz="1200" dirty="0">
                <a:ea typeface="+mn-lt"/>
                <a:cs typeface="+mn-lt"/>
              </a:rPr>
              <a:t> MMI y las </a:t>
            </a:r>
            <a:r>
              <a:rPr lang="en-US" sz="1200" dirty="0" err="1">
                <a:ea typeface="+mn-lt"/>
                <a:cs typeface="+mn-lt"/>
              </a:rPr>
              <a:t>guías</a:t>
            </a:r>
            <a:r>
              <a:rPr lang="en-US" sz="1200" dirty="0">
                <a:ea typeface="+mn-lt"/>
                <a:cs typeface="+mn-lt"/>
              </a:rPr>
              <a:t> I/O. En conjunto, </a:t>
            </a:r>
            <a:r>
              <a:rPr lang="en-US" sz="1200" dirty="0" err="1">
                <a:ea typeface="+mn-lt"/>
                <a:cs typeface="+mn-lt"/>
              </a:rPr>
              <a:t>optimizar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simultáneamente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geometría</a:t>
            </a:r>
            <a:r>
              <a:rPr lang="en-US" sz="1200" dirty="0">
                <a:ea typeface="+mn-lt"/>
                <a:cs typeface="+mn-lt"/>
              </a:rPr>
              <a:t> y ancho de </a:t>
            </a:r>
            <a:r>
              <a:rPr lang="en-US" sz="1200" dirty="0" err="1">
                <a:ea typeface="+mn-lt"/>
                <a:cs typeface="+mn-lt"/>
              </a:rPr>
              <a:t>guías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resulta</a:t>
            </a:r>
            <a:r>
              <a:rPr lang="en-US" sz="1200" dirty="0">
                <a:ea typeface="+mn-lt"/>
                <a:cs typeface="+mn-lt"/>
              </a:rPr>
              <a:t> clave para </a:t>
            </a:r>
            <a:r>
              <a:rPr lang="en-US" sz="1200" dirty="0" err="1">
                <a:ea typeface="+mn-lt"/>
                <a:cs typeface="+mn-lt"/>
              </a:rPr>
              <a:t>lograr</a:t>
            </a:r>
            <a:r>
              <a:rPr lang="en-US" sz="1200" dirty="0">
                <a:ea typeface="+mn-lt"/>
                <a:cs typeface="+mn-lt"/>
              </a:rPr>
              <a:t> alto </a:t>
            </a:r>
            <a:r>
              <a:rPr lang="en-US" sz="1200" dirty="0" err="1">
                <a:ea typeface="+mn-lt"/>
                <a:cs typeface="+mn-lt"/>
              </a:rPr>
              <a:t>rendimiento</a:t>
            </a:r>
            <a:r>
              <a:rPr lang="en-US" sz="1200" dirty="0">
                <a:ea typeface="+mn-lt"/>
                <a:cs typeface="+mn-lt"/>
              </a:rPr>
              <a:t>.</a:t>
            </a:r>
            <a:endParaRPr lang="es-ES" dirty="0"/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8036B97-F577-1F3C-3CE2-BD45F7D1FFC2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n 3" descr="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3107D893-B5DF-3FD5-47BF-4D7FE67826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356" y="1383124"/>
            <a:ext cx="3984381" cy="329773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D9E476F5-B05B-96F8-9316-233B8480C1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4524" y="3029991"/>
            <a:ext cx="3457575" cy="28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7312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A1363-C83E-82B6-7BDE-AD2801F8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E256546-3103-104D-A87F-78AEBE5D59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2500" dirty="0"/>
              <a:t>Learning outcome #7 – 1x4 Multimode Interference Coupler 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10 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BFCA3D8-29F6-7091-7099-77888A9F86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2E75535-0FBC-4C5F-9AC5-7008914FCF5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7AC2AFF-A7D9-EBCD-7C5A-6CDF61B69366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2D73A2E-0E5A-8A39-6B70-F9E94D6DBB70}"/>
              </a:ext>
            </a:extLst>
          </p:cNvPr>
          <p:cNvSpPr txBox="1"/>
          <p:nvPr/>
        </p:nvSpPr>
        <p:spPr>
          <a:xfrm>
            <a:off x="609441" y="4819471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200" dirty="0">
                <a:ea typeface="+mn-lt"/>
                <a:cs typeface="+mn-lt"/>
              </a:rPr>
              <a:t>Se ha </a:t>
            </a:r>
            <a:r>
              <a:rPr lang="en-US" sz="1200" dirty="0" err="1">
                <a:ea typeface="+mn-lt"/>
                <a:cs typeface="+mn-lt"/>
              </a:rPr>
              <a:t>diseñado</a:t>
            </a:r>
            <a:r>
              <a:rPr lang="en-US" sz="1200" dirty="0">
                <a:ea typeface="+mn-lt"/>
                <a:cs typeface="+mn-lt"/>
              </a:rPr>
              <a:t> un MMI 1×4 </a:t>
            </a:r>
            <a:r>
              <a:rPr lang="en-US" sz="1200" dirty="0" err="1">
                <a:ea typeface="+mn-lt"/>
                <a:cs typeface="+mn-lt"/>
              </a:rPr>
              <a:t>aumentando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ancho del </a:t>
            </a:r>
            <a:r>
              <a:rPr lang="en-US" sz="1200" dirty="0" err="1">
                <a:ea typeface="+mn-lt"/>
                <a:cs typeface="+mn-lt"/>
              </a:rPr>
              <a:t>cuerpo</a:t>
            </a:r>
            <a:r>
              <a:rPr lang="en-US" sz="1200" dirty="0">
                <a:ea typeface="+mn-lt"/>
                <a:cs typeface="+mn-lt"/>
              </a:rPr>
              <a:t> a 10 µm para </a:t>
            </a:r>
            <a:r>
              <a:rPr lang="en-US" sz="1200" dirty="0" err="1">
                <a:ea typeface="+mn-lt"/>
                <a:cs typeface="+mn-lt"/>
              </a:rPr>
              <a:t>acomodar</a:t>
            </a:r>
            <a:r>
              <a:rPr lang="en-US" sz="1200" dirty="0">
                <a:ea typeface="+mn-lt"/>
                <a:cs typeface="+mn-lt"/>
              </a:rPr>
              <a:t> las cuatro </a:t>
            </a:r>
            <a:r>
              <a:rPr lang="en-US" sz="1200" dirty="0" err="1">
                <a:ea typeface="+mn-lt"/>
                <a:cs typeface="+mn-lt"/>
              </a:rPr>
              <a:t>salidas</a:t>
            </a:r>
            <a:r>
              <a:rPr lang="en-US" sz="1200" dirty="0">
                <a:ea typeface="+mn-lt"/>
                <a:cs typeface="+mn-lt"/>
              </a:rPr>
              <a:t>. El </a:t>
            </a:r>
            <a:r>
              <a:rPr lang="en-US" sz="1200" dirty="0" err="1">
                <a:ea typeface="+mn-lt"/>
                <a:cs typeface="+mn-lt"/>
              </a:rPr>
              <a:t>comportamiento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observado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muestra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una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división</a:t>
            </a:r>
            <a:r>
              <a:rPr lang="en-US" sz="1200" dirty="0">
                <a:ea typeface="+mn-lt"/>
                <a:cs typeface="+mn-lt"/>
              </a:rPr>
              <a:t> de </a:t>
            </a:r>
            <a:r>
              <a:rPr lang="en-US" sz="1200" dirty="0" err="1">
                <a:ea typeface="+mn-lt"/>
                <a:cs typeface="+mn-lt"/>
              </a:rPr>
              <a:t>potencia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cercana</a:t>
            </a:r>
            <a:r>
              <a:rPr lang="en-US" sz="1200" dirty="0">
                <a:ea typeface="+mn-lt"/>
                <a:cs typeface="+mn-lt"/>
              </a:rPr>
              <a:t> al </a:t>
            </a:r>
            <a:r>
              <a:rPr lang="en-US" sz="1200" dirty="0" err="1">
                <a:ea typeface="+mn-lt"/>
                <a:cs typeface="+mn-lt"/>
              </a:rPr>
              <a:t>objetivo</a:t>
            </a:r>
            <a:r>
              <a:rPr lang="en-US" sz="1200" dirty="0">
                <a:ea typeface="+mn-lt"/>
                <a:cs typeface="+mn-lt"/>
              </a:rPr>
              <a:t> (≈25% </a:t>
            </a:r>
            <a:r>
              <a:rPr lang="en-US" sz="1200" dirty="0" err="1">
                <a:ea typeface="+mn-lt"/>
                <a:cs typeface="+mn-lt"/>
              </a:rPr>
              <a:t>por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salida</a:t>
            </a:r>
            <a:r>
              <a:rPr lang="en-US" sz="1200" dirty="0">
                <a:ea typeface="+mn-lt"/>
                <a:cs typeface="+mn-lt"/>
              </a:rPr>
              <a:t>), con </a:t>
            </a:r>
            <a:r>
              <a:rPr lang="en-US" sz="1200" dirty="0" err="1">
                <a:ea typeface="+mn-lt"/>
                <a:cs typeface="+mn-lt"/>
              </a:rPr>
              <a:t>valores</a:t>
            </a:r>
            <a:r>
              <a:rPr lang="en-US" sz="1200" dirty="0">
                <a:ea typeface="+mn-lt"/>
                <a:cs typeface="+mn-lt"/>
              </a:rPr>
              <a:t> entre 0.227–0.250, lo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indica un </a:t>
            </a:r>
            <a:r>
              <a:rPr lang="en-US" sz="1200" dirty="0" err="1">
                <a:ea typeface="+mn-lt"/>
                <a:cs typeface="+mn-lt"/>
              </a:rPr>
              <a:t>buen</a:t>
            </a:r>
            <a:r>
              <a:rPr lang="en-US" sz="1200" dirty="0">
                <a:ea typeface="+mn-lt"/>
                <a:cs typeface="+mn-lt"/>
              </a:rPr>
              <a:t> balance </a:t>
            </a:r>
            <a:r>
              <a:rPr lang="en-US" sz="1200" dirty="0" err="1">
                <a:ea typeface="+mn-lt"/>
                <a:cs typeface="+mn-lt"/>
              </a:rPr>
              <a:t>aunque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aún</a:t>
            </a:r>
            <a:r>
              <a:rPr lang="en-US" sz="1200" dirty="0">
                <a:ea typeface="+mn-lt"/>
                <a:cs typeface="+mn-lt"/>
              </a:rPr>
              <a:t> no perfecto. El </a:t>
            </a:r>
            <a:r>
              <a:rPr lang="en-US" sz="1200" dirty="0" err="1">
                <a:ea typeface="+mn-lt"/>
                <a:cs typeface="+mn-lt"/>
              </a:rPr>
              <a:t>patrón</a:t>
            </a:r>
            <a:r>
              <a:rPr lang="en-US" sz="1200" dirty="0">
                <a:ea typeface="+mn-lt"/>
                <a:cs typeface="+mn-lt"/>
              </a:rPr>
              <a:t> de </a:t>
            </a:r>
            <a:r>
              <a:rPr lang="en-US" sz="1200" dirty="0" err="1">
                <a:ea typeface="+mn-lt"/>
                <a:cs typeface="+mn-lt"/>
              </a:rPr>
              <a:t>propagación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confirma</a:t>
            </a:r>
            <a:r>
              <a:rPr lang="en-US" sz="1200" dirty="0">
                <a:ea typeface="+mn-lt"/>
                <a:cs typeface="+mn-lt"/>
              </a:rPr>
              <a:t> la </a:t>
            </a:r>
            <a:r>
              <a:rPr lang="en-US" sz="1200" dirty="0" err="1">
                <a:ea typeface="+mn-lt"/>
                <a:cs typeface="+mn-lt"/>
              </a:rPr>
              <a:t>autoimagen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múltiple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característica</a:t>
            </a:r>
            <a:r>
              <a:rPr lang="en-US" sz="1200" dirty="0">
                <a:ea typeface="+mn-lt"/>
                <a:cs typeface="+mn-lt"/>
              </a:rPr>
              <a:t>, con </a:t>
            </a:r>
            <a:r>
              <a:rPr lang="en-US" sz="1200" dirty="0" err="1">
                <a:ea typeface="+mn-lt"/>
                <a:cs typeface="+mn-lt"/>
              </a:rPr>
              <a:t>formación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progresiva</a:t>
            </a:r>
            <a:r>
              <a:rPr lang="en-US" sz="1200" dirty="0">
                <a:ea typeface="+mn-lt"/>
                <a:cs typeface="+mn-lt"/>
              </a:rPr>
              <a:t> de cuatro </a:t>
            </a:r>
            <a:r>
              <a:rPr lang="en-US" sz="1200" dirty="0" err="1">
                <a:ea typeface="+mn-lt"/>
                <a:cs typeface="+mn-lt"/>
              </a:rPr>
              <a:t>lóbulos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hacia</a:t>
            </a:r>
            <a:r>
              <a:rPr lang="en-US" sz="1200" dirty="0">
                <a:ea typeface="+mn-lt"/>
                <a:cs typeface="+mn-lt"/>
              </a:rPr>
              <a:t> la </a:t>
            </a:r>
            <a:r>
              <a:rPr lang="en-US" sz="1200" dirty="0" err="1">
                <a:ea typeface="+mn-lt"/>
                <a:cs typeface="+mn-lt"/>
              </a:rPr>
              <a:t>salida</a:t>
            </a:r>
            <a:r>
              <a:rPr lang="en-US" sz="1200" dirty="0">
                <a:ea typeface="+mn-lt"/>
                <a:cs typeface="+mn-lt"/>
              </a:rPr>
              <a:t>.</a:t>
            </a:r>
            <a:endParaRPr lang="es-ES" dirty="0"/>
          </a:p>
          <a:p>
            <a:pPr algn="just"/>
            <a:endParaRPr lang="en-US" sz="1200" dirty="0">
              <a:ea typeface="+mn-lt"/>
              <a:cs typeface="+mn-lt"/>
            </a:endParaRPr>
          </a:p>
          <a:p>
            <a:pPr algn="just"/>
            <a:r>
              <a:rPr lang="en-US" sz="1200" dirty="0">
                <a:ea typeface="+mn-lt"/>
                <a:cs typeface="+mn-lt"/>
              </a:rPr>
              <a:t>Las </a:t>
            </a:r>
            <a:r>
              <a:rPr lang="en-US" sz="1200" dirty="0" err="1">
                <a:ea typeface="+mn-lt"/>
                <a:cs typeface="+mn-lt"/>
              </a:rPr>
              <a:t>pérdidas</a:t>
            </a:r>
            <a:r>
              <a:rPr lang="en-US" sz="1200" dirty="0">
                <a:ea typeface="+mn-lt"/>
                <a:cs typeface="+mn-lt"/>
              </a:rPr>
              <a:t> son </a:t>
            </a:r>
            <a:r>
              <a:rPr lang="en-US" sz="1200" dirty="0" err="1">
                <a:ea typeface="+mn-lt"/>
                <a:cs typeface="+mn-lt"/>
              </a:rPr>
              <a:t>moderadas</a:t>
            </a:r>
            <a:r>
              <a:rPr lang="en-US" sz="1200" dirty="0">
                <a:ea typeface="+mn-lt"/>
                <a:cs typeface="+mn-lt"/>
              </a:rPr>
              <a:t> (~0.20 dB), </a:t>
            </a:r>
            <a:r>
              <a:rPr lang="en-US" sz="1200" dirty="0" err="1">
                <a:ea typeface="+mn-lt"/>
                <a:cs typeface="+mn-lt"/>
              </a:rPr>
              <a:t>mayores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caso</a:t>
            </a:r>
            <a:r>
              <a:rPr lang="en-US" sz="1200" dirty="0">
                <a:ea typeface="+mn-lt"/>
                <a:cs typeface="+mn-lt"/>
              </a:rPr>
              <a:t> 2×2 </a:t>
            </a:r>
            <a:r>
              <a:rPr lang="en-US" sz="1200" dirty="0" err="1">
                <a:ea typeface="+mn-lt"/>
                <a:cs typeface="+mn-lt"/>
              </a:rPr>
              <a:t>debido</a:t>
            </a:r>
            <a:r>
              <a:rPr lang="en-US" sz="1200" dirty="0">
                <a:ea typeface="+mn-lt"/>
                <a:cs typeface="+mn-lt"/>
              </a:rPr>
              <a:t> al mayor </a:t>
            </a:r>
            <a:r>
              <a:rPr lang="en-US" sz="1200" dirty="0" err="1">
                <a:ea typeface="+mn-lt"/>
                <a:cs typeface="+mn-lt"/>
              </a:rPr>
              <a:t>número</a:t>
            </a:r>
            <a:r>
              <a:rPr lang="en-US" sz="1200" dirty="0">
                <a:ea typeface="+mn-lt"/>
                <a:cs typeface="+mn-lt"/>
              </a:rPr>
              <a:t> de </a:t>
            </a:r>
            <a:r>
              <a:rPr lang="en-US" sz="1200" dirty="0" err="1">
                <a:ea typeface="+mn-lt"/>
                <a:cs typeface="+mn-lt"/>
              </a:rPr>
              <a:t>modos</a:t>
            </a:r>
            <a:r>
              <a:rPr lang="en-US" sz="1200" dirty="0">
                <a:ea typeface="+mn-lt"/>
                <a:cs typeface="+mn-lt"/>
              </a:rPr>
              <a:t> y a la </a:t>
            </a:r>
            <a:r>
              <a:rPr lang="en-US" sz="1200" dirty="0" err="1">
                <a:ea typeface="+mn-lt"/>
                <a:cs typeface="+mn-lt"/>
              </a:rPr>
              <a:t>complejidad</a:t>
            </a:r>
            <a:r>
              <a:rPr lang="en-US" sz="1200" dirty="0">
                <a:ea typeface="+mn-lt"/>
                <a:cs typeface="+mn-lt"/>
              </a:rPr>
              <a:t> de la </a:t>
            </a:r>
            <a:r>
              <a:rPr lang="en-US" sz="1200" dirty="0" err="1">
                <a:ea typeface="+mn-lt"/>
                <a:cs typeface="+mn-lt"/>
              </a:rPr>
              <a:t>interferencia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multimodo</a:t>
            </a:r>
            <a:r>
              <a:rPr lang="en-US" sz="1200" dirty="0">
                <a:ea typeface="+mn-lt"/>
                <a:cs typeface="+mn-lt"/>
              </a:rPr>
              <a:t>. La </a:t>
            </a:r>
            <a:r>
              <a:rPr lang="en-US" sz="1200" dirty="0" err="1">
                <a:ea typeface="+mn-lt"/>
                <a:cs typeface="+mn-lt"/>
              </a:rPr>
              <a:t>ligera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asimetría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en</a:t>
            </a:r>
            <a:r>
              <a:rPr lang="en-US" sz="1200" dirty="0">
                <a:ea typeface="+mn-lt"/>
                <a:cs typeface="+mn-lt"/>
              </a:rPr>
              <a:t> las </a:t>
            </a:r>
            <a:r>
              <a:rPr lang="en-US" sz="1200" dirty="0" err="1">
                <a:ea typeface="+mn-lt"/>
                <a:cs typeface="+mn-lt"/>
              </a:rPr>
              <a:t>salidas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externas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frente</a:t>
            </a:r>
            <a:r>
              <a:rPr lang="en-US" sz="1200" dirty="0">
                <a:ea typeface="+mn-lt"/>
                <a:cs typeface="+mn-lt"/>
              </a:rPr>
              <a:t> a las </a:t>
            </a:r>
            <a:r>
              <a:rPr lang="en-US" sz="1200" dirty="0" err="1">
                <a:ea typeface="+mn-lt"/>
                <a:cs typeface="+mn-lt"/>
              </a:rPr>
              <a:t>internas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sugiere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aún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podría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optimizarse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ajustando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finamente</a:t>
            </a:r>
            <a:r>
              <a:rPr lang="en-US" sz="1200" dirty="0">
                <a:ea typeface="+mn-lt"/>
                <a:cs typeface="+mn-lt"/>
              </a:rPr>
              <a:t> las </a:t>
            </a:r>
            <a:r>
              <a:rPr lang="en-US" sz="1200" dirty="0" err="1">
                <a:ea typeface="+mn-lt"/>
                <a:cs typeface="+mn-lt"/>
              </a:rPr>
              <a:t>posiciones</a:t>
            </a:r>
            <a:r>
              <a:rPr lang="en-US" sz="1200" dirty="0">
                <a:ea typeface="+mn-lt"/>
                <a:cs typeface="+mn-lt"/>
              </a:rPr>
              <a:t> de </a:t>
            </a:r>
            <a:r>
              <a:rPr lang="en-US" sz="1200" dirty="0" err="1">
                <a:ea typeface="+mn-lt"/>
                <a:cs typeface="+mn-lt"/>
              </a:rPr>
              <a:t>salida</a:t>
            </a:r>
            <a:r>
              <a:rPr lang="en-US" sz="1200" dirty="0">
                <a:ea typeface="+mn-lt"/>
                <a:cs typeface="+mn-lt"/>
              </a:rPr>
              <a:t> o la </a:t>
            </a:r>
            <a:r>
              <a:rPr lang="en-US" sz="1200" dirty="0" err="1">
                <a:ea typeface="+mn-lt"/>
                <a:cs typeface="+mn-lt"/>
              </a:rPr>
              <a:t>longitud</a:t>
            </a:r>
            <a:r>
              <a:rPr lang="en-US" sz="1200" dirty="0">
                <a:ea typeface="+mn-lt"/>
                <a:cs typeface="+mn-lt"/>
              </a:rPr>
              <a:t> del MMI. En conjunto,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diseño</a:t>
            </a:r>
            <a:r>
              <a:rPr lang="en-US" sz="1200" dirty="0">
                <a:ea typeface="+mn-lt"/>
                <a:cs typeface="+mn-lt"/>
              </a:rPr>
              <a:t> es </a:t>
            </a:r>
            <a:r>
              <a:rPr lang="en-US" sz="1200" dirty="0" err="1">
                <a:ea typeface="+mn-lt"/>
                <a:cs typeface="+mn-lt"/>
              </a:rPr>
              <a:t>funcional</a:t>
            </a:r>
            <a:r>
              <a:rPr lang="en-US" sz="1200" dirty="0">
                <a:ea typeface="+mn-lt"/>
                <a:cs typeface="+mn-lt"/>
              </a:rPr>
              <a:t> y </a:t>
            </a:r>
            <a:r>
              <a:rPr lang="en-US" sz="1200" dirty="0" err="1">
                <a:ea typeface="+mn-lt"/>
                <a:cs typeface="+mn-lt"/>
              </a:rPr>
              <a:t>cumple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razonablemente</a:t>
            </a:r>
            <a:r>
              <a:rPr lang="en-US" sz="1200" dirty="0">
                <a:ea typeface="+mn-lt"/>
                <a:cs typeface="+mn-lt"/>
              </a:rPr>
              <a:t> con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reparto</a:t>
            </a:r>
            <a:r>
              <a:rPr lang="en-US" sz="1200" dirty="0">
                <a:ea typeface="+mn-lt"/>
                <a:cs typeface="+mn-lt"/>
              </a:rPr>
              <a:t> 1×4 </a:t>
            </a:r>
            <a:r>
              <a:rPr lang="en-US" sz="1200" dirty="0" err="1">
                <a:ea typeface="+mn-lt"/>
                <a:cs typeface="+mn-lt"/>
              </a:rPr>
              <a:t>esperado</a:t>
            </a:r>
            <a:r>
              <a:rPr lang="en-US" sz="1200" dirty="0">
                <a:ea typeface="+mn-lt"/>
                <a:cs typeface="+mn-lt"/>
              </a:rPr>
              <a:t>.</a:t>
            </a:r>
            <a:endParaRPr lang="en-US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FB86587-21D4-5A33-7D00-DDF170C919BA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n 3" descr="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39A28F15-0717-3B25-2A78-65087010D8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1780" y="1376724"/>
            <a:ext cx="3651580" cy="331694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7A312D7-FBEB-3B40-AFFC-C827E91BBC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9995" y="2847894"/>
            <a:ext cx="329565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8643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#1 – Directional coupler gap dependence</a:t>
            </a:r>
            <a:br>
              <a:rPr lang="en-US" sz="2500" dirty="0"/>
            </a:br>
            <a:r>
              <a:rPr lang="en-US" b="0" dirty="0"/>
              <a:t>Wavelength 1.55 µm, width 1.0 µm, </a:t>
            </a:r>
            <a:r>
              <a:rPr lang="en-US" dirty="0"/>
              <a:t>gap 0.2-2.4 µm </a:t>
            </a:r>
            <a:r>
              <a:rPr lang="en-US" b="0" dirty="0"/>
              <a:t>(step 0.2 µm)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200" dirty="0">
                <a:ea typeface="+mn-lt"/>
                <a:cs typeface="+mn-lt"/>
              </a:rPr>
              <a:t>Al </a:t>
            </a:r>
            <a:r>
              <a:rPr lang="en-US" sz="1200" dirty="0" err="1">
                <a:ea typeface="+mn-lt"/>
                <a:cs typeface="+mn-lt"/>
              </a:rPr>
              <a:t>aumentar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gap, la </a:t>
            </a:r>
            <a:r>
              <a:rPr lang="en-US" sz="1200" dirty="0" err="1">
                <a:ea typeface="+mn-lt"/>
                <a:cs typeface="+mn-lt"/>
              </a:rPr>
              <a:t>longitud</a:t>
            </a:r>
            <a:r>
              <a:rPr lang="en-US" sz="1200" dirty="0">
                <a:ea typeface="+mn-lt"/>
                <a:cs typeface="+mn-lt"/>
              </a:rPr>
              <a:t> de </a:t>
            </a:r>
            <a:r>
              <a:rPr lang="en-US" sz="1200" dirty="0" err="1">
                <a:ea typeface="+mn-lt"/>
                <a:cs typeface="+mn-lt"/>
              </a:rPr>
              <a:t>acoplamiento</a:t>
            </a:r>
            <a:r>
              <a:rPr lang="en-US" sz="1200" dirty="0">
                <a:ea typeface="+mn-lt"/>
                <a:cs typeface="+mn-lt"/>
              </a:rPr>
              <a:t> Lπ </a:t>
            </a:r>
            <a:r>
              <a:rPr lang="en-US" sz="1200" dirty="0" err="1">
                <a:ea typeface="+mn-lt"/>
                <a:cs typeface="+mn-lt"/>
              </a:rPr>
              <a:t>crece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rápidamente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porque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disminuye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solapamiento</a:t>
            </a:r>
            <a:r>
              <a:rPr lang="en-US" sz="1200" dirty="0">
                <a:ea typeface="+mn-lt"/>
                <a:cs typeface="+mn-lt"/>
              </a:rPr>
              <a:t> entre </a:t>
            </a:r>
            <a:r>
              <a:rPr lang="en-US" sz="1200" dirty="0" err="1">
                <a:ea typeface="+mn-lt"/>
                <a:cs typeface="+mn-lt"/>
              </a:rPr>
              <a:t>los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modos</a:t>
            </a:r>
            <a:r>
              <a:rPr lang="en-US" sz="1200" dirty="0">
                <a:ea typeface="+mn-lt"/>
                <a:cs typeface="+mn-lt"/>
              </a:rPr>
              <a:t> y, </a:t>
            </a:r>
            <a:r>
              <a:rPr lang="en-US" sz="1200" dirty="0" err="1">
                <a:ea typeface="+mn-lt"/>
                <a:cs typeface="+mn-lt"/>
              </a:rPr>
              <a:t>por</a:t>
            </a:r>
            <a:r>
              <a:rPr lang="en-US" sz="1200" dirty="0">
                <a:ea typeface="+mn-lt"/>
                <a:cs typeface="+mn-lt"/>
              </a:rPr>
              <a:t> tanto, la </a:t>
            </a:r>
            <a:r>
              <a:rPr lang="en-US" sz="1200" dirty="0" err="1">
                <a:ea typeface="+mn-lt"/>
                <a:cs typeface="+mn-lt"/>
              </a:rPr>
              <a:t>diferencia</a:t>
            </a:r>
            <a:r>
              <a:rPr lang="en-US" sz="1200" dirty="0">
                <a:ea typeface="+mn-lt"/>
                <a:cs typeface="+mn-lt"/>
              </a:rPr>
              <a:t> de </a:t>
            </a:r>
            <a:r>
              <a:rPr lang="en-US" sz="1200" dirty="0" err="1">
                <a:ea typeface="+mn-lt"/>
                <a:cs typeface="+mn-lt"/>
              </a:rPr>
              <a:t>índices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efectivos</a:t>
            </a:r>
            <a:r>
              <a:rPr lang="en-US" sz="1200" dirty="0">
                <a:ea typeface="+mn-lt"/>
                <a:cs typeface="+mn-lt"/>
              </a:rPr>
              <a:t> (</a:t>
            </a:r>
            <a:r>
              <a:rPr lang="en-US" sz="1200" dirty="0" err="1">
                <a:ea typeface="+mn-lt"/>
                <a:cs typeface="+mn-lt"/>
              </a:rPr>
              <a:t>Δneff</a:t>
            </a:r>
            <a:r>
              <a:rPr lang="en-US" sz="1200" dirty="0">
                <a:ea typeface="+mn-lt"/>
                <a:cs typeface="+mn-lt"/>
              </a:rPr>
              <a:t>). Como Lπ  es </a:t>
            </a:r>
            <a:r>
              <a:rPr lang="en-US" sz="1200" dirty="0" err="1">
                <a:ea typeface="+mn-lt"/>
                <a:cs typeface="+mn-lt"/>
              </a:rPr>
              <a:t>inversamente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proporcional</a:t>
            </a:r>
            <a:r>
              <a:rPr lang="en-US" sz="1200" dirty="0">
                <a:ea typeface="+mn-lt"/>
                <a:cs typeface="+mn-lt"/>
              </a:rPr>
              <a:t> a </a:t>
            </a:r>
            <a:r>
              <a:rPr lang="en-US" sz="1200" dirty="0" err="1">
                <a:ea typeface="+mn-lt"/>
                <a:cs typeface="+mn-lt"/>
              </a:rPr>
              <a:t>Δneff</a:t>
            </a:r>
            <a:r>
              <a:rPr lang="en-US" sz="1200" dirty="0">
                <a:ea typeface="+mn-lt"/>
                <a:cs typeface="+mn-lt"/>
              </a:rPr>
              <a:t>, </a:t>
            </a:r>
            <a:r>
              <a:rPr lang="en-US" sz="1200" dirty="0" err="1">
                <a:ea typeface="+mn-lt"/>
                <a:cs typeface="+mn-lt"/>
              </a:rPr>
              <a:t>cuando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esta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tiende</a:t>
            </a:r>
            <a:r>
              <a:rPr lang="en-US" sz="1200" dirty="0">
                <a:ea typeface="+mn-lt"/>
                <a:cs typeface="+mn-lt"/>
              </a:rPr>
              <a:t> a cero, Lπ  se </a:t>
            </a:r>
            <a:r>
              <a:rPr lang="en-US" sz="1200" dirty="0" err="1">
                <a:ea typeface="+mn-lt"/>
                <a:cs typeface="+mn-lt"/>
              </a:rPr>
              <a:t>dispara</a:t>
            </a:r>
            <a:r>
              <a:rPr lang="en-US" sz="1200" dirty="0">
                <a:ea typeface="+mn-lt"/>
                <a:cs typeface="+mn-lt"/>
              </a:rPr>
              <a:t> a </a:t>
            </a:r>
            <a:r>
              <a:rPr lang="en-US" sz="1200" dirty="0" err="1">
                <a:ea typeface="+mn-lt"/>
                <a:cs typeface="+mn-lt"/>
              </a:rPr>
              <a:t>valores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muy</a:t>
            </a:r>
            <a:r>
              <a:rPr lang="en-US" sz="1200" dirty="0">
                <a:ea typeface="+mn-lt"/>
                <a:cs typeface="+mn-lt"/>
              </a:rPr>
              <a:t> altos.</a:t>
            </a:r>
            <a:endParaRPr lang="es-ES" dirty="0"/>
          </a:p>
          <a:p>
            <a:pPr algn="just"/>
            <a:endParaRPr lang="en-US" sz="1200" dirty="0">
              <a:ea typeface="+mn-lt"/>
              <a:cs typeface="+mn-lt"/>
            </a:endParaRPr>
          </a:p>
          <a:p>
            <a:pPr algn="just"/>
            <a:r>
              <a:rPr lang="en-US" sz="1200" dirty="0">
                <a:ea typeface="+mn-lt"/>
                <a:cs typeface="+mn-lt"/>
              </a:rPr>
              <a:t>En la </a:t>
            </a:r>
            <a:r>
              <a:rPr lang="en-US" sz="1200" dirty="0" err="1">
                <a:ea typeface="+mn-lt"/>
                <a:cs typeface="+mn-lt"/>
              </a:rPr>
              <a:t>configuración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b="1" dirty="0">
                <a:ea typeface="+mn-lt"/>
                <a:cs typeface="+mn-lt"/>
              </a:rPr>
              <a:t>deep</a:t>
            </a:r>
            <a:r>
              <a:rPr lang="en-US" sz="1200" dirty="0">
                <a:ea typeface="+mn-lt"/>
                <a:cs typeface="+mn-lt"/>
              </a:rPr>
              <a:t>,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confinamiento</a:t>
            </a:r>
            <a:r>
              <a:rPr lang="en-US" sz="1200" dirty="0">
                <a:ea typeface="+mn-lt"/>
                <a:cs typeface="+mn-lt"/>
              </a:rPr>
              <a:t> es mayor y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acoplamiento</a:t>
            </a:r>
            <a:r>
              <a:rPr lang="en-US" sz="1200" dirty="0">
                <a:ea typeface="+mn-lt"/>
                <a:cs typeface="+mn-lt"/>
              </a:rPr>
              <a:t> se </a:t>
            </a:r>
            <a:r>
              <a:rPr lang="en-US" sz="1200" dirty="0" err="1">
                <a:ea typeface="+mn-lt"/>
                <a:cs typeface="+mn-lt"/>
              </a:rPr>
              <a:t>mantiene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más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estable</a:t>
            </a:r>
            <a:r>
              <a:rPr lang="en-US" sz="1200" dirty="0">
                <a:ea typeface="+mn-lt"/>
                <a:cs typeface="+mn-lt"/>
              </a:rPr>
              <a:t>, </a:t>
            </a:r>
            <a:r>
              <a:rPr lang="en-US" sz="1200" dirty="0" err="1">
                <a:ea typeface="+mn-lt"/>
                <a:cs typeface="+mn-lt"/>
              </a:rPr>
              <a:t>por</a:t>
            </a:r>
            <a:r>
              <a:rPr lang="en-US" sz="1200" dirty="0">
                <a:ea typeface="+mn-lt"/>
                <a:cs typeface="+mn-lt"/>
              </a:rPr>
              <a:t> lo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Lπ </a:t>
            </a:r>
            <a:r>
              <a:rPr lang="en-US" sz="1200" dirty="0" err="1">
                <a:ea typeface="+mn-lt"/>
                <a:cs typeface="+mn-lt"/>
              </a:rPr>
              <a:t>crece</a:t>
            </a:r>
            <a:r>
              <a:rPr lang="en-US" sz="1200" dirty="0">
                <a:ea typeface="+mn-lt"/>
                <a:cs typeface="+mn-lt"/>
              </a:rPr>
              <a:t> de forma </a:t>
            </a:r>
            <a:r>
              <a:rPr lang="en-US" sz="1200" dirty="0" err="1">
                <a:ea typeface="+mn-lt"/>
                <a:cs typeface="+mn-lt"/>
              </a:rPr>
              <a:t>progresiva</a:t>
            </a:r>
            <a:r>
              <a:rPr lang="en-US" sz="1200" dirty="0">
                <a:ea typeface="+mn-lt"/>
                <a:cs typeface="+mn-lt"/>
              </a:rPr>
              <a:t>. En </a:t>
            </a:r>
            <a:r>
              <a:rPr lang="en-US" sz="1200" dirty="0" err="1">
                <a:ea typeface="+mn-lt"/>
                <a:cs typeface="+mn-lt"/>
              </a:rPr>
              <a:t>cambio</a:t>
            </a:r>
            <a:r>
              <a:rPr lang="en-US" sz="1200" dirty="0">
                <a:ea typeface="+mn-lt"/>
                <a:cs typeface="+mn-lt"/>
              </a:rPr>
              <a:t>, </a:t>
            </a:r>
            <a:r>
              <a:rPr lang="en-US" sz="1200" dirty="0" err="1">
                <a:ea typeface="+mn-lt"/>
                <a:cs typeface="+mn-lt"/>
              </a:rPr>
              <a:t>en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b="1" dirty="0">
                <a:ea typeface="+mn-lt"/>
                <a:cs typeface="+mn-lt"/>
              </a:rPr>
              <a:t>shallow</a:t>
            </a:r>
            <a:r>
              <a:rPr lang="en-US" sz="1200" dirty="0">
                <a:ea typeface="+mn-lt"/>
                <a:cs typeface="+mn-lt"/>
              </a:rPr>
              <a:t>,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modo (</a:t>
            </a:r>
            <a:r>
              <a:rPr lang="en-US" sz="1200" dirty="0" err="1">
                <a:ea typeface="+mn-lt"/>
                <a:cs typeface="+mn-lt"/>
              </a:rPr>
              <a:t>especialmente</a:t>
            </a:r>
            <a:r>
              <a:rPr lang="en-US" sz="1200" dirty="0">
                <a:ea typeface="+mn-lt"/>
                <a:cs typeface="+mn-lt"/>
              </a:rPr>
              <a:t> TM) </a:t>
            </a:r>
            <a:r>
              <a:rPr lang="en-US" sz="1200" dirty="0" err="1">
                <a:ea typeface="+mn-lt"/>
                <a:cs typeface="+mn-lt"/>
              </a:rPr>
              <a:t>está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menos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confinado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debido</a:t>
            </a:r>
            <a:r>
              <a:rPr lang="en-US" sz="1200" dirty="0">
                <a:ea typeface="+mn-lt"/>
                <a:cs typeface="+mn-lt"/>
              </a:rPr>
              <a:t> al slab, lo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hace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Δneff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disminuya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más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rápido</a:t>
            </a:r>
            <a:r>
              <a:rPr lang="en-US" sz="1200" dirty="0">
                <a:ea typeface="+mn-lt"/>
                <a:cs typeface="+mn-lt"/>
              </a:rPr>
              <a:t> y Lπ </a:t>
            </a:r>
            <a:r>
              <a:rPr lang="en-US" sz="1200" dirty="0" err="1">
                <a:ea typeface="+mn-lt"/>
                <a:cs typeface="+mn-lt"/>
              </a:rPr>
              <a:t>aumente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mucho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más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bruscamente</a:t>
            </a:r>
            <a:r>
              <a:rPr lang="en-US" sz="1200" dirty="0">
                <a:ea typeface="+mn-lt"/>
                <a:cs typeface="+mn-lt"/>
              </a:rPr>
              <a:t>, </a:t>
            </a:r>
            <a:r>
              <a:rPr lang="en-US" sz="1200" dirty="0" err="1">
                <a:ea typeface="+mn-lt"/>
                <a:cs typeface="+mn-lt"/>
              </a:rPr>
              <a:t>llegando</a:t>
            </a:r>
            <a:r>
              <a:rPr lang="en-US" sz="1200" dirty="0">
                <a:ea typeface="+mn-lt"/>
                <a:cs typeface="+mn-lt"/>
              </a:rPr>
              <a:t> a </a:t>
            </a:r>
            <a:r>
              <a:rPr lang="en-US" sz="1200" dirty="0" err="1">
                <a:ea typeface="+mn-lt"/>
                <a:cs typeface="+mn-lt"/>
              </a:rPr>
              <a:t>valores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extremadamente</a:t>
            </a:r>
            <a:r>
              <a:rPr lang="en-US" sz="1200" dirty="0">
                <a:ea typeface="+mn-lt"/>
                <a:cs typeface="+mn-lt"/>
              </a:rPr>
              <a:t> altos</a:t>
            </a:r>
            <a:endParaRPr lang="en-US" dirty="0"/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7488849-10A1-FB48-F511-E57B062CD7E2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8726DAB-1B5F-39D1-63A0-BB708EA6E17F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E9BD6C85-02F1-7B54-41E3-E3D9883786D8}"/>
                  </a:ext>
                </a:extLst>
              </p:cNvPr>
              <p:cNvSpPr txBox="1"/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gap for TE and TM plot here</a:t>
                </a:r>
              </a:p>
            </p:txBody>
          </p:sp>
        </mc:Choice>
        <mc:Fallback xmlns="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E9BD6C85-02F1-7B54-41E3-E3D9883786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blipFill>
                <a:blip r:embed="rId5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7431A41C-EEB3-44D0-4622-A915E258C8F0}"/>
                  </a:ext>
                </a:extLst>
              </p:cNvPr>
              <p:cNvSpPr txBox="1"/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gap for TE and TM plot here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7431A41C-EEB3-44D0-4622-A915E258C8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blipFill>
                <a:blip r:embed="rId6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n 3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1DDF2C08-6034-8853-86B8-DE9E8348AA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5902" y="1449631"/>
            <a:ext cx="4267933" cy="3302245"/>
          </a:xfrm>
          <a:prstGeom prst="rect">
            <a:avLst/>
          </a:prstGeom>
        </p:spPr>
      </p:pic>
      <p:pic>
        <p:nvPicPr>
          <p:cNvPr id="10" name="Imagen 9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76F89DE6-87DF-D4D7-217E-B208CDE6DA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8824" y="1508071"/>
            <a:ext cx="4267932" cy="3185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963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0F79-E2ED-1B1B-6289-A1259E808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AC39480-E3E5-69B1-401F-A50C45531E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4747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#2 – Directional wavelength dependence</a:t>
            </a:r>
            <a:br>
              <a:rPr lang="en-US" sz="2500" dirty="0"/>
            </a:br>
            <a:r>
              <a:rPr lang="en-US" b="0" dirty="0"/>
              <a:t>Wavelengths </a:t>
            </a:r>
            <a:r>
              <a:rPr lang="en-US" dirty="0"/>
              <a:t>from 1.5 to 1.7 µm</a:t>
            </a:r>
            <a:r>
              <a:rPr lang="en-US" b="0" dirty="0"/>
              <a:t>, gap = 0.6 µm, width 1.0 µm</a:t>
            </a:r>
            <a:br>
              <a:rPr lang="en-US" b="0" dirty="0"/>
            </a:b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BEE8680-2E49-EF52-0E73-7736679A4D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3F99BBB-5F10-0BE4-E2DE-E78EAA82F552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2B2FA4B-8D15-84DC-29D1-94F9F850476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81326FD-308E-2C47-D5D2-57B3357241AA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en-US" sz="1200" dirty="0">
                <a:ea typeface="+mn-lt"/>
                <a:cs typeface="+mn-lt"/>
              </a:rPr>
              <a:t>La </a:t>
            </a:r>
            <a:r>
              <a:rPr lang="en-US" sz="1200" dirty="0" err="1">
                <a:ea typeface="+mn-lt"/>
                <a:cs typeface="+mn-lt"/>
              </a:rPr>
              <a:t>longitud</a:t>
            </a:r>
            <a:r>
              <a:rPr lang="en-US" sz="1200" dirty="0">
                <a:ea typeface="+mn-lt"/>
                <a:cs typeface="+mn-lt"/>
              </a:rPr>
              <a:t> de </a:t>
            </a:r>
            <a:r>
              <a:rPr lang="en-US" sz="1200" dirty="0" err="1">
                <a:ea typeface="+mn-lt"/>
                <a:cs typeface="+mn-lt"/>
              </a:rPr>
              <a:t>acoplo</a:t>
            </a:r>
            <a:r>
              <a:rPr lang="en-US" sz="1200" dirty="0">
                <a:ea typeface="+mn-lt"/>
                <a:cs typeface="+mn-lt"/>
              </a:rPr>
              <a:t> Lπ  </a:t>
            </a:r>
            <a:r>
              <a:rPr lang="en-US" sz="1200" dirty="0" err="1">
                <a:ea typeface="+mn-lt"/>
                <a:cs typeface="+mn-lt"/>
              </a:rPr>
              <a:t>disminuye</a:t>
            </a:r>
            <a:r>
              <a:rPr lang="en-US" sz="1200" dirty="0">
                <a:ea typeface="+mn-lt"/>
                <a:cs typeface="+mn-lt"/>
              </a:rPr>
              <a:t> al </a:t>
            </a:r>
            <a:r>
              <a:rPr lang="en-US" sz="1200" dirty="0" err="1">
                <a:ea typeface="+mn-lt"/>
                <a:cs typeface="+mn-lt"/>
              </a:rPr>
              <a:t>aumentar</a:t>
            </a:r>
            <a:r>
              <a:rPr lang="en-US" sz="1200" dirty="0">
                <a:ea typeface="+mn-lt"/>
                <a:cs typeface="+mn-lt"/>
              </a:rPr>
              <a:t> la </a:t>
            </a:r>
            <a:r>
              <a:rPr lang="en-US" sz="1200" dirty="0" err="1">
                <a:ea typeface="+mn-lt"/>
                <a:cs typeface="+mn-lt"/>
              </a:rPr>
              <a:t>longitud</a:t>
            </a:r>
            <a:r>
              <a:rPr lang="en-US" sz="1200" dirty="0">
                <a:ea typeface="+mn-lt"/>
                <a:cs typeface="+mn-lt"/>
              </a:rPr>
              <a:t> de </a:t>
            </a:r>
            <a:r>
              <a:rPr lang="en-US" sz="1200" dirty="0" err="1">
                <a:ea typeface="+mn-lt"/>
                <a:cs typeface="+mn-lt"/>
              </a:rPr>
              <a:t>onda</a:t>
            </a:r>
            <a:r>
              <a:rPr lang="en-US" sz="1200" dirty="0">
                <a:ea typeface="+mn-lt"/>
                <a:cs typeface="+mn-lt"/>
              </a:rPr>
              <a:t> para ambas </a:t>
            </a:r>
            <a:r>
              <a:rPr lang="en-US" sz="1200" dirty="0" err="1">
                <a:ea typeface="+mn-lt"/>
                <a:cs typeface="+mn-lt"/>
              </a:rPr>
              <a:t>polarizaciones</a:t>
            </a:r>
            <a:r>
              <a:rPr lang="en-US" sz="1200" dirty="0">
                <a:ea typeface="+mn-lt"/>
                <a:cs typeface="+mn-lt"/>
              </a:rPr>
              <a:t> (TE y TM) </a:t>
            </a:r>
            <a:r>
              <a:rPr lang="en-US" sz="1200" dirty="0" err="1">
                <a:ea typeface="+mn-lt"/>
                <a:cs typeface="+mn-lt"/>
              </a:rPr>
              <a:t>en</a:t>
            </a:r>
            <a:r>
              <a:rPr lang="en-US" sz="1200" dirty="0">
                <a:ea typeface="+mn-lt"/>
                <a:cs typeface="+mn-lt"/>
              </a:rPr>
              <a:t> la </a:t>
            </a:r>
            <a:r>
              <a:rPr lang="en-US" sz="1200" dirty="0" err="1">
                <a:ea typeface="+mn-lt"/>
                <a:cs typeface="+mn-lt"/>
              </a:rPr>
              <a:t>guía</a:t>
            </a:r>
            <a:r>
              <a:rPr lang="en-US" sz="1200" dirty="0">
                <a:ea typeface="+mn-lt"/>
                <a:cs typeface="+mn-lt"/>
              </a:rPr>
              <a:t> deep, </a:t>
            </a:r>
            <a:r>
              <a:rPr lang="en-US" sz="1200" dirty="0" err="1">
                <a:ea typeface="+mn-lt"/>
                <a:cs typeface="+mn-lt"/>
              </a:rPr>
              <a:t>mostrando</a:t>
            </a:r>
            <a:r>
              <a:rPr lang="en-US" sz="1200" dirty="0">
                <a:ea typeface="+mn-lt"/>
                <a:cs typeface="+mn-lt"/>
              </a:rPr>
              <a:t> un </a:t>
            </a:r>
            <a:r>
              <a:rPr lang="en-US" sz="1200" dirty="0" err="1">
                <a:ea typeface="+mn-lt"/>
                <a:cs typeface="+mn-lt"/>
              </a:rPr>
              <a:t>comportamiento</a:t>
            </a:r>
            <a:r>
              <a:rPr lang="en-US" sz="1200" dirty="0">
                <a:ea typeface="+mn-lt"/>
                <a:cs typeface="+mn-lt"/>
              </a:rPr>
              <a:t> suave y </a:t>
            </a:r>
            <a:r>
              <a:rPr lang="en-US" sz="1200" dirty="0" err="1">
                <a:ea typeface="+mn-lt"/>
                <a:cs typeface="+mn-lt"/>
              </a:rPr>
              <a:t>monótono</a:t>
            </a:r>
            <a:r>
              <a:rPr lang="en-US" sz="1200" dirty="0">
                <a:ea typeface="+mn-lt"/>
                <a:cs typeface="+mn-lt"/>
              </a:rPr>
              <a:t>, </a:t>
            </a:r>
            <a:r>
              <a:rPr lang="en-US" sz="1200" dirty="0" err="1">
                <a:ea typeface="+mn-lt"/>
                <a:cs typeface="+mn-lt"/>
              </a:rPr>
              <a:t>siendo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siempre</a:t>
            </a:r>
            <a:r>
              <a:rPr lang="en-US" sz="1200" dirty="0">
                <a:ea typeface="+mn-lt"/>
                <a:cs typeface="+mn-lt"/>
              </a:rPr>
              <a:t> mayor para </a:t>
            </a:r>
            <a:r>
              <a:rPr lang="en-US" sz="1200" dirty="0" err="1">
                <a:ea typeface="+mn-lt"/>
                <a:cs typeface="+mn-lt"/>
              </a:rPr>
              <a:t>los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modos</a:t>
            </a:r>
            <a:r>
              <a:rPr lang="en-US" sz="1200" dirty="0">
                <a:ea typeface="+mn-lt"/>
                <a:cs typeface="+mn-lt"/>
              </a:rPr>
              <a:t> TE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para </a:t>
            </a:r>
            <a:r>
              <a:rPr lang="en-US" sz="1200" dirty="0" err="1">
                <a:ea typeface="+mn-lt"/>
                <a:cs typeface="+mn-lt"/>
              </a:rPr>
              <a:t>los</a:t>
            </a:r>
            <a:r>
              <a:rPr lang="en-US" sz="1200" dirty="0">
                <a:ea typeface="+mn-lt"/>
                <a:cs typeface="+mn-lt"/>
              </a:rPr>
              <a:t> TM. En </a:t>
            </a:r>
            <a:r>
              <a:rPr lang="en-US" sz="1200" dirty="0" err="1">
                <a:ea typeface="+mn-lt"/>
                <a:cs typeface="+mn-lt"/>
              </a:rPr>
              <a:t>cambio</a:t>
            </a:r>
            <a:r>
              <a:rPr lang="en-US" sz="1200" dirty="0">
                <a:ea typeface="+mn-lt"/>
                <a:cs typeface="+mn-lt"/>
              </a:rPr>
              <a:t>, </a:t>
            </a:r>
            <a:r>
              <a:rPr lang="en-US" sz="1200" dirty="0" err="1">
                <a:ea typeface="+mn-lt"/>
                <a:cs typeface="+mn-lt"/>
              </a:rPr>
              <a:t>en</a:t>
            </a:r>
            <a:r>
              <a:rPr lang="en-US" sz="1200" dirty="0">
                <a:ea typeface="+mn-lt"/>
                <a:cs typeface="+mn-lt"/>
              </a:rPr>
              <a:t> la </a:t>
            </a:r>
            <a:r>
              <a:rPr lang="en-US" sz="1200" dirty="0" err="1">
                <a:ea typeface="+mn-lt"/>
                <a:cs typeface="+mn-lt"/>
              </a:rPr>
              <a:t>guía</a:t>
            </a:r>
            <a:r>
              <a:rPr lang="en-US" sz="1200" dirty="0">
                <a:ea typeface="+mn-lt"/>
                <a:cs typeface="+mn-lt"/>
              </a:rPr>
              <a:t> shallow </a:t>
            </a:r>
            <a:r>
              <a:rPr lang="en-US" sz="1200" dirty="0" err="1">
                <a:ea typeface="+mn-lt"/>
                <a:cs typeface="+mn-lt"/>
              </a:rPr>
              <a:t>el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comportamiento</a:t>
            </a:r>
            <a:r>
              <a:rPr lang="en-US" sz="1200" dirty="0">
                <a:ea typeface="+mn-lt"/>
                <a:cs typeface="+mn-lt"/>
              </a:rPr>
              <a:t> es </a:t>
            </a:r>
            <a:r>
              <a:rPr lang="en-US" sz="1200" dirty="0" err="1">
                <a:ea typeface="+mn-lt"/>
                <a:cs typeface="+mn-lt"/>
              </a:rPr>
              <a:t>muy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distinto</a:t>
            </a:r>
            <a:r>
              <a:rPr lang="en-US" sz="1200" dirty="0">
                <a:ea typeface="+mn-lt"/>
                <a:cs typeface="+mn-lt"/>
              </a:rPr>
              <a:t>: </a:t>
            </a:r>
            <a:r>
              <a:rPr lang="en-US" sz="1200" dirty="0" err="1">
                <a:ea typeface="+mn-lt"/>
                <a:cs typeface="+mn-lt"/>
              </a:rPr>
              <a:t>los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modos</a:t>
            </a:r>
            <a:r>
              <a:rPr lang="en-US" sz="1200" dirty="0">
                <a:ea typeface="+mn-lt"/>
                <a:cs typeface="+mn-lt"/>
              </a:rPr>
              <a:t> TE se </a:t>
            </a:r>
            <a:r>
              <a:rPr lang="en-US" sz="1200" dirty="0" err="1">
                <a:ea typeface="+mn-lt"/>
                <a:cs typeface="+mn-lt"/>
              </a:rPr>
              <a:t>mantienen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prácticamente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constantes</a:t>
            </a:r>
            <a:r>
              <a:rPr lang="en-US" sz="1200" dirty="0">
                <a:ea typeface="+mn-lt"/>
                <a:cs typeface="+mn-lt"/>
              </a:rPr>
              <a:t> con la </a:t>
            </a:r>
            <a:r>
              <a:rPr lang="en-US" sz="1200" dirty="0" err="1">
                <a:ea typeface="+mn-lt"/>
                <a:cs typeface="+mn-lt"/>
              </a:rPr>
              <a:t>longitud</a:t>
            </a:r>
            <a:r>
              <a:rPr lang="en-US" sz="1200" dirty="0">
                <a:ea typeface="+mn-lt"/>
                <a:cs typeface="+mn-lt"/>
              </a:rPr>
              <a:t> de </a:t>
            </a:r>
            <a:r>
              <a:rPr lang="en-US" sz="1200" dirty="0" err="1">
                <a:ea typeface="+mn-lt"/>
                <a:cs typeface="+mn-lt"/>
              </a:rPr>
              <a:t>onda</a:t>
            </a:r>
            <a:r>
              <a:rPr lang="en-US" sz="1200" dirty="0">
                <a:ea typeface="+mn-lt"/>
                <a:cs typeface="+mn-lt"/>
              </a:rPr>
              <a:t>, lo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indica </a:t>
            </a:r>
            <a:r>
              <a:rPr lang="en-US" sz="1200" dirty="0" err="1">
                <a:ea typeface="+mn-lt"/>
                <a:cs typeface="+mn-lt"/>
              </a:rPr>
              <a:t>una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débil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dependencia</a:t>
            </a:r>
            <a:r>
              <a:rPr lang="en-US" sz="1200" dirty="0">
                <a:ea typeface="+mn-lt"/>
                <a:cs typeface="+mn-lt"/>
              </a:rPr>
              <a:t>, </a:t>
            </a:r>
            <a:r>
              <a:rPr lang="en-US" sz="1200" dirty="0" err="1">
                <a:ea typeface="+mn-lt"/>
                <a:cs typeface="+mn-lt"/>
              </a:rPr>
              <a:t>mientras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los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modos</a:t>
            </a:r>
            <a:r>
              <a:rPr lang="en-US" sz="1200" dirty="0">
                <a:ea typeface="+mn-lt"/>
                <a:cs typeface="+mn-lt"/>
              </a:rPr>
              <a:t> TM </a:t>
            </a:r>
            <a:r>
              <a:rPr lang="en-US" sz="1200" dirty="0" err="1">
                <a:ea typeface="+mn-lt"/>
                <a:cs typeface="+mn-lt"/>
              </a:rPr>
              <a:t>presentan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valores</a:t>
            </a:r>
            <a:r>
              <a:rPr lang="en-US" sz="1200" dirty="0">
                <a:ea typeface="+mn-lt"/>
                <a:cs typeface="+mn-lt"/>
              </a:rPr>
              <a:t> de Lπ  </a:t>
            </a:r>
            <a:r>
              <a:rPr lang="en-US" sz="1200" dirty="0" err="1">
                <a:ea typeface="+mn-lt"/>
                <a:cs typeface="+mn-lt"/>
              </a:rPr>
              <a:t>mucho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más</a:t>
            </a:r>
            <a:r>
              <a:rPr lang="en-US" sz="1200" dirty="0">
                <a:ea typeface="+mn-lt"/>
                <a:cs typeface="+mn-lt"/>
              </a:rPr>
              <a:t> altos y </a:t>
            </a:r>
            <a:r>
              <a:rPr lang="en-US" sz="1200" dirty="0" err="1">
                <a:ea typeface="+mn-lt"/>
                <a:cs typeface="+mn-lt"/>
              </a:rPr>
              <a:t>una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tendencia</a:t>
            </a:r>
            <a:r>
              <a:rPr lang="en-US" sz="1200" dirty="0">
                <a:ea typeface="+mn-lt"/>
                <a:cs typeface="+mn-lt"/>
              </a:rPr>
              <a:t> no </a:t>
            </a:r>
            <a:r>
              <a:rPr lang="en-US" sz="1200" dirty="0" err="1">
                <a:ea typeface="+mn-lt"/>
                <a:cs typeface="+mn-lt"/>
              </a:rPr>
              <a:t>monótona</a:t>
            </a:r>
            <a:r>
              <a:rPr lang="en-US" sz="1200" dirty="0">
                <a:ea typeface="+mn-lt"/>
                <a:cs typeface="+mn-lt"/>
              </a:rPr>
              <a:t>, con </a:t>
            </a:r>
            <a:r>
              <a:rPr lang="en-US" sz="1200" dirty="0" err="1">
                <a:ea typeface="+mn-lt"/>
                <a:cs typeface="+mn-lt"/>
              </a:rPr>
              <a:t>una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fuerte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disminución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seguida</a:t>
            </a:r>
            <a:r>
              <a:rPr lang="en-US" sz="1200" dirty="0">
                <a:ea typeface="+mn-lt"/>
                <a:cs typeface="+mn-lt"/>
              </a:rPr>
              <a:t> de un ligero </a:t>
            </a:r>
            <a:r>
              <a:rPr lang="en-US" sz="1200" dirty="0" err="1">
                <a:ea typeface="+mn-lt"/>
                <a:cs typeface="+mn-lt"/>
              </a:rPr>
              <a:t>aumento</a:t>
            </a:r>
            <a:r>
              <a:rPr lang="en-US" sz="1200" dirty="0">
                <a:ea typeface="+mn-lt"/>
                <a:cs typeface="+mn-lt"/>
              </a:rPr>
              <a:t>. Esto pone de </a:t>
            </a:r>
            <a:r>
              <a:rPr lang="en-US" sz="1200" dirty="0" err="1">
                <a:ea typeface="+mn-lt"/>
                <a:cs typeface="+mn-lt"/>
              </a:rPr>
              <a:t>manifiesto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las </a:t>
            </a:r>
            <a:r>
              <a:rPr lang="en-US" sz="1200" dirty="0" err="1">
                <a:ea typeface="+mn-lt"/>
                <a:cs typeface="+mn-lt"/>
              </a:rPr>
              <a:t>estructuras</a:t>
            </a:r>
            <a:r>
              <a:rPr lang="en-US" sz="1200" dirty="0">
                <a:ea typeface="+mn-lt"/>
                <a:cs typeface="+mn-lt"/>
              </a:rPr>
              <a:t> shallow </a:t>
            </a:r>
            <a:r>
              <a:rPr lang="en-US" sz="1200" dirty="0" err="1">
                <a:ea typeface="+mn-lt"/>
                <a:cs typeface="+mn-lt"/>
              </a:rPr>
              <a:t>introducen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una</a:t>
            </a:r>
            <a:r>
              <a:rPr lang="en-US" sz="1200" dirty="0">
                <a:ea typeface="+mn-lt"/>
                <a:cs typeface="+mn-lt"/>
              </a:rPr>
              <a:t> mayor </a:t>
            </a:r>
            <a:r>
              <a:rPr lang="en-US" sz="1200" dirty="0" err="1">
                <a:ea typeface="+mn-lt"/>
                <a:cs typeface="+mn-lt"/>
              </a:rPr>
              <a:t>dependencia</a:t>
            </a:r>
            <a:r>
              <a:rPr lang="en-US" sz="1200" dirty="0">
                <a:ea typeface="+mn-lt"/>
                <a:cs typeface="+mn-lt"/>
              </a:rPr>
              <a:t> con la </a:t>
            </a:r>
            <a:r>
              <a:rPr lang="en-US" sz="1200" dirty="0" err="1">
                <a:ea typeface="+mn-lt"/>
                <a:cs typeface="+mn-lt"/>
              </a:rPr>
              <a:t>polarización</a:t>
            </a:r>
            <a:r>
              <a:rPr lang="en-US" sz="1200" dirty="0">
                <a:ea typeface="+mn-lt"/>
                <a:cs typeface="+mn-lt"/>
              </a:rPr>
              <a:t> y un </a:t>
            </a:r>
            <a:r>
              <a:rPr lang="en-US" sz="1200" dirty="0" err="1">
                <a:ea typeface="+mn-lt"/>
                <a:cs typeface="+mn-lt"/>
              </a:rPr>
              <a:t>comportamiento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menos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estable</a:t>
            </a:r>
            <a:r>
              <a:rPr lang="en-US" sz="1200" dirty="0">
                <a:ea typeface="+mn-lt"/>
                <a:cs typeface="+mn-lt"/>
              </a:rPr>
              <a:t>, </a:t>
            </a:r>
            <a:r>
              <a:rPr lang="en-US" sz="1200" dirty="0" err="1">
                <a:ea typeface="+mn-lt"/>
                <a:cs typeface="+mn-lt"/>
              </a:rPr>
              <a:t>especialmente</a:t>
            </a:r>
            <a:r>
              <a:rPr lang="en-US" sz="1200" dirty="0">
                <a:ea typeface="+mn-lt"/>
                <a:cs typeface="+mn-lt"/>
              </a:rPr>
              <a:t> para </a:t>
            </a:r>
            <a:r>
              <a:rPr lang="en-US" sz="1200" dirty="0" err="1">
                <a:ea typeface="+mn-lt"/>
                <a:cs typeface="+mn-lt"/>
              </a:rPr>
              <a:t>los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modos</a:t>
            </a:r>
            <a:r>
              <a:rPr lang="en-US" sz="1200" dirty="0">
                <a:ea typeface="+mn-lt"/>
                <a:cs typeface="+mn-lt"/>
              </a:rPr>
              <a:t> TM, </a:t>
            </a:r>
            <a:r>
              <a:rPr lang="en-US" sz="1200" dirty="0" err="1">
                <a:ea typeface="+mn-lt"/>
                <a:cs typeface="+mn-lt"/>
              </a:rPr>
              <a:t>mientras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que</a:t>
            </a:r>
            <a:r>
              <a:rPr lang="en-US" sz="1200" dirty="0">
                <a:ea typeface="+mn-lt"/>
                <a:cs typeface="+mn-lt"/>
              </a:rPr>
              <a:t> las </a:t>
            </a:r>
            <a:r>
              <a:rPr lang="en-US" sz="1200" dirty="0" err="1">
                <a:ea typeface="+mn-lt"/>
                <a:cs typeface="+mn-lt"/>
              </a:rPr>
              <a:t>guías</a:t>
            </a:r>
            <a:r>
              <a:rPr lang="en-US" sz="1200" dirty="0">
                <a:ea typeface="+mn-lt"/>
                <a:cs typeface="+mn-lt"/>
              </a:rPr>
              <a:t> deep </a:t>
            </a:r>
            <a:r>
              <a:rPr lang="en-US" sz="1200" dirty="0" err="1">
                <a:ea typeface="+mn-lt"/>
                <a:cs typeface="+mn-lt"/>
              </a:rPr>
              <a:t>ofrecen</a:t>
            </a:r>
            <a:r>
              <a:rPr lang="en-US" sz="1200" dirty="0">
                <a:ea typeface="+mn-lt"/>
                <a:cs typeface="+mn-lt"/>
              </a:rPr>
              <a:t> un </a:t>
            </a:r>
            <a:r>
              <a:rPr lang="en-US" sz="1200" dirty="0" err="1">
                <a:ea typeface="+mn-lt"/>
                <a:cs typeface="+mn-lt"/>
              </a:rPr>
              <a:t>funcionamiento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más</a:t>
            </a:r>
            <a:r>
              <a:rPr lang="en-US" sz="1200" dirty="0">
                <a:ea typeface="+mn-lt"/>
                <a:cs typeface="+mn-lt"/>
              </a:rPr>
              <a:t> </a:t>
            </a:r>
            <a:r>
              <a:rPr lang="en-US" sz="1200" dirty="0" err="1">
                <a:ea typeface="+mn-lt"/>
                <a:cs typeface="+mn-lt"/>
              </a:rPr>
              <a:t>predecible</a:t>
            </a:r>
            <a:r>
              <a:rPr lang="en-US" sz="1200" dirty="0">
                <a:ea typeface="+mn-lt"/>
                <a:cs typeface="+mn-lt"/>
              </a:rPr>
              <a:t> y </a:t>
            </a:r>
            <a:r>
              <a:rPr lang="en-US" sz="1200" dirty="0" err="1">
                <a:ea typeface="+mn-lt"/>
                <a:cs typeface="+mn-lt"/>
              </a:rPr>
              <a:t>uniforme</a:t>
            </a:r>
            <a:r>
              <a:rPr lang="en-US" sz="1200" dirty="0">
                <a:ea typeface="+mn-lt"/>
                <a:cs typeface="+mn-lt"/>
              </a:rPr>
              <a:t>.</a:t>
            </a:r>
            <a:endParaRPr lang="es-ES" dirty="0"/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42E1AD9-10D4-8ACB-526F-2DA1DD2B9881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5ED9C7E-0684-E2B9-7FD6-9BCF17CC000A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B08C2240-8810-4E0A-7DCF-E62A8271EA2E}"/>
                  </a:ext>
                </a:extLst>
              </p:cNvPr>
              <p:cNvSpPr txBox="1"/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</a:t>
                </a:r>
                <a:r>
                  <a:rPr lang="en-US" dirty="0" err="1"/>
                  <a:t>wvl</a:t>
                </a:r>
                <a:r>
                  <a:rPr lang="en-US" dirty="0"/>
                  <a:t> for TE and TM plot here</a:t>
                </a:r>
              </a:p>
            </p:txBody>
          </p:sp>
        </mc:Choice>
        <mc:Fallback xmlns="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B08C2240-8810-4E0A-7DCF-E62A8271EA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blipFill>
                <a:blip r:embed="rId5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BBDDC809-0F06-CBE2-4D1A-3A2FA36C33A8}"/>
                  </a:ext>
                </a:extLst>
              </p:cNvPr>
              <p:cNvSpPr txBox="1"/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</a:t>
                </a:r>
                <a:r>
                  <a:rPr lang="en-US" dirty="0" err="1"/>
                  <a:t>wvl</a:t>
                </a:r>
                <a:r>
                  <a:rPr lang="en-US" dirty="0"/>
                  <a:t> for TE and TM plot here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BBDDC809-0F06-CBE2-4D1A-3A2FA36C33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blipFill>
                <a:blip r:embed="rId6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n 3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29F93638-3D8C-529F-9BC5-B08FBF4BD5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7610" y="1533158"/>
            <a:ext cx="3904518" cy="3141054"/>
          </a:xfrm>
          <a:prstGeom prst="rect">
            <a:avLst/>
          </a:prstGeom>
        </p:spPr>
      </p:pic>
      <p:pic>
        <p:nvPicPr>
          <p:cNvPr id="10" name="Imagen 9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5DF70BF3-A619-6499-599C-AA996AB171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12609" y="1554579"/>
            <a:ext cx="3904518" cy="3098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5580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#3 – MMI coupler wavelength dependence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Wavelengths from 1.5 to 1.7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(Important. Compare with Directional Coupler)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96EDE51-D41E-C23B-F402-2F7357DE871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A3233C9-FE6F-52D8-4D87-224222BDA8E1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C016548-01A2-6E58-B80D-148384B98EB3}"/>
              </a:ext>
            </a:extLst>
          </p:cNvPr>
          <p:cNvSpPr txBox="1"/>
          <p:nvPr/>
        </p:nvSpPr>
        <p:spPr>
          <a:xfrm>
            <a:off x="6331152" y="4342178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075D03BE-0D6A-89E5-3C68-D7BD97B4676E}"/>
                  </a:ext>
                </a:extLst>
              </p:cNvPr>
              <p:cNvSpPr txBox="1"/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</a:t>
                </a:r>
                <a:r>
                  <a:rPr lang="en-US" dirty="0" err="1"/>
                  <a:t>wvl</a:t>
                </a:r>
                <a:r>
                  <a:rPr lang="en-US" dirty="0"/>
                  <a:t> for TE and TM plot here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075D03BE-0D6A-89E5-3C68-D7BD97B467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blipFill>
                <a:blip r:embed="rId5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AC01EDEE-71CC-C570-700B-076F03FCF7E1}"/>
                  </a:ext>
                </a:extLst>
              </p:cNvPr>
              <p:cNvSpPr txBox="1"/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</a:t>
                </a:r>
                <a:r>
                  <a:rPr lang="en-US" dirty="0" err="1"/>
                  <a:t>wvl</a:t>
                </a:r>
                <a:r>
                  <a:rPr lang="en-US" dirty="0"/>
                  <a:t> for TE and TM plot here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AC01EDEE-71CC-C570-700B-076F03FCF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blipFill>
                <a:blip r:embed="rId6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51456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5C897-D580-E5C1-161C-F8E072695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3FFBD12-4EFF-41C1-4765-2AD268B2BD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#4 – MMI coupler body width dependence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5-10 µm (steps 0.5 µm)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C14AF521-052E-A1FA-D63D-CB0826C48D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C87B233-8A68-967F-55BC-3A828B5F39B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21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B1B524E-0E15-1C98-31B0-C98BD07BFBE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D88CB07-C5F5-9BB7-9F41-E171F0F0E2B9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Polarization independent coupler: is there any point for which the MMI coupler can work identically for TE and TM? Answer yes / no and explain why?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58B1BB0-E248-0BA3-D1B3-93649227103E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E0E2533-B1CA-72C4-3859-1CBDD588788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54B5534-E510-6404-1E30-B73FDF73AD42}"/>
              </a:ext>
            </a:extLst>
          </p:cNvPr>
          <p:cNvSpPr txBox="1"/>
          <p:nvPr/>
        </p:nvSpPr>
        <p:spPr>
          <a:xfrm>
            <a:off x="6331152" y="4342178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2BDFECD2-156D-6697-CFBF-8CD783F9B986}"/>
                  </a:ext>
                </a:extLst>
              </p:cNvPr>
              <p:cNvSpPr txBox="1"/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width for TE and TM plot here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2BDFECD2-156D-6697-CFBF-8CD783F9B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blipFill>
                <a:blip r:embed="rId5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3BFC64CA-DE35-A528-CF09-36A26DB3DEE4}"/>
                  </a:ext>
                </a:extLst>
              </p:cNvPr>
              <p:cNvSpPr txBox="1"/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width for TE and TM plot here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3BFC64CA-DE35-A528-CF09-36A26DB3D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blipFill>
                <a:blip r:embed="rId6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59394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22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315676089F187543AA99C0A8B7AABBF0" ma:contentTypeVersion="3" ma:contentTypeDescription="Crear nuevo documento." ma:contentTypeScope="" ma:versionID="6b93a700db2c669d7bf6fe695110710d">
  <xsd:schema xmlns:xsd="http://www.w3.org/2001/XMLSchema" xmlns:xs="http://www.w3.org/2001/XMLSchema" xmlns:p="http://schemas.microsoft.com/office/2006/metadata/properties" xmlns:ns2="9e2adbf5-1345-474f-a313-aad13b917699" targetNamespace="http://schemas.microsoft.com/office/2006/metadata/properties" ma:root="true" ma:fieldsID="55ce8b8f8ed3bbb9007cedc7cfd21244" ns2:_="">
    <xsd:import namespace="9e2adbf5-1345-474f-a313-aad13b91769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2adbf5-1345-474f-a313-aad13b91769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AFE45E39-5DB8-4A83-9EAE-509B9DCEDD1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e2adbf5-1345-474f-a313-aad13b91769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4C01FF3-9057-4EE0-AF52-564B32419BB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2653D22-1F8F-4A9E-A01A-CDB67276084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808</TotalTime>
  <Words>1210</Words>
  <Application>Microsoft Office PowerPoint</Application>
  <PresentationFormat>Panorámica</PresentationFormat>
  <Paragraphs>229</Paragraphs>
  <Slides>22</Slides>
  <Notes>17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3" baseType="lpstr">
      <vt:lpstr>Office Theme</vt:lpstr>
      <vt:lpstr>Presentación de PowerPoint</vt:lpstr>
      <vt:lpstr>Instructions General</vt:lpstr>
      <vt:lpstr>Presentación de PowerPoint</vt:lpstr>
      <vt:lpstr>Learning outcome #1 – Directional coupler cross-section in GDSFactory </vt:lpstr>
      <vt:lpstr>Learning outcome #1 – Directional coupler cross-section in GDSFactory </vt:lpstr>
      <vt:lpstr>Learning outcome #1 – Directional coupler cross-section in GDSFactory </vt:lpstr>
      <vt:lpstr>Learning outcome #1 – Directional coupler cross-section in GDSFactory </vt:lpstr>
      <vt:lpstr>Learning outcome #2 – Directional coupler length and coupling coefficient Wavelength 1.5 µm – width 1.2 µm – gap 0.6 µm – thickness 300 nm</vt:lpstr>
      <vt:lpstr>Learning outcome #3 – 2x2 Directional Coupler Wavelength 1.55 µm – Sweep gaps between 0.2 and 1.2 µm in steps of 0.2 µm</vt:lpstr>
      <vt:lpstr>Learning outcome #4 – Parallel uncoupled waveguides – TE0 mode Wavelength 1.55 µm, width 1.0 µm, gap to be found for uncoupled wvgs</vt:lpstr>
      <vt:lpstr>Presentación de PowerPoint</vt:lpstr>
      <vt:lpstr>Learning outcome #5 – Multimode Interference (MMI) Coupler cross-section</vt:lpstr>
      <vt:lpstr>Learning outcome #5 – Multimode Interference (MMI) Coupler cross-section</vt:lpstr>
      <vt:lpstr>Learning outcome #6 – 6.1 2x2 Multimode Interference Coupler  Wavelength 1.55 µm, wMMI = 6.6 µm</vt:lpstr>
      <vt:lpstr>Learning outcome #6.2 – 2x2 Multimode Interference Coupler - Optimization Wavelength 1.55 µm, wMMI = 6.6 µm</vt:lpstr>
      <vt:lpstr>Learning outcome #6.3 – 2x2 Multimode Interference Coupler – Optimization (II) Wavelength 1.55 µm, wMMI = 6.6 µm</vt:lpstr>
      <vt:lpstr>Learning outcome #7 – 1x4 Multimode Interference Coupler  Wavelength 1.55 µm, wMMI = 10 µm</vt:lpstr>
      <vt:lpstr>Extra #1 – Directional coupler gap dependence Wavelength 1.55 µm, width 1.0 µm, gap 0.2-2.4 µm (step 0.2 µm) </vt:lpstr>
      <vt:lpstr>Extra #2 – Directional wavelength dependence Wavelengths from 1.5 to 1.7 µm, gap = 0.6 µm, width 1.0 µm  </vt:lpstr>
      <vt:lpstr>Extra #3 – MMI coupler wavelength dependence Wavelengths from 1.5 to 1.7 µm, wMMI = 6.6 µm</vt:lpstr>
      <vt:lpstr>Extra #4 – MMI coupler body width dependence Wavelength 1.55 µm, wMMI = 5-10 µm (steps 0.5 µm)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Christian Camilo Cano Vasquez</cp:lastModifiedBy>
  <cp:revision>289</cp:revision>
  <dcterms:created xsi:type="dcterms:W3CDTF">2025-01-27T02:46:57Z</dcterms:created>
  <dcterms:modified xsi:type="dcterms:W3CDTF">2026-05-03T11:17:09Z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  <property fmtid="{D5CDD505-2E9C-101B-9397-08002B2CF9AE}" pid="5" name="ContentTypeId">
    <vt:lpwstr>0x010100315676089F187543AA99C0A8B7AABBF0</vt:lpwstr>
  </property>
</Properties>
</file>